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Send this file to each group. They drag the cards on slide 2. Slide 3 is the teacher answer key — delete it before sending if you don't want students to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drag the coloured cards from the Card Bank into the dashed drop zones. Card colours are mixed on purpose (they carry no meaning) so colour is not a hint. Answer key on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Ladder — Group Activity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task · do it in your group, then send the file back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83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this file in PowerPoint as a group.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57200" cy="45720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4144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Card Bank — 20 cards with facts about a trip from Gomel to Minsk.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09981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each card into the correct level: Data → Information → Knowledge → Wisdom.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03904"/>
            <a:ext cx="457200" cy="45720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03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5818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5 cards in each level.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457200" cy="457200"/>
          </a:xfrm>
          <a:prstGeom prst="ellipse">
            <a:avLst/>
          </a:prstGeom>
          <a:solidFill>
            <a:srgbClr val="2CB5D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41655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 presents your Wisdom level, then send the file back to the teacher.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3816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4F7F9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levels mean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5146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facts, no context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context = meaning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886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experience &amp; expert opinion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572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
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action to take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iTPU</a:t>
            </a:r>
            <a:pPr indent="0" marL="0">
              <a:buNone/>
            </a:pPr>
            <a:r>
              <a:rPr lang="en-US" sz="800" b="1" dirty="0">
                <a:solidFill>
                  <a:srgbClr val="5B6B7A"/>
                </a:solidFill>
              </a:rPr>
              <a:t>  /  EPAM SCHOOL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6586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DIKW Ladder — drag each card to its level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292608" y="5486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 a group. Drag every sticky from the Card Bank into the right level (aim for ~5 each), then send the file back.   ⏱ ~7 min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697480" cy="5440680"/>
          </a:xfrm>
          <a:prstGeom prst="roundRect">
            <a:avLst>
              <a:gd name="adj" fmla="val 2712"/>
            </a:avLst>
          </a:prstGeom>
          <a:solidFill>
            <a:srgbClr val="F4F5F7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1338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BANK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417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cards out →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1130" y="1737360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FE0A3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8562" y="173736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53235" y="1737360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FDBF7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680667" y="173736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5021" y="2212848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BE7E2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22453" y="2212848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97126" y="2212848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BC5D8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724558" y="2212848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2102" y="2688336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BD3B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9534" y="268833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64208" y="2688336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7C7C1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91640" y="268833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 = 318 km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5994" y="3163824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C6E7C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3426" y="31638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 h 35 min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31290" y="3163824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DCC9F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658722" y="316382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Gomel → Minsk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3075" y="3639312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FE0A3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00507" y="3639312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Road: highway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675181" y="3639312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FDBF7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1702613" y="3639312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6966" y="4114800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BE7E2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44398" y="41148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E271: better roads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42262" y="4114800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BC5D8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669694" y="4114800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M10: no views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4590288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BD3B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11480" y="4590288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4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in winter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86154" y="4590288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7C7C1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713586" y="4590288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rest stops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1130" y="5065776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C6E7C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78562" y="50657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6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traffic AM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53235" y="5065776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DCC9F0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680667" y="50657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3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E271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5021" y="5541264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FE0A3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422453" y="554126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before 8:00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97126" y="5541264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FDBF7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1724558" y="5541264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choice: E271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62102" y="6016752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BBE7E2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389534" y="6016752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M10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664208" y="6016752"/>
            <a:ext cx="1207008" cy="402336"/>
          </a:xfrm>
          <a:prstGeom prst="roundRect">
            <a:avLst>
              <a:gd name="adj" fmla="val 11364"/>
            </a:avLst>
          </a:prstGeom>
          <a:solidFill>
            <a:srgbClr val="FBC5D8"/>
          </a:solidFill>
          <a:ln/>
          <a:effectLst>
            <a:outerShdw sx="100000" sy="100000" kx="0" ky="0" algn="bl" rotWithShape="0" blurRad="38100" dist="19050" dir="5400000">
              <a:srgbClr val="9AA7B0">
                <a:alpha val="2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1691640" y="6016752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2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 daylight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72384" y="1737360"/>
            <a:ext cx="384048" cy="4480560"/>
          </a:xfrm>
          <a:prstGeom prst="upArrow">
            <a:avLst/>
          </a:prstGeom>
          <a:solidFill>
            <a:srgbClr val="D7F0EC"/>
          </a:solidFill>
          <a:ln w="12700">
            <a:solidFill>
              <a:srgbClr val="1B8F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99232" y="6236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26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↑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11880" y="1051560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FFF6E6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3048" y="1426464"/>
            <a:ext cx="493776" cy="493776"/>
          </a:xfrm>
          <a:prstGeom prst="ellipse">
            <a:avLst/>
          </a:prstGeom>
          <a:solidFill>
            <a:srgbClr val="F0A80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13048" y="14264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52" name="Text 50"/>
          <p:cNvSpPr txBox="1"/>
          <p:nvPr/>
        </p:nvSpPr>
        <p:spPr>
          <a:xfrm>
            <a:off x="4480560" y="11978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2000" dirty="0"/>
          </a:p>
        </p:txBody>
      </p:sp>
      <p:sp>
        <p:nvSpPr>
          <p:cNvPr id="53" name="Text 51"/>
          <p:cNvSpPr txBox="1"/>
          <p:nvPr/>
        </p:nvSpPr>
        <p:spPr>
          <a:xfrm>
            <a:off x="4480560" y="1709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action to take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995160" y="1197864"/>
            <a:ext cx="4754880" cy="950976"/>
          </a:xfrm>
          <a:prstGeom prst="roundRect">
            <a:avLst>
              <a:gd name="adj" fmla="val 5769"/>
            </a:avLst>
          </a:prstGeom>
          <a:ln w="12700">
            <a:solidFill>
              <a:srgbClr val="F0A800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6995160" y="1197864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8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~5 cards for Wisdom here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11880" y="2395728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EAF7EE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13048" y="2770632"/>
            <a:ext cx="493776" cy="493776"/>
          </a:xfrm>
          <a:prstGeom prst="ellipse">
            <a:avLst/>
          </a:prstGeom>
          <a:solidFill>
            <a:srgbClr val="2DA84C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813048" y="27706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9" name="Text 57"/>
          <p:cNvSpPr txBox="1"/>
          <p:nvPr/>
        </p:nvSpPr>
        <p:spPr>
          <a:xfrm>
            <a:off x="4480560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2000" dirty="0"/>
          </a:p>
        </p:txBody>
      </p:sp>
      <p:sp>
        <p:nvSpPr>
          <p:cNvPr id="60" name="Text 58"/>
          <p:cNvSpPr txBox="1"/>
          <p:nvPr/>
        </p:nvSpPr>
        <p:spPr>
          <a:xfrm>
            <a:off x="4480560" y="30540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+ experience &amp; expert opinion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995160" y="2542032"/>
            <a:ext cx="4754880" cy="950976"/>
          </a:xfrm>
          <a:prstGeom prst="roundRect">
            <a:avLst>
              <a:gd name="adj" fmla="val 5769"/>
            </a:avLst>
          </a:prstGeom>
          <a:ln w="12700">
            <a:solidFill>
              <a:srgbClr val="2DA84C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6995160" y="25420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8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~5 cards for Knowledge here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11880" y="3739896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EAF3FE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813048" y="4114800"/>
            <a:ext cx="493776" cy="493776"/>
          </a:xfrm>
          <a:prstGeom prst="ellipse">
            <a:avLst/>
          </a:prstGeom>
          <a:solidFill>
            <a:srgbClr val="4C86E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813048" y="4114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6" name="Text 64"/>
          <p:cNvSpPr txBox="1"/>
          <p:nvPr/>
        </p:nvSpPr>
        <p:spPr>
          <a:xfrm>
            <a:off x="448056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2000" dirty="0"/>
          </a:p>
        </p:txBody>
      </p:sp>
      <p:sp>
        <p:nvSpPr>
          <p:cNvPr id="67" name="Text 65"/>
          <p:cNvSpPr txBox="1"/>
          <p:nvPr/>
        </p:nvSpPr>
        <p:spPr>
          <a:xfrm>
            <a:off x="4480560" y="43982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organised + context = meaning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995160" y="3886200"/>
            <a:ext cx="4754880" cy="950976"/>
          </a:xfrm>
          <a:prstGeom prst="roundRect">
            <a:avLst>
              <a:gd name="adj" fmla="val 5769"/>
            </a:avLst>
          </a:prstGeom>
          <a:ln w="12700">
            <a:solidFill>
              <a:srgbClr val="4C86E0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6995160" y="3886200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8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~5 cards for Information here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611880" y="5084064"/>
            <a:ext cx="8321040" cy="1243584"/>
          </a:xfrm>
          <a:prstGeom prst="roundRect">
            <a:avLst>
              <a:gd name="adj" fmla="val 5882"/>
            </a:avLst>
          </a:prstGeom>
          <a:solidFill>
            <a:srgbClr val="F2F4F7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813048" y="5458968"/>
            <a:ext cx="493776" cy="493776"/>
          </a:xfrm>
          <a:prstGeom prst="ellipse">
            <a:avLst/>
          </a:prstGeom>
          <a:solidFill>
            <a:srgbClr val="7A8A99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3813048" y="54589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3" name="Text 71"/>
          <p:cNvSpPr txBox="1"/>
          <p:nvPr/>
        </p:nvSpPr>
        <p:spPr>
          <a:xfrm>
            <a:off x="4480560" y="52303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74" name="Text 72"/>
          <p:cNvSpPr txBox="1"/>
          <p:nvPr/>
        </p:nvSpPr>
        <p:spPr>
          <a:xfrm>
            <a:off x="4480560" y="57424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unorganised facts — no context yet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995160" y="5230368"/>
            <a:ext cx="4754880" cy="950976"/>
          </a:xfrm>
          <a:prstGeom prst="roundRect">
            <a:avLst>
              <a:gd name="adj" fmla="val 5769"/>
            </a:avLst>
          </a:prstGeom>
          <a:ln w="12700">
            <a:solidFill>
              <a:srgbClr val="7A8A99"/>
            </a:solidFill>
            <a:prstDash val="dash"/>
          </a:ln>
        </p:spPr>
      </p:sp>
      <p:sp>
        <p:nvSpPr>
          <p:cNvPr id="76" name="Text 74"/>
          <p:cNvSpPr txBox="1"/>
          <p:nvPr/>
        </p:nvSpPr>
        <p:spPr>
          <a:xfrm>
            <a:off x="6995160" y="5230368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8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~5 cards for Data here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iTPU</a:t>
            </a:r>
            <a:pPr indent="0" marL="0">
              <a:buNone/>
            </a:pPr>
            <a:r>
              <a:rPr lang="en-US" sz="800" b="1" dirty="0">
                <a:solidFill>
                  <a:srgbClr val="5B6B7A"/>
                </a:solidFill>
              </a:rPr>
              <a:t>  /  EPAM SCHOOL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116586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28600"/>
            <a:ext cx="11658600" cy="502920"/>
          </a:xfrm>
          <a:prstGeom prst="roundRect">
            <a:avLst>
              <a:gd name="adj" fmla="val 49091"/>
            </a:avLst>
          </a:prstGeom>
          <a:solidFill>
            <a:srgbClr val="FDE7E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228600"/>
            <a:ext cx="1165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E3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ANSWER KEY — delete this slide before sending to students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1658600" cy="1051560"/>
          </a:xfrm>
          <a:prstGeom prst="roundRect">
            <a:avLst>
              <a:gd name="adj" fmla="val 6957"/>
            </a:avLst>
          </a:prstGeom>
          <a:solidFill>
            <a:srgbClr val="F2F4F7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1615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Data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1615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  ·  318  ·  3:35  ·  Gomel  ·  Minsk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286000"/>
            <a:ext cx="11658600" cy="1051560"/>
          </a:xfrm>
          <a:prstGeom prst="roundRect">
            <a:avLst>
              <a:gd name="adj" fmla="val 6957"/>
            </a:avLst>
          </a:prstGeom>
          <a:solidFill>
            <a:srgbClr val="EAF3FE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5059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5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Information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245059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 = 318 km  ·  Time: 3 h 35 min  ·  Gomel → Minsk  ·  Road: highway  ·  Route table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11658600" cy="1051560"/>
          </a:xfrm>
          <a:prstGeom prst="roundRect">
            <a:avLst>
              <a:gd name="adj" fmla="val 6957"/>
            </a:avLst>
          </a:prstGeom>
          <a:solidFill>
            <a:srgbClr val="EAF7EE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68503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6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Knowledge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68503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E271: better roads  ·  M10: no views  ·  Safer in winter  ·  Good rest stops  ·  Lighter traffic 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4754880"/>
            <a:ext cx="11658600" cy="1051560"/>
          </a:xfrm>
          <a:prstGeom prst="roundRect">
            <a:avLst>
              <a:gd name="adj" fmla="val 6957"/>
            </a:avLst>
          </a:prstGeom>
          <a:solidFill>
            <a:srgbClr val="FFF6E6"/>
          </a:solidFill>
          <a:ln w="12700">
            <a:solidFill>
              <a:srgbClr val="D8DE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49194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Wisdom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919472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E271  ·  Leave before 8:00  ·  Best choice: E271  ·  Avoid M10  ·  Drive in daylight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0040" y="61722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5 Data cards become Information once students arrange them into a table (road | km | time). Knowledge adds expert opinion; Wisdom is the decision.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iTPU</a:t>
            </a:r>
            <a:pPr indent="0" marL="0">
              <a:buNone/>
            </a:pPr>
            <a:r>
              <a:rPr lang="en-US" sz="800" b="1" dirty="0">
                <a:solidFill>
                  <a:srgbClr val="5B6B7A"/>
                </a:solidFill>
              </a:rPr>
              <a:t>  /  EPAM SCHOOL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6586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2026-09-27T16:50:16Z</dcterms:created>
  <dcterms:modified xsi:type="dcterms:W3CDTF">2026-09-27T16:50:16Z</dcterms:modified>
</cp:coreProperties>
</file>