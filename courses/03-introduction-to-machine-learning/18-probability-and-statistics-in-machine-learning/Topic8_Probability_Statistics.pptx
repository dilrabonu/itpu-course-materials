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topic is concept-dense — we won't touch everything. We cluster into 4 buckets, diagnose the weakest, and go deep there. The ONE anchor: ML is decision-making under uncertainty, and probability is how we measure that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5 phases quickly. Note this topic differs from calculus: it's about reasoning under uncertainty, and the case study is a detective-style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quick Teams/Mentimeter poll. Most vote ~99%. Reveal the answer is ~50% but DON'T explain yet — the Bayes tree in Phase 3 does the reveal. Point: gut instinct is terrible at probability, which is exactly why ML uses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8-question Mentimeter quiz. Each Q maps to one bucket. After the quiz, the weakest bucket(s) = what you teach in Phase 3. Then run the drag-to-match distribution self-check widget.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matches one at a time. Distributions are the most testable, most-confused piece. Key distinction: discrete (Bernoulli/Binomial/Poisson) vs continuous (Gaussian/Uniform/Exponential).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bayes_tree.html. This is the reveal of the hook. Start at 1% prevalence — show ~50%. Then slide prevalence up and watch the number rise. The lesson: base rates matter enormously — this is why precision/recall and class imbalance are huge in ML. Reveal the formula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Optionally open correlation_causation.html and click through the tabs, using 'Reveal the real story' for each. Land the ML point: correlation predicts, causation explains. Models exploit correlation and break when the lurking variable shifts.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clt_simulator.html. Choose bimodal or skewed source to make the point dramatic. Draw 500 sample means and watch the green normal curve fit. Then raise n. This visually 'proves' the CLT and motivates confidence intervals — which are AutoCode exercise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case. This forces descriptive stats → sampling → significance intuition. The engagement engine: planted traps mean rooms disagree, then debate. 4 min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the verdict sheet (Teams whiteboard or shared doc) + student handout in chat. Note the italic labels are the ANSWER — don't show these to students; use the student handout version without them. Circulate. Teams will disagree — that's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defends first, THEN you reveal. The meta-lesson: a higher number isn't a better model. Sample size, significance, and hidden structure decide. Bridge: the AutoCode tools (confidence intervals, ECDF, chi-squared, KS test) are exactly how you answer 'is this difference real?' rigorously.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via Forms/Menti — both the Bayes conceptual check and muddiest point. Recap 4 takeaways. Point to the 4 AutoCode exercises and reassure them re: the ReadMe disclaimer. Thank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1942"/>
        </a:solidFill>
      </p:bgPr>
    </p:bg>
    <p:spTree>
      <p:nvGrpSpPr>
        <p:cNvPr id="1" name=""/>
        <p:cNvGrpSpPr/>
        <p:nvPr/>
      </p:nvGrpSpPr>
      <p:grpSpPr>
        <a:xfrm>
          <a:off x="0" y="0"/>
          <a:ext cx="0" cy="0"/>
          <a:chOff x="0" y="0"/>
          <a:chExt cx="0" cy="0"/>
        </a:xfrm>
      </p:grpSpPr>
      <p:sp>
        <p:nvSpPr>
          <p:cNvPr id="2" name="Shape 0"/>
          <p:cNvSpPr/>
          <p:nvPr/>
        </p:nvSpPr>
        <p:spPr>
          <a:xfrm>
            <a:off x="8778240" y="-1554480"/>
            <a:ext cx="5303520" cy="5303520"/>
          </a:xfrm>
          <a:prstGeom prst="ellipse">
            <a:avLst/>
          </a:prstGeom>
          <a:solidFill>
            <a:srgbClr val="7B2CBF">
              <a:alpha val="25000"/>
            </a:srgbClr>
          </a:solidFill>
          <a:ln/>
        </p:spPr>
      </p:sp>
      <p:sp>
        <p:nvSpPr>
          <p:cNvPr id="3" name="Shape 1"/>
          <p:cNvSpPr/>
          <p:nvPr/>
        </p:nvSpPr>
        <p:spPr>
          <a:xfrm>
            <a:off x="10332720" y="3108960"/>
            <a:ext cx="4206240" cy="4206240"/>
          </a:xfrm>
          <a:prstGeom prst="ellipse">
            <a:avLst/>
          </a:prstGeom>
          <a:solidFill>
            <a:srgbClr val="F4A259">
              <a:alpha val="18000"/>
            </a:srgbClr>
          </a:solidFill>
          <a:ln/>
        </p:spPr>
      </p:sp>
      <p:sp>
        <p:nvSpPr>
          <p:cNvPr id="4" name="Text 2"/>
          <p:cNvSpPr txBox="1"/>
          <p:nvPr/>
        </p:nvSpPr>
        <p:spPr>
          <a:xfrm>
            <a:off x="640080" y="1371600"/>
            <a:ext cx="8229600" cy="365760"/>
          </a:xfrm>
          <a:prstGeom prst="rect">
            <a:avLst/>
          </a:prstGeom>
          <a:noFill/>
          <a:ln/>
        </p:spPr>
        <p:txBody>
          <a:bodyPr wrap="square" rtlCol="0" anchor="ctr"/>
          <a:lstStyle/>
          <a:p>
            <a:pPr indent="0" marL="0">
              <a:buNone/>
            </a:pPr>
            <a:r>
              <a:rPr lang="en-US" sz="1500" b="1" spc="300" kern="0" dirty="0">
                <a:solidFill>
                  <a:srgbClr val="C9A9E8"/>
                </a:solidFill>
                <a:latin typeface="Calibri" pitchFamily="34" charset="0"/>
                <a:ea typeface="Calibri" pitchFamily="34" charset="-122"/>
                <a:cs typeface="Calibri" pitchFamily="34" charset="-120"/>
              </a:rPr>
              <a:t>LEARNING SESSION · INTRO TO ML</a:t>
            </a:r>
            <a:endParaRPr lang="en-US" sz="1500" dirty="0"/>
          </a:p>
        </p:txBody>
      </p:sp>
      <p:sp>
        <p:nvSpPr>
          <p:cNvPr id="5" name="Text 3"/>
          <p:cNvSpPr txBox="1"/>
          <p:nvPr/>
        </p:nvSpPr>
        <p:spPr>
          <a:xfrm>
            <a:off x="594360" y="1828800"/>
            <a:ext cx="10515600" cy="118872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Probability &amp; Statistics in ML</a:t>
            </a:r>
            <a:endParaRPr lang="en-US" sz="4800" dirty="0"/>
          </a:p>
        </p:txBody>
      </p:sp>
      <p:sp>
        <p:nvSpPr>
          <p:cNvPr id="6" name="Text 4"/>
          <p:cNvSpPr txBox="1"/>
          <p:nvPr/>
        </p:nvSpPr>
        <p:spPr>
          <a:xfrm>
            <a:off x="640080" y="2971800"/>
            <a:ext cx="10058400" cy="548640"/>
          </a:xfrm>
          <a:prstGeom prst="rect">
            <a:avLst/>
          </a:prstGeom>
          <a:noFill/>
          <a:ln/>
        </p:spPr>
        <p:txBody>
          <a:bodyPr wrap="square" rtlCol="0" anchor="ctr"/>
          <a:lstStyle/>
          <a:p>
            <a:pPr indent="0" marL="0">
              <a:buNone/>
            </a:pPr>
            <a:r>
              <a:rPr lang="en-US" sz="2200" i="1" dirty="0">
                <a:solidFill>
                  <a:srgbClr val="E4D6F5"/>
                </a:solidFill>
                <a:latin typeface="Calibri" pitchFamily="34" charset="0"/>
                <a:ea typeface="Calibri" pitchFamily="34" charset="-122"/>
                <a:cs typeface="Calibri" pitchFamily="34" charset="-120"/>
              </a:rPr>
              <a:t>The science of making decisions under uncertainty</a:t>
            </a:r>
            <a:endParaRPr lang="en-US" sz="2200" dirty="0"/>
          </a:p>
        </p:txBody>
      </p:sp>
      <p:sp>
        <p:nvSpPr>
          <p:cNvPr id="7" name="Shape 5"/>
          <p:cNvSpPr/>
          <p:nvPr/>
        </p:nvSpPr>
        <p:spPr>
          <a:xfrm>
            <a:off x="640080" y="4114800"/>
            <a:ext cx="3383280" cy="868680"/>
          </a:xfrm>
          <a:prstGeom prst="roundRect">
            <a:avLst>
              <a:gd name="adj" fmla="val 12632"/>
            </a:avLst>
          </a:prstGeom>
          <a:solidFill>
            <a:srgbClr val="FFFFFF">
              <a:alpha val="12000"/>
            </a:srgbClr>
          </a:solidFill>
          <a:ln/>
        </p:spPr>
      </p:sp>
      <p:sp>
        <p:nvSpPr>
          <p:cNvPr id="8" name="Text 6"/>
          <p:cNvSpPr txBox="1"/>
          <p:nvPr/>
        </p:nvSpPr>
        <p:spPr>
          <a:xfrm>
            <a:off x="822960" y="4114800"/>
            <a:ext cx="3108960" cy="868680"/>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  </a:t>
            </a:r>
            <a:pPr indent="0" marL="0">
              <a:buNone/>
            </a:pPr>
            <a:r>
              <a:rPr lang="en-US" sz="1500" b="1" dirty="0">
                <a:solidFill>
                  <a:srgbClr val="FFFFFF"/>
                </a:solidFill>
                <a:latin typeface="Calibri" pitchFamily="34" charset="0"/>
                <a:ea typeface="Calibri" pitchFamily="34" charset="-122"/>
                <a:cs typeface="Calibri" pitchFamily="34" charset="-120"/>
              </a:rPr>
              <a:t>Probability &amp; Bayes</a:t>
            </a:r>
            <a:endParaRPr lang="en-US" sz="2000" dirty="0"/>
          </a:p>
        </p:txBody>
      </p:sp>
      <p:sp>
        <p:nvSpPr>
          <p:cNvPr id="9" name="Shape 7"/>
          <p:cNvSpPr/>
          <p:nvPr/>
        </p:nvSpPr>
        <p:spPr>
          <a:xfrm>
            <a:off x="4251960" y="4114800"/>
            <a:ext cx="3383280" cy="868680"/>
          </a:xfrm>
          <a:prstGeom prst="roundRect">
            <a:avLst>
              <a:gd name="adj" fmla="val 12632"/>
            </a:avLst>
          </a:prstGeom>
          <a:solidFill>
            <a:srgbClr val="FFFFFF">
              <a:alpha val="12000"/>
            </a:srgbClr>
          </a:solidFill>
          <a:ln/>
        </p:spPr>
      </p:sp>
      <p:sp>
        <p:nvSpPr>
          <p:cNvPr id="10" name="Text 8"/>
          <p:cNvSpPr txBox="1"/>
          <p:nvPr/>
        </p:nvSpPr>
        <p:spPr>
          <a:xfrm>
            <a:off x="4434840" y="4114800"/>
            <a:ext cx="3108960" cy="868680"/>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  </a:t>
            </a:r>
            <a:pPr indent="0" marL="0">
              <a:buNone/>
            </a:pPr>
            <a:r>
              <a:rPr lang="en-US" sz="1500" b="1" dirty="0">
                <a:solidFill>
                  <a:srgbClr val="FFFFFF"/>
                </a:solidFill>
                <a:latin typeface="Calibri" pitchFamily="34" charset="0"/>
                <a:ea typeface="Calibri" pitchFamily="34" charset="-122"/>
                <a:cs typeface="Calibri" pitchFamily="34" charset="-120"/>
              </a:rPr>
              <a:t>Distributions</a:t>
            </a:r>
            <a:endParaRPr lang="en-US" sz="2000" dirty="0"/>
          </a:p>
        </p:txBody>
      </p:sp>
      <p:sp>
        <p:nvSpPr>
          <p:cNvPr id="11" name="Shape 9"/>
          <p:cNvSpPr/>
          <p:nvPr/>
        </p:nvSpPr>
        <p:spPr>
          <a:xfrm>
            <a:off x="7863840" y="4114800"/>
            <a:ext cx="3383280" cy="868680"/>
          </a:xfrm>
          <a:prstGeom prst="roundRect">
            <a:avLst>
              <a:gd name="adj" fmla="val 12632"/>
            </a:avLst>
          </a:prstGeom>
          <a:solidFill>
            <a:srgbClr val="FFFFFF">
              <a:alpha val="12000"/>
            </a:srgbClr>
          </a:solidFill>
          <a:ln/>
        </p:spPr>
      </p:sp>
      <p:sp>
        <p:nvSpPr>
          <p:cNvPr id="12" name="Text 10"/>
          <p:cNvSpPr txBox="1"/>
          <p:nvPr/>
        </p:nvSpPr>
        <p:spPr>
          <a:xfrm>
            <a:off x="8046720" y="4114800"/>
            <a:ext cx="3108960" cy="868680"/>
          </a:xfrm>
          <a:prstGeom prst="rect">
            <a:avLst/>
          </a:prstGeom>
          <a:noFill/>
          <a:ln/>
        </p:spPr>
        <p:txBody>
          <a:bodyPr wrap="square" lIns="0" tIns="0" rIns="0" bIns="0" rtlCol="0" anchor="ctr"/>
          <a:lstStyle/>
          <a:p>
            <a:pPr indent="0" marL="0">
              <a:buNone/>
            </a:pPr>
            <a:r>
              <a:rPr lang="en-US" sz="2000" dirty="0">
                <a:solidFill>
                  <a:srgbClr val="000000"/>
                </a:solidFill>
                <a:latin typeface="Calibri" pitchFamily="34" charset="0"/>
                <a:ea typeface="Calibri" pitchFamily="34" charset="-122"/>
                <a:cs typeface="Calibri" pitchFamily="34" charset="-120"/>
              </a:rPr>
              <a:t>🔍  </a:t>
            </a:r>
            <a:pPr indent="0" marL="0">
              <a:buNone/>
            </a:pPr>
            <a:r>
              <a:rPr lang="en-US" sz="1500" b="1" dirty="0">
                <a:solidFill>
                  <a:srgbClr val="FFFFFF"/>
                </a:solidFill>
                <a:latin typeface="Calibri" pitchFamily="34" charset="0"/>
                <a:ea typeface="Calibri" pitchFamily="34" charset="-122"/>
                <a:cs typeface="Calibri" pitchFamily="34" charset="-120"/>
              </a:rPr>
              <a:t>Statistical inference</a:t>
            </a:r>
            <a:endParaRPr lang="en-US" sz="2000" dirty="0"/>
          </a:p>
        </p:txBody>
      </p:sp>
      <p:sp>
        <p:nvSpPr>
          <p:cNvPr id="13" name="Text 11"/>
          <p:cNvSpPr txBox="1"/>
          <p:nvPr/>
        </p:nvSpPr>
        <p:spPr>
          <a:xfrm>
            <a:off x="640080" y="5852160"/>
            <a:ext cx="10058400" cy="365760"/>
          </a:xfrm>
          <a:prstGeom prst="rect">
            <a:avLst/>
          </a:prstGeom>
          <a:noFill/>
          <a:ln/>
        </p:spPr>
        <p:txBody>
          <a:bodyPr wrap="square" rtlCol="0" anchor="ctr"/>
          <a:lstStyle/>
          <a:p>
            <a:pPr indent="0" marL="0">
              <a:buNone/>
            </a:pPr>
            <a:r>
              <a:rPr lang="en-US" sz="1400" dirty="0">
                <a:solidFill>
                  <a:srgbClr val="C9A9E8"/>
                </a:solidFill>
                <a:latin typeface="Calibri" pitchFamily="34" charset="0"/>
                <a:ea typeface="Calibri" pitchFamily="34" charset="-122"/>
                <a:cs typeface="Calibri" pitchFamily="34" charset="-120"/>
              </a:rPr>
              <a:t>60-minute live session  ·  Flipped format: diagnose → repair → apply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rtlCol="0" anchor="ctr"/>
          <a:lstStyle/>
          <a:p>
            <a:pPr indent="0" marL="0">
              <a:buNone/>
            </a:pPr>
            <a:r>
              <a:rPr lang="en-US" sz="3600" b="1" dirty="0">
                <a:solidFill>
                  <a:srgbClr val="231942"/>
                </a:solidFill>
                <a:latin typeface="Cambria" pitchFamily="34" charset="0"/>
                <a:ea typeface="Cambria" pitchFamily="34" charset="-122"/>
                <a:cs typeface="Cambria" pitchFamily="34" charset="-120"/>
              </a:rPr>
              <a:t>How today works</a:t>
            </a:r>
            <a:endParaRPr lang="en-US" sz="3600" dirty="0"/>
          </a:p>
        </p:txBody>
      </p:sp>
      <p:sp>
        <p:nvSpPr>
          <p:cNvPr id="3" name="Text 1"/>
          <p:cNvSpPr txBox="1"/>
          <p:nvPr/>
        </p:nvSpPr>
        <p:spPr>
          <a:xfrm>
            <a:off x="566928" y="1097280"/>
            <a:ext cx="10058400" cy="365760"/>
          </a:xfrm>
          <a:prstGeom prst="rect">
            <a:avLst/>
          </a:prstGeom>
          <a:noFill/>
          <a:ln/>
        </p:spPr>
        <p:txBody>
          <a:bodyPr wrap="square" rtlCol="0" anchor="ctr"/>
          <a:lstStyle/>
          <a:p>
            <a:pPr indent="0" marL="0">
              <a:buNone/>
            </a:pPr>
            <a:r>
              <a:rPr lang="en-US" sz="1500" i="1" dirty="0">
                <a:solidFill>
                  <a:srgbClr val="6B6480"/>
                </a:solidFill>
                <a:latin typeface="Calibri" pitchFamily="34" charset="0"/>
                <a:ea typeface="Calibri" pitchFamily="34" charset="-122"/>
                <a:cs typeface="Calibri" pitchFamily="34" charset="-120"/>
              </a:rPr>
              <a:t>Five phases · 60 minutes · You've already done the reading</a:t>
            </a:r>
            <a:endParaRPr lang="en-US" sz="1500" dirty="0"/>
          </a:p>
        </p:txBody>
      </p:sp>
      <p:sp>
        <p:nvSpPr>
          <p:cNvPr id="4" name="Shape 2"/>
          <p:cNvSpPr/>
          <p:nvPr/>
        </p:nvSpPr>
        <p:spPr>
          <a:xfrm>
            <a:off x="548640" y="1828800"/>
            <a:ext cx="2084832" cy="3566160"/>
          </a:xfrm>
          <a:prstGeom prst="roundRect">
            <a:avLst>
              <a:gd name="adj" fmla="val 6140"/>
            </a:avLst>
          </a:prstGeom>
          <a:solidFill>
            <a:srgbClr val="F0ECF7"/>
          </a:solidFill>
          <a:ln w="12700">
            <a:solidFill>
              <a:srgbClr val="E4DCF0"/>
            </a:solidFill>
            <a:prstDash val="solid"/>
          </a:ln>
        </p:spPr>
      </p:sp>
      <p:sp>
        <p:nvSpPr>
          <p:cNvPr id="5" name="Shape 3"/>
          <p:cNvSpPr/>
          <p:nvPr/>
        </p:nvSpPr>
        <p:spPr>
          <a:xfrm>
            <a:off x="1307592" y="2084832"/>
            <a:ext cx="566928" cy="566928"/>
          </a:xfrm>
          <a:prstGeom prst="ellipse">
            <a:avLst/>
          </a:prstGeom>
          <a:solidFill>
            <a:srgbClr val="7B2CBF"/>
          </a:solidFill>
          <a:ln/>
        </p:spPr>
      </p:sp>
      <p:sp>
        <p:nvSpPr>
          <p:cNvPr id="6" name="Text 4"/>
          <p:cNvSpPr txBox="1"/>
          <p:nvPr/>
        </p:nvSpPr>
        <p:spPr>
          <a:xfrm>
            <a:off x="1307592" y="2075688"/>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7" name="Text 5"/>
          <p:cNvSpPr txBox="1"/>
          <p:nvPr/>
        </p:nvSpPr>
        <p:spPr>
          <a:xfrm>
            <a:off x="658368" y="2834640"/>
            <a:ext cx="1865376" cy="640080"/>
          </a:xfrm>
          <a:prstGeom prst="rect">
            <a:avLst/>
          </a:prstGeom>
          <a:noFill/>
          <a:ln/>
        </p:spPr>
        <p:txBody>
          <a:bodyPr wrap="square" rtlCol="0" anchor="ctr"/>
          <a:lstStyle/>
          <a:p>
            <a:pPr algn="ctr" indent="0" marL="0">
              <a:buNone/>
            </a:pPr>
            <a:r>
              <a:rPr lang="en-US" sz="1500" b="1" dirty="0">
                <a:solidFill>
                  <a:srgbClr val="231942"/>
                </a:solidFill>
                <a:latin typeface="Calibri" pitchFamily="34" charset="0"/>
                <a:ea typeface="Calibri" pitchFamily="34" charset="-122"/>
                <a:cs typeface="Calibri" pitchFamily="34" charset="-120"/>
              </a:rPr>
              <a:t>Introduction</a:t>
            </a:r>
            <a:endParaRPr lang="en-US" sz="1500" dirty="0"/>
          </a:p>
        </p:txBody>
      </p:sp>
      <p:sp>
        <p:nvSpPr>
          <p:cNvPr id="8" name="Text 6"/>
          <p:cNvSpPr txBox="1"/>
          <p:nvPr/>
        </p:nvSpPr>
        <p:spPr>
          <a:xfrm>
            <a:off x="658368" y="3429000"/>
            <a:ext cx="1865376" cy="320040"/>
          </a:xfrm>
          <a:prstGeom prst="rect">
            <a:avLst/>
          </a:prstGeom>
          <a:noFill/>
          <a:ln/>
        </p:spPr>
        <p:txBody>
          <a:bodyPr wrap="square" rtlCol="0" anchor="ctr"/>
          <a:lstStyle/>
          <a:p>
            <a:pPr algn="ctr" indent="0" marL="0">
              <a:buNone/>
            </a:pPr>
            <a:r>
              <a:rPr lang="en-US" sz="1200" b="1" dirty="0">
                <a:solidFill>
                  <a:srgbClr val="7B2CBF"/>
                </a:solidFill>
                <a:latin typeface="Calibri" pitchFamily="34" charset="0"/>
                <a:ea typeface="Calibri" pitchFamily="34" charset="-122"/>
                <a:cs typeface="Calibri" pitchFamily="34" charset="-120"/>
              </a:rPr>
              <a:t>3–5 min</a:t>
            </a:r>
            <a:endParaRPr lang="en-US" sz="1200" dirty="0"/>
          </a:p>
        </p:txBody>
      </p:sp>
      <p:sp>
        <p:nvSpPr>
          <p:cNvPr id="9" name="Text 7"/>
          <p:cNvSpPr txBox="1"/>
          <p:nvPr/>
        </p:nvSpPr>
        <p:spPr>
          <a:xfrm>
            <a:off x="685800" y="3840480"/>
            <a:ext cx="1828800" cy="1280160"/>
          </a:xfrm>
          <a:prstGeom prst="rect">
            <a:avLst/>
          </a:prstGeom>
          <a:noFill/>
          <a:ln/>
        </p:spPr>
        <p:txBody>
          <a:bodyPr wrap="square" rtlCol="0" anchor="ctr"/>
          <a:lstStyle/>
          <a:p>
            <a:pPr algn="ctr" indent="0" marL="0">
              <a:buNone/>
            </a:pPr>
            <a:r>
              <a:rPr lang="en-US" sz="1250" dirty="0">
                <a:solidFill>
                  <a:srgbClr val="6B6480"/>
                </a:solidFill>
                <a:latin typeface="Calibri" pitchFamily="34" charset="0"/>
                <a:ea typeface="Calibri" pitchFamily="34" charset="-122"/>
                <a:cs typeface="Calibri" pitchFamily="34" charset="-120"/>
              </a:rPr>
              <a:t>Your intuition lies</a:t>
            </a:r>
            <a:endParaRPr lang="en-US" sz="1250" dirty="0"/>
          </a:p>
        </p:txBody>
      </p:sp>
      <p:sp>
        <p:nvSpPr>
          <p:cNvPr id="10" name="Shape 8"/>
          <p:cNvSpPr/>
          <p:nvPr/>
        </p:nvSpPr>
        <p:spPr>
          <a:xfrm>
            <a:off x="2798064" y="1828800"/>
            <a:ext cx="2084832" cy="3566160"/>
          </a:xfrm>
          <a:prstGeom prst="roundRect">
            <a:avLst>
              <a:gd name="adj" fmla="val 6140"/>
            </a:avLst>
          </a:prstGeom>
          <a:solidFill>
            <a:srgbClr val="F0ECF7"/>
          </a:solidFill>
          <a:ln w="12700">
            <a:solidFill>
              <a:srgbClr val="E4DCF0"/>
            </a:solidFill>
            <a:prstDash val="solid"/>
          </a:ln>
        </p:spPr>
      </p:sp>
      <p:sp>
        <p:nvSpPr>
          <p:cNvPr id="11" name="Shape 9"/>
          <p:cNvSpPr/>
          <p:nvPr/>
        </p:nvSpPr>
        <p:spPr>
          <a:xfrm>
            <a:off x="3557016" y="2084832"/>
            <a:ext cx="566928" cy="566928"/>
          </a:xfrm>
          <a:prstGeom prst="ellipse">
            <a:avLst/>
          </a:prstGeom>
          <a:solidFill>
            <a:srgbClr val="2A9D8F"/>
          </a:solidFill>
          <a:ln/>
        </p:spPr>
      </p:sp>
      <p:sp>
        <p:nvSpPr>
          <p:cNvPr id="12" name="Text 10"/>
          <p:cNvSpPr txBox="1"/>
          <p:nvPr/>
        </p:nvSpPr>
        <p:spPr>
          <a:xfrm>
            <a:off x="3557016" y="2075688"/>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txBox="1"/>
          <p:nvPr/>
        </p:nvSpPr>
        <p:spPr>
          <a:xfrm>
            <a:off x="2907792" y="2834640"/>
            <a:ext cx="1865376" cy="640080"/>
          </a:xfrm>
          <a:prstGeom prst="rect">
            <a:avLst/>
          </a:prstGeom>
          <a:noFill/>
          <a:ln/>
        </p:spPr>
        <p:txBody>
          <a:bodyPr wrap="square" rtlCol="0" anchor="ctr"/>
          <a:lstStyle/>
          <a:p>
            <a:pPr algn="ctr" indent="0" marL="0">
              <a:buNone/>
            </a:pPr>
            <a:r>
              <a:rPr lang="en-US" sz="1500" b="1" dirty="0">
                <a:solidFill>
                  <a:srgbClr val="231942"/>
                </a:solidFill>
                <a:latin typeface="Calibri" pitchFamily="34" charset="0"/>
                <a:ea typeface="Calibri" pitchFamily="34" charset="-122"/>
                <a:cs typeface="Calibri" pitchFamily="34" charset="-120"/>
              </a:rPr>
              <a:t>Diagnostic</a:t>
            </a:r>
            <a:endParaRPr lang="en-US" sz="1500" dirty="0"/>
          </a:p>
        </p:txBody>
      </p:sp>
      <p:sp>
        <p:nvSpPr>
          <p:cNvPr id="14" name="Text 12"/>
          <p:cNvSpPr txBox="1"/>
          <p:nvPr/>
        </p:nvSpPr>
        <p:spPr>
          <a:xfrm>
            <a:off x="2907792" y="3429000"/>
            <a:ext cx="1865376" cy="320040"/>
          </a:xfrm>
          <a:prstGeom prst="rect">
            <a:avLst/>
          </a:prstGeom>
          <a:noFill/>
          <a:ln/>
        </p:spPr>
        <p:txBody>
          <a:bodyPr wrap="square" rtlCol="0" anchor="ctr"/>
          <a:lstStyle/>
          <a:p>
            <a:pPr algn="ctr" indent="0" marL="0">
              <a:buNone/>
            </a:pPr>
            <a:r>
              <a:rPr lang="en-US" sz="1200" b="1" dirty="0">
                <a:solidFill>
                  <a:srgbClr val="2A9D8F"/>
                </a:solidFill>
                <a:latin typeface="Calibri" pitchFamily="34" charset="0"/>
                <a:ea typeface="Calibri" pitchFamily="34" charset="-122"/>
                <a:cs typeface="Calibri" pitchFamily="34" charset="-120"/>
              </a:rPr>
              <a:t>15 min</a:t>
            </a:r>
            <a:endParaRPr lang="en-US" sz="1200" dirty="0"/>
          </a:p>
        </p:txBody>
      </p:sp>
      <p:sp>
        <p:nvSpPr>
          <p:cNvPr id="15" name="Text 13"/>
          <p:cNvSpPr txBox="1"/>
          <p:nvPr/>
        </p:nvSpPr>
        <p:spPr>
          <a:xfrm>
            <a:off x="2935224" y="3840480"/>
            <a:ext cx="1828800" cy="1280160"/>
          </a:xfrm>
          <a:prstGeom prst="rect">
            <a:avLst/>
          </a:prstGeom>
          <a:noFill/>
          <a:ln/>
        </p:spPr>
        <p:txBody>
          <a:bodyPr wrap="square" rtlCol="0" anchor="ctr"/>
          <a:lstStyle/>
          <a:p>
            <a:pPr algn="ctr" indent="0" marL="0">
              <a:buNone/>
            </a:pPr>
            <a:r>
              <a:rPr lang="en-US" sz="1250" dirty="0">
                <a:solidFill>
                  <a:srgbClr val="6B6480"/>
                </a:solidFill>
                <a:latin typeface="Calibri" pitchFamily="34" charset="0"/>
                <a:ea typeface="Calibri" pitchFamily="34" charset="-122"/>
                <a:cs typeface="Calibri" pitchFamily="34" charset="-120"/>
              </a:rPr>
              <a:t>Quiz + distribution match</a:t>
            </a:r>
            <a:endParaRPr lang="en-US" sz="1250" dirty="0"/>
          </a:p>
        </p:txBody>
      </p:sp>
      <p:sp>
        <p:nvSpPr>
          <p:cNvPr id="16" name="Shape 14"/>
          <p:cNvSpPr/>
          <p:nvPr/>
        </p:nvSpPr>
        <p:spPr>
          <a:xfrm>
            <a:off x="5047488" y="1828800"/>
            <a:ext cx="2084832" cy="3566160"/>
          </a:xfrm>
          <a:prstGeom prst="roundRect">
            <a:avLst>
              <a:gd name="adj" fmla="val 6140"/>
            </a:avLst>
          </a:prstGeom>
          <a:solidFill>
            <a:srgbClr val="F0ECF7"/>
          </a:solidFill>
          <a:ln w="12700">
            <a:solidFill>
              <a:srgbClr val="E4DCF0"/>
            </a:solidFill>
            <a:prstDash val="solid"/>
          </a:ln>
        </p:spPr>
      </p:sp>
      <p:sp>
        <p:nvSpPr>
          <p:cNvPr id="17" name="Shape 15"/>
          <p:cNvSpPr/>
          <p:nvPr/>
        </p:nvSpPr>
        <p:spPr>
          <a:xfrm>
            <a:off x="5806440" y="2084832"/>
            <a:ext cx="566928" cy="566928"/>
          </a:xfrm>
          <a:prstGeom prst="ellipse">
            <a:avLst/>
          </a:prstGeom>
          <a:solidFill>
            <a:srgbClr val="E76F51"/>
          </a:solidFill>
          <a:ln/>
        </p:spPr>
      </p:sp>
      <p:sp>
        <p:nvSpPr>
          <p:cNvPr id="18" name="Text 16"/>
          <p:cNvSpPr txBox="1"/>
          <p:nvPr/>
        </p:nvSpPr>
        <p:spPr>
          <a:xfrm>
            <a:off x="5806440" y="2075688"/>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9" name="Text 17"/>
          <p:cNvSpPr txBox="1"/>
          <p:nvPr/>
        </p:nvSpPr>
        <p:spPr>
          <a:xfrm>
            <a:off x="5157216" y="2834640"/>
            <a:ext cx="1865376" cy="640080"/>
          </a:xfrm>
          <a:prstGeom prst="rect">
            <a:avLst/>
          </a:prstGeom>
          <a:noFill/>
          <a:ln/>
        </p:spPr>
        <p:txBody>
          <a:bodyPr wrap="square" rtlCol="0" anchor="ctr"/>
          <a:lstStyle/>
          <a:p>
            <a:pPr algn="ctr" indent="0" marL="0">
              <a:buNone/>
            </a:pPr>
            <a:r>
              <a:rPr lang="en-US" sz="1500" b="1" dirty="0">
                <a:solidFill>
                  <a:srgbClr val="231942"/>
                </a:solidFill>
                <a:latin typeface="Calibri" pitchFamily="34" charset="0"/>
                <a:ea typeface="Calibri" pitchFamily="34" charset="-122"/>
                <a:cs typeface="Calibri" pitchFamily="34" charset="-120"/>
              </a:rPr>
              <a:t>Fix hard parts</a:t>
            </a:r>
            <a:endParaRPr lang="en-US" sz="1500" dirty="0"/>
          </a:p>
        </p:txBody>
      </p:sp>
      <p:sp>
        <p:nvSpPr>
          <p:cNvPr id="20" name="Text 18"/>
          <p:cNvSpPr txBox="1"/>
          <p:nvPr/>
        </p:nvSpPr>
        <p:spPr>
          <a:xfrm>
            <a:off x="5157216" y="3429000"/>
            <a:ext cx="1865376" cy="320040"/>
          </a:xfrm>
          <a:prstGeom prst="rect">
            <a:avLst/>
          </a:prstGeom>
          <a:noFill/>
          <a:ln/>
        </p:spPr>
        <p:txBody>
          <a:bodyPr wrap="square" rtlCol="0" anchor="ctr"/>
          <a:lstStyle/>
          <a:p>
            <a:pPr algn="ctr" indent="0" marL="0">
              <a:buNone/>
            </a:pPr>
            <a:r>
              <a:rPr lang="en-US" sz="1200" b="1" dirty="0">
                <a:solidFill>
                  <a:srgbClr val="E76F51"/>
                </a:solidFill>
                <a:latin typeface="Calibri" pitchFamily="34" charset="0"/>
                <a:ea typeface="Calibri" pitchFamily="34" charset="-122"/>
                <a:cs typeface="Calibri" pitchFamily="34" charset="-120"/>
              </a:rPr>
              <a:t>12 min</a:t>
            </a:r>
            <a:endParaRPr lang="en-US" sz="1200" dirty="0"/>
          </a:p>
        </p:txBody>
      </p:sp>
      <p:sp>
        <p:nvSpPr>
          <p:cNvPr id="21" name="Text 19"/>
          <p:cNvSpPr txBox="1"/>
          <p:nvPr/>
        </p:nvSpPr>
        <p:spPr>
          <a:xfrm>
            <a:off x="5184648" y="3840480"/>
            <a:ext cx="1828800" cy="1280160"/>
          </a:xfrm>
          <a:prstGeom prst="rect">
            <a:avLst/>
          </a:prstGeom>
          <a:noFill/>
          <a:ln/>
        </p:spPr>
        <p:txBody>
          <a:bodyPr wrap="square" rtlCol="0" anchor="ctr"/>
          <a:lstStyle/>
          <a:p>
            <a:pPr algn="ctr" indent="0" marL="0">
              <a:buNone/>
            </a:pPr>
            <a:r>
              <a:rPr lang="en-US" sz="1250" dirty="0">
                <a:solidFill>
                  <a:srgbClr val="6B6480"/>
                </a:solidFill>
                <a:latin typeface="Calibri" pitchFamily="34" charset="0"/>
                <a:ea typeface="Calibri" pitchFamily="34" charset="-122"/>
                <a:cs typeface="Calibri" pitchFamily="34" charset="-120"/>
              </a:rPr>
              <a:t>Bayes · cause · CLT</a:t>
            </a:r>
            <a:endParaRPr lang="en-US" sz="1250" dirty="0"/>
          </a:p>
        </p:txBody>
      </p:sp>
      <p:sp>
        <p:nvSpPr>
          <p:cNvPr id="22" name="Shape 20"/>
          <p:cNvSpPr/>
          <p:nvPr/>
        </p:nvSpPr>
        <p:spPr>
          <a:xfrm>
            <a:off x="7296912" y="1828800"/>
            <a:ext cx="2084832" cy="3566160"/>
          </a:xfrm>
          <a:prstGeom prst="roundRect">
            <a:avLst>
              <a:gd name="adj" fmla="val 6140"/>
            </a:avLst>
          </a:prstGeom>
          <a:solidFill>
            <a:srgbClr val="F0ECF7"/>
          </a:solidFill>
          <a:ln w="12700">
            <a:solidFill>
              <a:srgbClr val="E4DCF0"/>
            </a:solidFill>
            <a:prstDash val="solid"/>
          </a:ln>
        </p:spPr>
      </p:sp>
      <p:sp>
        <p:nvSpPr>
          <p:cNvPr id="23" name="Shape 21"/>
          <p:cNvSpPr/>
          <p:nvPr/>
        </p:nvSpPr>
        <p:spPr>
          <a:xfrm>
            <a:off x="8055864" y="2084832"/>
            <a:ext cx="566928" cy="566928"/>
          </a:xfrm>
          <a:prstGeom prst="ellipse">
            <a:avLst/>
          </a:prstGeom>
          <a:solidFill>
            <a:srgbClr val="F4A259"/>
          </a:solidFill>
          <a:ln/>
        </p:spPr>
      </p:sp>
      <p:sp>
        <p:nvSpPr>
          <p:cNvPr id="24" name="Text 22"/>
          <p:cNvSpPr txBox="1"/>
          <p:nvPr/>
        </p:nvSpPr>
        <p:spPr>
          <a:xfrm>
            <a:off x="8055864" y="2075688"/>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25" name="Text 23"/>
          <p:cNvSpPr txBox="1"/>
          <p:nvPr/>
        </p:nvSpPr>
        <p:spPr>
          <a:xfrm>
            <a:off x="7406640" y="2834640"/>
            <a:ext cx="1865376" cy="640080"/>
          </a:xfrm>
          <a:prstGeom prst="rect">
            <a:avLst/>
          </a:prstGeom>
          <a:noFill/>
          <a:ln/>
        </p:spPr>
        <p:txBody>
          <a:bodyPr wrap="square" rtlCol="0" anchor="ctr"/>
          <a:lstStyle/>
          <a:p>
            <a:pPr algn="ctr" indent="0" marL="0">
              <a:buNone/>
            </a:pPr>
            <a:r>
              <a:rPr lang="en-US" sz="1500" b="1" dirty="0">
                <a:solidFill>
                  <a:srgbClr val="231942"/>
                </a:solidFill>
                <a:latin typeface="Calibri" pitchFamily="34" charset="0"/>
                <a:ea typeface="Calibri" pitchFamily="34" charset="-122"/>
                <a:cs typeface="Calibri" pitchFamily="34" charset="-120"/>
              </a:rPr>
              <a:t>Case study</a:t>
            </a:r>
            <a:endParaRPr lang="en-US" sz="1500" dirty="0"/>
          </a:p>
        </p:txBody>
      </p:sp>
      <p:sp>
        <p:nvSpPr>
          <p:cNvPr id="26" name="Text 24"/>
          <p:cNvSpPr txBox="1"/>
          <p:nvPr/>
        </p:nvSpPr>
        <p:spPr>
          <a:xfrm>
            <a:off x="7406640" y="3429000"/>
            <a:ext cx="1865376" cy="320040"/>
          </a:xfrm>
          <a:prstGeom prst="rect">
            <a:avLst/>
          </a:prstGeom>
          <a:noFill/>
          <a:ln/>
        </p:spPr>
        <p:txBody>
          <a:bodyPr wrap="square" rtlCol="0" anchor="ctr"/>
          <a:lstStyle/>
          <a:p>
            <a:pPr algn="ctr" indent="0" marL="0">
              <a:buNone/>
            </a:pPr>
            <a:r>
              <a:rPr lang="en-US" sz="1200" b="1" dirty="0">
                <a:solidFill>
                  <a:srgbClr val="F4A259"/>
                </a:solidFill>
                <a:latin typeface="Calibri" pitchFamily="34" charset="0"/>
                <a:ea typeface="Calibri" pitchFamily="34" charset="-122"/>
                <a:cs typeface="Calibri" pitchFamily="34" charset="-120"/>
              </a:rPr>
              <a:t>20 min</a:t>
            </a:r>
            <a:endParaRPr lang="en-US" sz="1200" dirty="0"/>
          </a:p>
        </p:txBody>
      </p:sp>
      <p:sp>
        <p:nvSpPr>
          <p:cNvPr id="27" name="Text 25"/>
          <p:cNvSpPr txBox="1"/>
          <p:nvPr/>
        </p:nvSpPr>
        <p:spPr>
          <a:xfrm>
            <a:off x="7434072" y="3840480"/>
            <a:ext cx="1828800" cy="1280160"/>
          </a:xfrm>
          <a:prstGeom prst="rect">
            <a:avLst/>
          </a:prstGeom>
          <a:noFill/>
          <a:ln/>
        </p:spPr>
        <p:txBody>
          <a:bodyPr wrap="square" rtlCol="0" anchor="ctr"/>
          <a:lstStyle/>
          <a:p>
            <a:pPr algn="ctr" indent="0" marL="0">
              <a:buNone/>
            </a:pPr>
            <a:r>
              <a:rPr lang="en-US" sz="1250" dirty="0">
                <a:solidFill>
                  <a:srgbClr val="6B6480"/>
                </a:solidFill>
                <a:latin typeface="Calibri" pitchFamily="34" charset="0"/>
                <a:ea typeface="Calibri" pitchFamily="34" charset="-122"/>
                <a:cs typeface="Calibri" pitchFamily="34" charset="-120"/>
              </a:rPr>
              <a:t>The A/B Test Detective</a:t>
            </a:r>
            <a:endParaRPr lang="en-US" sz="1250" dirty="0"/>
          </a:p>
        </p:txBody>
      </p:sp>
      <p:sp>
        <p:nvSpPr>
          <p:cNvPr id="28" name="Shape 26"/>
          <p:cNvSpPr/>
          <p:nvPr/>
        </p:nvSpPr>
        <p:spPr>
          <a:xfrm>
            <a:off x="9546336" y="1828800"/>
            <a:ext cx="2084832" cy="3566160"/>
          </a:xfrm>
          <a:prstGeom prst="roundRect">
            <a:avLst>
              <a:gd name="adj" fmla="val 6140"/>
            </a:avLst>
          </a:prstGeom>
          <a:solidFill>
            <a:srgbClr val="F0ECF7"/>
          </a:solidFill>
          <a:ln w="12700">
            <a:solidFill>
              <a:srgbClr val="E4DCF0"/>
            </a:solidFill>
            <a:prstDash val="solid"/>
          </a:ln>
        </p:spPr>
      </p:sp>
      <p:sp>
        <p:nvSpPr>
          <p:cNvPr id="29" name="Shape 27"/>
          <p:cNvSpPr/>
          <p:nvPr/>
        </p:nvSpPr>
        <p:spPr>
          <a:xfrm>
            <a:off x="10305288" y="2084832"/>
            <a:ext cx="566928" cy="566928"/>
          </a:xfrm>
          <a:prstGeom prst="ellipse">
            <a:avLst/>
          </a:prstGeom>
          <a:solidFill>
            <a:srgbClr val="5A189A"/>
          </a:solidFill>
          <a:ln/>
        </p:spPr>
      </p:sp>
      <p:sp>
        <p:nvSpPr>
          <p:cNvPr id="30" name="Text 28"/>
          <p:cNvSpPr txBox="1"/>
          <p:nvPr/>
        </p:nvSpPr>
        <p:spPr>
          <a:xfrm>
            <a:off x="10305288" y="2075688"/>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5</a:t>
            </a:r>
            <a:endParaRPr lang="en-US" sz="2600" dirty="0"/>
          </a:p>
        </p:txBody>
      </p:sp>
      <p:sp>
        <p:nvSpPr>
          <p:cNvPr id="31" name="Text 29"/>
          <p:cNvSpPr txBox="1"/>
          <p:nvPr/>
        </p:nvSpPr>
        <p:spPr>
          <a:xfrm>
            <a:off x="9656064" y="2834640"/>
            <a:ext cx="1865376" cy="640080"/>
          </a:xfrm>
          <a:prstGeom prst="rect">
            <a:avLst/>
          </a:prstGeom>
          <a:noFill/>
          <a:ln/>
        </p:spPr>
        <p:txBody>
          <a:bodyPr wrap="square" rtlCol="0" anchor="ctr"/>
          <a:lstStyle/>
          <a:p>
            <a:pPr algn="ctr" indent="0" marL="0">
              <a:buNone/>
            </a:pPr>
            <a:r>
              <a:rPr lang="en-US" sz="1500" b="1" dirty="0">
                <a:solidFill>
                  <a:srgbClr val="231942"/>
                </a:solidFill>
                <a:latin typeface="Calibri" pitchFamily="34" charset="0"/>
                <a:ea typeface="Calibri" pitchFamily="34" charset="-122"/>
                <a:cs typeface="Calibri" pitchFamily="34" charset="-120"/>
              </a:rPr>
              <a:t>Wrap-up</a:t>
            </a:r>
            <a:endParaRPr lang="en-US" sz="1500" dirty="0"/>
          </a:p>
        </p:txBody>
      </p:sp>
      <p:sp>
        <p:nvSpPr>
          <p:cNvPr id="32" name="Text 30"/>
          <p:cNvSpPr txBox="1"/>
          <p:nvPr/>
        </p:nvSpPr>
        <p:spPr>
          <a:xfrm>
            <a:off x="9656064" y="3429000"/>
            <a:ext cx="1865376" cy="320040"/>
          </a:xfrm>
          <a:prstGeom prst="rect">
            <a:avLst/>
          </a:prstGeom>
          <a:noFill/>
          <a:ln/>
        </p:spPr>
        <p:txBody>
          <a:bodyPr wrap="square" rtlCol="0" anchor="ctr"/>
          <a:lstStyle/>
          <a:p>
            <a:pPr algn="ctr" indent="0" marL="0">
              <a:buNone/>
            </a:pPr>
            <a:r>
              <a:rPr lang="en-US" sz="1200" b="1" dirty="0">
                <a:solidFill>
                  <a:srgbClr val="5A189A"/>
                </a:solidFill>
                <a:latin typeface="Calibri" pitchFamily="34" charset="0"/>
                <a:ea typeface="Calibri" pitchFamily="34" charset="-122"/>
                <a:cs typeface="Calibri" pitchFamily="34" charset="-120"/>
              </a:rPr>
              <a:t>8 min</a:t>
            </a:r>
            <a:endParaRPr lang="en-US" sz="1200" dirty="0"/>
          </a:p>
        </p:txBody>
      </p:sp>
      <p:sp>
        <p:nvSpPr>
          <p:cNvPr id="33" name="Text 31"/>
          <p:cNvSpPr txBox="1"/>
          <p:nvPr/>
        </p:nvSpPr>
        <p:spPr>
          <a:xfrm>
            <a:off x="9683496" y="3840480"/>
            <a:ext cx="1828800" cy="1280160"/>
          </a:xfrm>
          <a:prstGeom prst="rect">
            <a:avLst/>
          </a:prstGeom>
          <a:noFill/>
          <a:ln/>
        </p:spPr>
        <p:txBody>
          <a:bodyPr wrap="square" rtlCol="0" anchor="ctr"/>
          <a:lstStyle/>
          <a:p>
            <a:pPr algn="ctr" indent="0" marL="0">
              <a:buNone/>
            </a:pPr>
            <a:r>
              <a:rPr lang="en-US" sz="1250" dirty="0">
                <a:solidFill>
                  <a:srgbClr val="6B6480"/>
                </a:solidFill>
                <a:latin typeface="Calibri" pitchFamily="34" charset="0"/>
                <a:ea typeface="Calibri" pitchFamily="34" charset="-122"/>
                <a:cs typeface="Calibri" pitchFamily="34" charset="-120"/>
              </a:rPr>
              <a:t>Exit ticket + practice</a:t>
            </a:r>
            <a:endParaRPr lang="en-US" sz="1250" dirty="0"/>
          </a:p>
        </p:txBody>
      </p:sp>
      <p:sp>
        <p:nvSpPr>
          <p:cNvPr id="34" name="Text 32"/>
          <p:cNvSpPr txBox="1"/>
          <p:nvPr/>
        </p:nvSpPr>
        <p:spPr>
          <a:xfrm>
            <a:off x="11521440" y="6446520"/>
            <a:ext cx="548640" cy="320040"/>
          </a:xfrm>
          <a:prstGeom prst="rect">
            <a:avLst/>
          </a:prstGeom>
          <a:noFill/>
          <a:ln/>
        </p:spPr>
        <p:txBody>
          <a:bodyPr wrap="square" rtlCol="0" anchor="ctr"/>
          <a:lstStyle/>
          <a:p>
            <a:pPr algn="r" indent="0" marL="0">
              <a:buNone/>
            </a:pPr>
            <a:r>
              <a:rPr lang="en-US" sz="1100" dirty="0">
                <a:solidFill>
                  <a:srgbClr val="6B6480"/>
                </a:solidFill>
                <a:latin typeface="Calibri" pitchFamily="34" charset="0"/>
                <a:ea typeface="Calibri" pitchFamily="34" charset="-122"/>
                <a:cs typeface="Calibri" pitchFamily="34" charset="-120"/>
              </a:rPr>
              <a:t>2</a:t>
            </a:r>
            <a:endParaRPr lang="en-US" sz="1100" dirty="0"/>
          </a:p>
        </p:txBody>
      </p:sp>
      <p:sp>
        <p:nvSpPr>
          <p:cNvPr id="35" name="Text 33"/>
          <p:cNvSpPr txBox="1"/>
          <p:nvPr/>
        </p:nvSpPr>
        <p:spPr>
          <a:xfrm>
            <a:off x="457200" y="6446520"/>
            <a:ext cx="5486400" cy="320040"/>
          </a:xfrm>
          <a:prstGeom prst="rect">
            <a:avLst/>
          </a:prstGeom>
          <a:noFill/>
          <a:ln/>
        </p:spPr>
        <p:txBody>
          <a:bodyPr wrap="square" rtlCol="0" anchor="ctr"/>
          <a:lstStyle/>
          <a:p>
            <a:pPr indent="0" marL="0">
              <a:buNone/>
            </a:pPr>
            <a:r>
              <a:rPr lang="en-US" sz="1100" dirty="0">
                <a:solidFill>
                  <a:srgbClr val="6B6480"/>
                </a:solidFill>
                <a:latin typeface="Calibri" pitchFamily="34" charset="0"/>
                <a:ea typeface="Calibri" pitchFamily="34" charset="-122"/>
                <a:cs typeface="Calibri" pitchFamily="34" charset="-120"/>
              </a:rPr>
              <a:t>Topic 8 · Probability &amp; Statistics in ML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31942"/>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73152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Your intuition lies</a:t>
            </a:r>
            <a:endParaRPr lang="en-US" sz="3600" dirty="0"/>
          </a:p>
        </p:txBody>
      </p:sp>
      <p:sp>
        <p:nvSpPr>
          <p:cNvPr id="3" name="Shape 1"/>
          <p:cNvSpPr/>
          <p:nvPr/>
        </p:nvSpPr>
        <p:spPr>
          <a:xfrm>
            <a:off x="594360" y="1417320"/>
            <a:ext cx="10972800" cy="2148840"/>
          </a:xfrm>
          <a:prstGeom prst="roundRect">
            <a:avLst>
              <a:gd name="adj" fmla="val 5957"/>
            </a:avLst>
          </a:prstGeom>
          <a:solidFill>
            <a:srgbClr val="FFFFFF">
              <a:alpha val="10000"/>
            </a:srgbClr>
          </a:solidFill>
          <a:ln/>
        </p:spPr>
      </p:sp>
      <p:sp>
        <p:nvSpPr>
          <p:cNvPr id="4" name="Text 2"/>
          <p:cNvSpPr txBox="1"/>
          <p:nvPr/>
        </p:nvSpPr>
        <p:spPr>
          <a:xfrm>
            <a:off x="914400" y="1600200"/>
            <a:ext cx="10058400" cy="457200"/>
          </a:xfrm>
          <a:prstGeom prst="rect">
            <a:avLst/>
          </a:prstGeom>
          <a:noFill/>
          <a:ln/>
        </p:spPr>
        <p:txBody>
          <a:bodyPr wrap="square" rtlCol="0" anchor="ctr"/>
          <a:lstStyle/>
          <a:p>
            <a:pPr indent="0" marL="0">
              <a:buNone/>
            </a:pPr>
            <a:r>
              <a:rPr lang="en-US" sz="1700" b="1" dirty="0">
                <a:solidFill>
                  <a:srgbClr val="F4C79A"/>
                </a:solidFill>
                <a:latin typeface="Calibri" pitchFamily="34" charset="0"/>
                <a:ea typeface="Calibri" pitchFamily="34" charset="-122"/>
                <a:cs typeface="Calibri" pitchFamily="34" charset="-120"/>
              </a:rPr>
              <a:t>🩺  The scenario</a:t>
            </a:r>
            <a:endParaRPr lang="en-US" sz="1700" dirty="0"/>
          </a:p>
        </p:txBody>
      </p:sp>
      <p:sp>
        <p:nvSpPr>
          <p:cNvPr id="5" name="Text 3"/>
          <p:cNvSpPr txBox="1"/>
          <p:nvPr/>
        </p:nvSpPr>
        <p:spPr>
          <a:xfrm>
            <a:off x="914400" y="2057400"/>
            <a:ext cx="10332720" cy="1371600"/>
          </a:xfrm>
          <a:prstGeom prst="rect">
            <a:avLst/>
          </a:prstGeom>
          <a:noFill/>
          <a:ln/>
        </p:spPr>
        <p:txBody>
          <a:bodyPr wrap="square" rtlCol="0" anchor="t"/>
          <a:lstStyle/>
          <a:p>
            <a:pPr indent="0" marL="0">
              <a:buNone/>
            </a:pPr>
            <a:r>
              <a:rPr lang="en-US" sz="2400" dirty="0">
                <a:solidFill>
                  <a:srgbClr val="E4D6F5"/>
                </a:solidFill>
                <a:latin typeface="Calibri" pitchFamily="34" charset="0"/>
                <a:ea typeface="Calibri" pitchFamily="34" charset="-122"/>
                <a:cs typeface="Calibri" pitchFamily="34" charset="-120"/>
              </a:rPr>
              <a:t>A disease affects </a:t>
            </a:r>
            <a:pPr indent="0" marL="0">
              <a:buNone/>
            </a:pPr>
            <a:r>
              <a:rPr lang="en-US" sz="2400" b="1" dirty="0">
                <a:solidFill>
                  <a:srgbClr val="FFFFFF"/>
                </a:solidFill>
                <a:latin typeface="Calibri" pitchFamily="34" charset="0"/>
                <a:ea typeface="Calibri" pitchFamily="34" charset="-122"/>
                <a:cs typeface="Calibri" pitchFamily="34" charset="-120"/>
              </a:rPr>
              <a:t>1 in 100 </a:t>
            </a:r>
            <a:pPr indent="0" marL="0">
              <a:buNone/>
            </a:pPr>
            <a:r>
              <a:rPr lang="en-US" sz="2400" dirty="0">
                <a:solidFill>
                  <a:srgbClr val="E4D6F5"/>
                </a:solidFill>
                <a:latin typeface="Calibri" pitchFamily="34" charset="0"/>
                <a:ea typeface="Calibri" pitchFamily="34" charset="-122"/>
                <a:cs typeface="Calibri" pitchFamily="34" charset="-120"/>
              </a:rPr>
              <a:t>people. A test is </a:t>
            </a:r>
            <a:pPr indent="0" marL="0">
              <a:buNone/>
            </a:pPr>
            <a:r>
              <a:rPr lang="en-US" sz="2400" b="1" dirty="0">
                <a:solidFill>
                  <a:srgbClr val="FFFFFF"/>
                </a:solidFill>
                <a:latin typeface="Calibri" pitchFamily="34" charset="0"/>
                <a:ea typeface="Calibri" pitchFamily="34" charset="-122"/>
                <a:cs typeface="Calibri" pitchFamily="34" charset="-120"/>
              </a:rPr>
              <a:t>99% accurate. </a:t>
            </a:r>
            <a:pPr indent="0" marL="0">
              <a:buNone/>
            </a:pPr>
            <a:r>
              <a:rPr lang="en-US" sz="2400" dirty="0">
                <a:solidFill>
                  <a:srgbClr val="E4D6F5"/>
                </a:solidFill>
                <a:latin typeface="Calibri" pitchFamily="34" charset="0"/>
                <a:ea typeface="Calibri" pitchFamily="34" charset="-122"/>
                <a:cs typeface="Calibri" pitchFamily="34" charset="-120"/>
              </a:rPr>
              <a:t>You test </a:t>
            </a:r>
            <a:pPr indent="0" marL="0">
              <a:buNone/>
            </a:pPr>
            <a:r>
              <a:rPr lang="en-US" sz="2400" b="1" dirty="0">
                <a:solidFill>
                  <a:srgbClr val="F4A259"/>
                </a:solidFill>
                <a:latin typeface="Calibri" pitchFamily="34" charset="0"/>
                <a:ea typeface="Calibri" pitchFamily="34" charset="-122"/>
                <a:cs typeface="Calibri" pitchFamily="34" charset="-120"/>
              </a:rPr>
              <a:t>POSITIVE.
</a:t>
            </a:r>
            <a:pPr indent="0" marL="0">
              <a:buNone/>
            </a:pPr>
            <a:r>
              <a:rPr lang="en-US" sz="2400" b="1" dirty="0">
                <a:solidFill>
                  <a:srgbClr val="FFFFFF"/>
                </a:solidFill>
                <a:latin typeface="Calibri" pitchFamily="34" charset="0"/>
                <a:ea typeface="Calibri" pitchFamily="34" charset="-122"/>
                <a:cs typeface="Calibri" pitchFamily="34" charset="-120"/>
              </a:rPr>
              <a:t>What's the chance you're actually sick?</a:t>
            </a:r>
            <a:endParaRPr lang="en-US" sz="2400" dirty="0"/>
          </a:p>
        </p:txBody>
      </p:sp>
      <p:sp>
        <p:nvSpPr>
          <p:cNvPr id="6" name="Shape 4"/>
          <p:cNvSpPr/>
          <p:nvPr/>
        </p:nvSpPr>
        <p:spPr>
          <a:xfrm>
            <a:off x="594360" y="3931920"/>
            <a:ext cx="2606040" cy="822960"/>
          </a:xfrm>
          <a:prstGeom prst="roundRect">
            <a:avLst>
              <a:gd name="adj" fmla="val 13333"/>
            </a:avLst>
          </a:prstGeom>
          <a:solidFill>
            <a:srgbClr val="7B2CBF">
              <a:alpha val="85000"/>
            </a:srgbClr>
          </a:solidFill>
          <a:ln/>
        </p:spPr>
      </p:sp>
      <p:sp>
        <p:nvSpPr>
          <p:cNvPr id="7" name="Text 5"/>
          <p:cNvSpPr txBox="1"/>
          <p:nvPr/>
        </p:nvSpPr>
        <p:spPr>
          <a:xfrm>
            <a:off x="594360" y="3931920"/>
            <a:ext cx="26060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 ~99%</a:t>
            </a:r>
            <a:endParaRPr lang="en-US" sz="2000" dirty="0"/>
          </a:p>
        </p:txBody>
      </p:sp>
      <p:sp>
        <p:nvSpPr>
          <p:cNvPr id="8" name="Shape 6"/>
          <p:cNvSpPr/>
          <p:nvPr/>
        </p:nvSpPr>
        <p:spPr>
          <a:xfrm>
            <a:off x="3383280" y="3931920"/>
            <a:ext cx="2606040" cy="822960"/>
          </a:xfrm>
          <a:prstGeom prst="roundRect">
            <a:avLst>
              <a:gd name="adj" fmla="val 13333"/>
            </a:avLst>
          </a:prstGeom>
          <a:solidFill>
            <a:srgbClr val="7B2CBF">
              <a:alpha val="85000"/>
            </a:srgbClr>
          </a:solidFill>
          <a:ln/>
        </p:spPr>
      </p:sp>
      <p:sp>
        <p:nvSpPr>
          <p:cNvPr id="9" name="Text 7"/>
          <p:cNvSpPr txBox="1"/>
          <p:nvPr/>
        </p:nvSpPr>
        <p:spPr>
          <a:xfrm>
            <a:off x="3383280" y="3931920"/>
            <a:ext cx="26060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 ~90%</a:t>
            </a:r>
            <a:endParaRPr lang="en-US" sz="2000" dirty="0"/>
          </a:p>
        </p:txBody>
      </p:sp>
      <p:sp>
        <p:nvSpPr>
          <p:cNvPr id="10" name="Shape 8"/>
          <p:cNvSpPr/>
          <p:nvPr/>
        </p:nvSpPr>
        <p:spPr>
          <a:xfrm>
            <a:off x="6172200" y="3931920"/>
            <a:ext cx="2606040" cy="822960"/>
          </a:xfrm>
          <a:prstGeom prst="roundRect">
            <a:avLst>
              <a:gd name="adj" fmla="val 13333"/>
            </a:avLst>
          </a:prstGeom>
          <a:solidFill>
            <a:srgbClr val="7B2CBF">
              <a:alpha val="85000"/>
            </a:srgbClr>
          </a:solidFill>
          <a:ln/>
        </p:spPr>
      </p:sp>
      <p:sp>
        <p:nvSpPr>
          <p:cNvPr id="11" name="Text 9"/>
          <p:cNvSpPr txBox="1"/>
          <p:nvPr/>
        </p:nvSpPr>
        <p:spPr>
          <a:xfrm>
            <a:off x="6172200" y="3931920"/>
            <a:ext cx="26060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 ~50%</a:t>
            </a:r>
            <a:endParaRPr lang="en-US" sz="2000" dirty="0"/>
          </a:p>
        </p:txBody>
      </p:sp>
      <p:sp>
        <p:nvSpPr>
          <p:cNvPr id="12" name="Shape 10"/>
          <p:cNvSpPr/>
          <p:nvPr/>
        </p:nvSpPr>
        <p:spPr>
          <a:xfrm>
            <a:off x="8961120" y="3931920"/>
            <a:ext cx="2606040" cy="822960"/>
          </a:xfrm>
          <a:prstGeom prst="roundRect">
            <a:avLst>
              <a:gd name="adj" fmla="val 13333"/>
            </a:avLst>
          </a:prstGeom>
          <a:solidFill>
            <a:srgbClr val="7B2CBF">
              <a:alpha val="85000"/>
            </a:srgbClr>
          </a:solidFill>
          <a:ln/>
        </p:spPr>
      </p:sp>
      <p:sp>
        <p:nvSpPr>
          <p:cNvPr id="13" name="Text 11"/>
          <p:cNvSpPr txBox="1"/>
          <p:nvPr/>
        </p:nvSpPr>
        <p:spPr>
          <a:xfrm>
            <a:off x="8961120" y="3931920"/>
            <a:ext cx="26060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 ~1%</a:t>
            </a:r>
            <a:endParaRPr lang="en-US" sz="2000" dirty="0"/>
          </a:p>
        </p:txBody>
      </p:sp>
      <p:sp>
        <p:nvSpPr>
          <p:cNvPr id="14" name="Text 12"/>
          <p:cNvSpPr txBox="1"/>
          <p:nvPr/>
        </p:nvSpPr>
        <p:spPr>
          <a:xfrm>
            <a:off x="594360" y="5029200"/>
            <a:ext cx="10972800" cy="731520"/>
          </a:xfrm>
          <a:prstGeom prst="rect">
            <a:avLst/>
          </a:prstGeom>
          <a:noFill/>
          <a:ln/>
        </p:spPr>
        <p:txBody>
          <a:bodyPr wrap="square" rtlCol="0" anchor="ctr"/>
          <a:lstStyle/>
          <a:p>
            <a:pPr indent="0" marL="0">
              <a:buNone/>
            </a:pPr>
            <a:r>
              <a:rPr lang="en-US" sz="1600" i="1" dirty="0">
                <a:solidFill>
                  <a:srgbClr val="C9A9E8"/>
                </a:solidFill>
                <a:latin typeface="Calibri" pitchFamily="34" charset="0"/>
                <a:ea typeface="Calibri" pitchFamily="34" charset="-122"/>
                <a:cs typeface="Calibri" pitchFamily="34" charset="-120"/>
              </a:rPr>
              <a:t>→  Vote in the poll. Most people say A. The real answer is C (~50%) — we'll see WHY in the Bayes tree.</a:t>
            </a:r>
            <a:endParaRPr lang="en-US" sz="1600" dirty="0"/>
          </a:p>
        </p:txBody>
      </p:sp>
      <p:sp>
        <p:nvSpPr>
          <p:cNvPr id="15" name="Text 13"/>
          <p:cNvSpPr txBox="1"/>
          <p:nvPr/>
        </p:nvSpPr>
        <p:spPr>
          <a:xfrm>
            <a:off x="11521440" y="6446520"/>
            <a:ext cx="548640" cy="320040"/>
          </a:xfrm>
          <a:prstGeom prst="rect">
            <a:avLst/>
          </a:prstGeom>
          <a:noFill/>
          <a:ln/>
        </p:spPr>
        <p:txBody>
          <a:bodyPr wrap="square" rtlCol="0" anchor="ctr"/>
          <a:lstStyle/>
          <a:p>
            <a:pPr algn="r" indent="0" marL="0">
              <a:buNone/>
            </a:pPr>
            <a:r>
              <a:rPr lang="en-US" sz="1100" dirty="0">
                <a:solidFill>
                  <a:srgbClr val="6B6480"/>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457200" y="6446520"/>
            <a:ext cx="5486400" cy="320040"/>
          </a:xfrm>
          <a:prstGeom prst="rect">
            <a:avLst/>
          </a:prstGeom>
          <a:noFill/>
          <a:ln/>
        </p:spPr>
        <p:txBody>
          <a:bodyPr wrap="square" rtlCol="0" anchor="ctr"/>
          <a:lstStyle/>
          <a:p>
            <a:pPr indent="0" marL="0">
              <a:buNone/>
            </a:pPr>
            <a:r>
              <a:rPr lang="en-US" sz="1100" dirty="0">
                <a:solidFill>
                  <a:srgbClr val="6B6480"/>
                </a:solidFill>
                <a:latin typeface="Calibri" pitchFamily="34" charset="0"/>
                <a:ea typeface="Calibri" pitchFamily="34" charset="-122"/>
                <a:cs typeface="Calibri" pitchFamily="34" charset="-120"/>
              </a:rPr>
              <a:t>Topic 8 · Probability &amp; Statistics in ML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2A9D8F"/>
          </a:solidFill>
          <a:ln/>
        </p:spPr>
      </p:sp>
      <p:sp>
        <p:nvSpPr>
          <p:cNvPr id="3" name="Text 1"/>
          <p:cNvSpPr txBox="1"/>
          <p:nvPr/>
        </p:nvSpPr>
        <p:spPr>
          <a:xfrm>
            <a:off x="548640" y="44805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4" name="Text 2"/>
          <p:cNvSpPr txBox="1"/>
          <p:nvPr/>
        </p:nvSpPr>
        <p:spPr>
          <a:xfrm>
            <a:off x="1325880" y="411480"/>
            <a:ext cx="10058400" cy="731520"/>
          </a:xfrm>
          <a:prstGeom prst="rect">
            <a:avLst/>
          </a:prstGeom>
          <a:noFill/>
          <a:ln/>
        </p:spPr>
        <p:txBody>
          <a:bodyPr wrap="square" rtlCol="0" anchor="ctr"/>
          <a:lstStyle/>
          <a:p>
            <a:pPr indent="0" marL="0">
              <a:buNone/>
            </a:pPr>
            <a:r>
              <a:rPr lang="en-US" sz="3400" b="1" dirty="0">
                <a:solidFill>
                  <a:srgbClr val="231942"/>
                </a:solidFill>
                <a:latin typeface="Cambria" pitchFamily="34" charset="0"/>
                <a:ea typeface="Cambria" pitchFamily="34" charset="-122"/>
                <a:cs typeface="Cambria" pitchFamily="34" charset="-120"/>
              </a:rPr>
              <a:t>Diagnostic: 4 concept buckets</a:t>
            </a:r>
            <a:endParaRPr lang="en-US" sz="3400" dirty="0"/>
          </a:p>
        </p:txBody>
      </p:sp>
      <p:sp>
        <p:nvSpPr>
          <p:cNvPr id="5" name="Text 3"/>
          <p:cNvSpPr txBox="1"/>
          <p:nvPr/>
        </p:nvSpPr>
        <p:spPr>
          <a:xfrm>
            <a:off x="566928" y="1234440"/>
            <a:ext cx="10972800" cy="365760"/>
          </a:xfrm>
          <a:prstGeom prst="rect">
            <a:avLst/>
          </a:prstGeom>
          <a:noFill/>
          <a:ln/>
        </p:spPr>
        <p:txBody>
          <a:bodyPr wrap="square" rtlCol="0" anchor="ctr"/>
          <a:lstStyle/>
          <a:p>
            <a:pPr indent="0" marL="0">
              <a:buNone/>
            </a:pPr>
            <a:r>
              <a:rPr lang="en-US" sz="1500" i="1" dirty="0">
                <a:solidFill>
                  <a:srgbClr val="6B6480"/>
                </a:solidFill>
                <a:latin typeface="Calibri" pitchFamily="34" charset="0"/>
                <a:ea typeface="Calibri" pitchFamily="34" charset="-122"/>
                <a:cs typeface="Calibri" pitchFamily="34" charset="-120"/>
              </a:rPr>
              <a:t>8-question Mentimeter quiz, tagged by bucket — the results tell us which bucket to teach.</a:t>
            </a:r>
            <a:endParaRPr lang="en-US" sz="1500" dirty="0"/>
          </a:p>
        </p:txBody>
      </p:sp>
      <p:sp>
        <p:nvSpPr>
          <p:cNvPr id="6" name="Shape 4"/>
          <p:cNvSpPr/>
          <p:nvPr/>
        </p:nvSpPr>
        <p:spPr>
          <a:xfrm>
            <a:off x="640080" y="1828800"/>
            <a:ext cx="5349240" cy="1874520"/>
          </a:xfrm>
          <a:prstGeom prst="roundRect">
            <a:avLst>
              <a:gd name="adj" fmla="val 6829"/>
            </a:avLst>
          </a:prstGeom>
          <a:solidFill>
            <a:srgbClr val="F0ECF7"/>
          </a:solidFill>
          <a:ln w="25400">
            <a:solidFill>
              <a:srgbClr val="7B2CBF"/>
            </a:solidFill>
            <a:prstDash val="solid"/>
          </a:ln>
        </p:spPr>
      </p:sp>
      <p:sp>
        <p:nvSpPr>
          <p:cNvPr id="7" name="Shape 5"/>
          <p:cNvSpPr/>
          <p:nvPr/>
        </p:nvSpPr>
        <p:spPr>
          <a:xfrm>
            <a:off x="914400" y="2148840"/>
            <a:ext cx="914400" cy="914400"/>
          </a:xfrm>
          <a:prstGeom prst="ellipse">
            <a:avLst/>
          </a:prstGeom>
          <a:solidFill>
            <a:srgbClr val="7B2CBF"/>
          </a:solidFill>
          <a:ln/>
        </p:spPr>
      </p:sp>
      <p:sp>
        <p:nvSpPr>
          <p:cNvPr id="8" name="Text 6"/>
          <p:cNvSpPr txBox="1"/>
          <p:nvPr/>
        </p:nvSpPr>
        <p:spPr>
          <a:xfrm>
            <a:off x="914400" y="2148840"/>
            <a:ext cx="914400" cy="91440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9" name="Text 7"/>
          <p:cNvSpPr txBox="1"/>
          <p:nvPr/>
        </p:nvSpPr>
        <p:spPr>
          <a:xfrm>
            <a:off x="2011680" y="2148840"/>
            <a:ext cx="3840480" cy="548640"/>
          </a:xfrm>
          <a:prstGeom prst="rect">
            <a:avLst/>
          </a:prstGeom>
          <a:noFill/>
          <a:ln/>
        </p:spPr>
        <p:txBody>
          <a:bodyPr wrap="square" rtlCol="0" anchor="ctr"/>
          <a:lstStyle/>
          <a:p>
            <a:pPr indent="0" marL="0">
              <a:buNone/>
            </a:pPr>
            <a:r>
              <a:rPr lang="en-US" sz="1800" b="1" dirty="0">
                <a:solidFill>
                  <a:srgbClr val="231942"/>
                </a:solidFill>
                <a:latin typeface="Calibri" pitchFamily="34" charset="0"/>
                <a:ea typeface="Calibri" pitchFamily="34" charset="-122"/>
                <a:cs typeface="Calibri" pitchFamily="34" charset="-120"/>
              </a:rPr>
              <a:t>Probability foundations</a:t>
            </a:r>
            <a:endParaRPr lang="en-US" sz="1800" dirty="0"/>
          </a:p>
        </p:txBody>
      </p:sp>
      <p:sp>
        <p:nvSpPr>
          <p:cNvPr id="10" name="Text 8"/>
          <p:cNvSpPr txBox="1"/>
          <p:nvPr/>
        </p:nvSpPr>
        <p:spPr>
          <a:xfrm>
            <a:off x="2011680" y="2697480"/>
            <a:ext cx="3886200" cy="914400"/>
          </a:xfrm>
          <a:prstGeom prst="rect">
            <a:avLst/>
          </a:prstGeom>
          <a:noFill/>
          <a:ln/>
        </p:spPr>
        <p:txBody>
          <a:bodyPr wrap="square" rtlCol="0" anchor="t"/>
          <a:lstStyle/>
          <a:p>
            <a:pPr indent="0" marL="0">
              <a:buNone/>
            </a:pPr>
            <a:r>
              <a:rPr lang="en-US" sz="1350" dirty="0">
                <a:solidFill>
                  <a:srgbClr val="6B6480"/>
                </a:solidFill>
                <a:latin typeface="Calibri" pitchFamily="34" charset="0"/>
                <a:ea typeface="Calibri" pitchFamily="34" charset="-122"/>
                <a:cs typeface="Calibri" pitchFamily="34" charset="-120"/>
              </a:rPr>
              <a:t>sample space · conditional · independence</a:t>
            </a:r>
            <a:endParaRPr lang="en-US" sz="1350" dirty="0"/>
          </a:p>
        </p:txBody>
      </p:sp>
      <p:sp>
        <p:nvSpPr>
          <p:cNvPr id="11" name="Shape 9"/>
          <p:cNvSpPr/>
          <p:nvPr/>
        </p:nvSpPr>
        <p:spPr>
          <a:xfrm>
            <a:off x="6172200" y="1828800"/>
            <a:ext cx="5349240" cy="1874520"/>
          </a:xfrm>
          <a:prstGeom prst="roundRect">
            <a:avLst>
              <a:gd name="adj" fmla="val 6829"/>
            </a:avLst>
          </a:prstGeom>
          <a:solidFill>
            <a:srgbClr val="F0ECF7"/>
          </a:solidFill>
          <a:ln w="25400">
            <a:solidFill>
              <a:srgbClr val="2A9D8F"/>
            </a:solidFill>
            <a:prstDash val="solid"/>
          </a:ln>
        </p:spPr>
      </p:sp>
      <p:sp>
        <p:nvSpPr>
          <p:cNvPr id="12" name="Shape 10"/>
          <p:cNvSpPr/>
          <p:nvPr/>
        </p:nvSpPr>
        <p:spPr>
          <a:xfrm>
            <a:off x="6446520" y="2148840"/>
            <a:ext cx="914400" cy="914400"/>
          </a:xfrm>
          <a:prstGeom prst="ellipse">
            <a:avLst/>
          </a:prstGeom>
          <a:solidFill>
            <a:srgbClr val="2A9D8F"/>
          </a:solidFill>
          <a:ln/>
        </p:spPr>
      </p:sp>
      <p:sp>
        <p:nvSpPr>
          <p:cNvPr id="13" name="Text 11"/>
          <p:cNvSpPr txBox="1"/>
          <p:nvPr/>
        </p:nvSpPr>
        <p:spPr>
          <a:xfrm>
            <a:off x="6446520" y="2148840"/>
            <a:ext cx="914400" cy="91440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14" name="Text 12"/>
          <p:cNvSpPr txBox="1"/>
          <p:nvPr/>
        </p:nvSpPr>
        <p:spPr>
          <a:xfrm>
            <a:off x="7543800" y="2148840"/>
            <a:ext cx="3840480" cy="548640"/>
          </a:xfrm>
          <a:prstGeom prst="rect">
            <a:avLst/>
          </a:prstGeom>
          <a:noFill/>
          <a:ln/>
        </p:spPr>
        <p:txBody>
          <a:bodyPr wrap="square" rtlCol="0" anchor="ctr"/>
          <a:lstStyle/>
          <a:p>
            <a:pPr indent="0" marL="0">
              <a:buNone/>
            </a:pPr>
            <a:r>
              <a:rPr lang="en-US" sz="1800" b="1" dirty="0">
                <a:solidFill>
                  <a:srgbClr val="231942"/>
                </a:solidFill>
                <a:latin typeface="Calibri" pitchFamily="34" charset="0"/>
                <a:ea typeface="Calibri" pitchFamily="34" charset="-122"/>
                <a:cs typeface="Calibri" pitchFamily="34" charset="-120"/>
              </a:rPr>
              <a:t>Bayes &amp; distributions</a:t>
            </a:r>
            <a:endParaRPr lang="en-US" sz="1800" dirty="0"/>
          </a:p>
        </p:txBody>
      </p:sp>
      <p:sp>
        <p:nvSpPr>
          <p:cNvPr id="15" name="Text 13"/>
          <p:cNvSpPr txBox="1"/>
          <p:nvPr/>
        </p:nvSpPr>
        <p:spPr>
          <a:xfrm>
            <a:off x="7543800" y="2697480"/>
            <a:ext cx="3886200" cy="914400"/>
          </a:xfrm>
          <a:prstGeom prst="rect">
            <a:avLst/>
          </a:prstGeom>
          <a:noFill/>
          <a:ln/>
        </p:spPr>
        <p:txBody>
          <a:bodyPr wrap="square" rtlCol="0" anchor="t"/>
          <a:lstStyle/>
          <a:p>
            <a:pPr indent="0" marL="0">
              <a:buNone/>
            </a:pPr>
            <a:r>
              <a:rPr lang="en-US" sz="1350" dirty="0">
                <a:solidFill>
                  <a:srgbClr val="6B6480"/>
                </a:solidFill>
                <a:latin typeface="Calibri" pitchFamily="34" charset="0"/>
                <a:ea typeface="Calibri" pitchFamily="34" charset="-122"/>
                <a:cs typeface="Calibri" pitchFamily="34" charset="-120"/>
              </a:rPr>
              <a:t>Bayes' rule · discrete vs continuous · which fits what</a:t>
            </a:r>
            <a:endParaRPr lang="en-US" sz="1350" dirty="0"/>
          </a:p>
        </p:txBody>
      </p:sp>
      <p:sp>
        <p:nvSpPr>
          <p:cNvPr id="16" name="Shape 14"/>
          <p:cNvSpPr/>
          <p:nvPr/>
        </p:nvSpPr>
        <p:spPr>
          <a:xfrm>
            <a:off x="640080" y="3931920"/>
            <a:ext cx="5349240" cy="1874520"/>
          </a:xfrm>
          <a:prstGeom prst="roundRect">
            <a:avLst>
              <a:gd name="adj" fmla="val 6829"/>
            </a:avLst>
          </a:prstGeom>
          <a:solidFill>
            <a:srgbClr val="F0ECF7"/>
          </a:solidFill>
          <a:ln w="25400">
            <a:solidFill>
              <a:srgbClr val="E76F51"/>
            </a:solidFill>
            <a:prstDash val="solid"/>
          </a:ln>
        </p:spPr>
      </p:sp>
      <p:sp>
        <p:nvSpPr>
          <p:cNvPr id="17" name="Shape 15"/>
          <p:cNvSpPr/>
          <p:nvPr/>
        </p:nvSpPr>
        <p:spPr>
          <a:xfrm>
            <a:off x="914400" y="4251960"/>
            <a:ext cx="914400" cy="914400"/>
          </a:xfrm>
          <a:prstGeom prst="ellipse">
            <a:avLst/>
          </a:prstGeom>
          <a:solidFill>
            <a:srgbClr val="E76F51"/>
          </a:solidFill>
          <a:ln/>
        </p:spPr>
      </p:sp>
      <p:sp>
        <p:nvSpPr>
          <p:cNvPr id="18" name="Text 16"/>
          <p:cNvSpPr txBox="1"/>
          <p:nvPr/>
        </p:nvSpPr>
        <p:spPr>
          <a:xfrm>
            <a:off x="914400" y="4251960"/>
            <a:ext cx="914400" cy="91440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19" name="Text 17"/>
          <p:cNvSpPr txBox="1"/>
          <p:nvPr/>
        </p:nvSpPr>
        <p:spPr>
          <a:xfrm>
            <a:off x="2011680" y="4251960"/>
            <a:ext cx="3840480" cy="548640"/>
          </a:xfrm>
          <a:prstGeom prst="rect">
            <a:avLst/>
          </a:prstGeom>
          <a:noFill/>
          <a:ln/>
        </p:spPr>
        <p:txBody>
          <a:bodyPr wrap="square" rtlCol="0" anchor="ctr"/>
          <a:lstStyle/>
          <a:p>
            <a:pPr indent="0" marL="0">
              <a:buNone/>
            </a:pPr>
            <a:r>
              <a:rPr lang="en-US" sz="1800" b="1" dirty="0">
                <a:solidFill>
                  <a:srgbClr val="231942"/>
                </a:solidFill>
                <a:latin typeface="Calibri" pitchFamily="34" charset="0"/>
                <a:ea typeface="Calibri" pitchFamily="34" charset="-122"/>
                <a:cs typeface="Calibri" pitchFamily="34" charset="-120"/>
              </a:rPr>
              <a:t>Descriptive vs inferential</a:t>
            </a:r>
            <a:endParaRPr lang="en-US" sz="1800" dirty="0"/>
          </a:p>
        </p:txBody>
      </p:sp>
      <p:sp>
        <p:nvSpPr>
          <p:cNvPr id="20" name="Text 18"/>
          <p:cNvSpPr txBox="1"/>
          <p:nvPr/>
        </p:nvSpPr>
        <p:spPr>
          <a:xfrm>
            <a:off x="2011680" y="4800600"/>
            <a:ext cx="3886200" cy="914400"/>
          </a:xfrm>
          <a:prstGeom prst="rect">
            <a:avLst/>
          </a:prstGeom>
          <a:noFill/>
          <a:ln/>
        </p:spPr>
        <p:txBody>
          <a:bodyPr wrap="square" rtlCol="0" anchor="t"/>
          <a:lstStyle/>
          <a:p>
            <a:pPr indent="0" marL="0">
              <a:buNone/>
            </a:pPr>
            <a:r>
              <a:rPr lang="en-US" sz="1350" dirty="0">
                <a:solidFill>
                  <a:srgbClr val="6B6480"/>
                </a:solidFill>
                <a:latin typeface="Calibri" pitchFamily="34" charset="0"/>
                <a:ea typeface="Calibri" pitchFamily="34" charset="-122"/>
                <a:cs typeface="Calibri" pitchFamily="34" charset="-120"/>
              </a:rPr>
              <a:t>mean/variance · p-value · confidence intervals</a:t>
            </a:r>
            <a:endParaRPr lang="en-US" sz="1350" dirty="0"/>
          </a:p>
        </p:txBody>
      </p:sp>
      <p:sp>
        <p:nvSpPr>
          <p:cNvPr id="21" name="Shape 19"/>
          <p:cNvSpPr/>
          <p:nvPr/>
        </p:nvSpPr>
        <p:spPr>
          <a:xfrm>
            <a:off x="6172200" y="3931920"/>
            <a:ext cx="5349240" cy="1874520"/>
          </a:xfrm>
          <a:prstGeom prst="roundRect">
            <a:avLst>
              <a:gd name="adj" fmla="val 6829"/>
            </a:avLst>
          </a:prstGeom>
          <a:solidFill>
            <a:srgbClr val="F0ECF7"/>
          </a:solidFill>
          <a:ln w="25400">
            <a:solidFill>
              <a:srgbClr val="F4A259"/>
            </a:solidFill>
            <a:prstDash val="solid"/>
          </a:ln>
        </p:spPr>
      </p:sp>
      <p:sp>
        <p:nvSpPr>
          <p:cNvPr id="22" name="Shape 20"/>
          <p:cNvSpPr/>
          <p:nvPr/>
        </p:nvSpPr>
        <p:spPr>
          <a:xfrm>
            <a:off x="6446520" y="4251960"/>
            <a:ext cx="914400" cy="914400"/>
          </a:xfrm>
          <a:prstGeom prst="ellipse">
            <a:avLst/>
          </a:prstGeom>
          <a:solidFill>
            <a:srgbClr val="F4A259"/>
          </a:solidFill>
          <a:ln/>
        </p:spPr>
      </p:sp>
      <p:sp>
        <p:nvSpPr>
          <p:cNvPr id="23" name="Text 21"/>
          <p:cNvSpPr txBox="1"/>
          <p:nvPr/>
        </p:nvSpPr>
        <p:spPr>
          <a:xfrm>
            <a:off x="6446520" y="4251960"/>
            <a:ext cx="914400" cy="914400"/>
          </a:xfrm>
          <a:prstGeom prst="rect">
            <a:avLst/>
          </a:prstGeom>
          <a:noFill/>
          <a:ln/>
        </p:spPr>
        <p:txBody>
          <a:bodyPr wrap="square" lIns="0" tIns="0" rIns="0" bIns="0" rtlCol="0" anchor="ctr"/>
          <a:lstStyle/>
          <a:p>
            <a:pPr algn="ctr" indent="0" marL="0">
              <a:buNone/>
            </a:pPr>
            <a:r>
              <a:rPr lang="en-US" sz="3400" dirty="0">
                <a:solidFill>
                  <a:srgbClr val="000000"/>
                </a:solidFill>
              </a:rPr>
              <a:t>⚠️</a:t>
            </a:r>
            <a:endParaRPr lang="en-US" sz="3400" dirty="0"/>
          </a:p>
        </p:txBody>
      </p:sp>
      <p:sp>
        <p:nvSpPr>
          <p:cNvPr id="24" name="Text 22"/>
          <p:cNvSpPr txBox="1"/>
          <p:nvPr/>
        </p:nvSpPr>
        <p:spPr>
          <a:xfrm>
            <a:off x="7543800" y="4251960"/>
            <a:ext cx="3840480" cy="548640"/>
          </a:xfrm>
          <a:prstGeom prst="rect">
            <a:avLst/>
          </a:prstGeom>
          <a:noFill/>
          <a:ln/>
        </p:spPr>
        <p:txBody>
          <a:bodyPr wrap="square" rtlCol="0" anchor="ctr"/>
          <a:lstStyle/>
          <a:p>
            <a:pPr indent="0" marL="0">
              <a:buNone/>
            </a:pPr>
            <a:r>
              <a:rPr lang="en-US" sz="1800" b="1" dirty="0">
                <a:solidFill>
                  <a:srgbClr val="231942"/>
                </a:solidFill>
                <a:latin typeface="Calibri" pitchFamily="34" charset="0"/>
                <a:ea typeface="Calibri" pitchFamily="34" charset="-122"/>
                <a:cs typeface="Calibri" pitchFamily="34" charset="-120"/>
              </a:rPr>
              <a:t>ML traps</a:t>
            </a:r>
            <a:endParaRPr lang="en-US" sz="1800" dirty="0"/>
          </a:p>
        </p:txBody>
      </p:sp>
      <p:sp>
        <p:nvSpPr>
          <p:cNvPr id="25" name="Text 23"/>
          <p:cNvSpPr txBox="1"/>
          <p:nvPr/>
        </p:nvSpPr>
        <p:spPr>
          <a:xfrm>
            <a:off x="7543800" y="4800600"/>
            <a:ext cx="3886200" cy="914400"/>
          </a:xfrm>
          <a:prstGeom prst="rect">
            <a:avLst/>
          </a:prstGeom>
          <a:noFill/>
          <a:ln/>
        </p:spPr>
        <p:txBody>
          <a:bodyPr wrap="square" rtlCol="0" anchor="t"/>
          <a:lstStyle/>
          <a:p>
            <a:pPr indent="0" marL="0">
              <a:buNone/>
            </a:pPr>
            <a:r>
              <a:rPr lang="en-US" sz="1350" dirty="0">
                <a:solidFill>
                  <a:srgbClr val="6B6480"/>
                </a:solidFill>
                <a:latin typeface="Calibri" pitchFamily="34" charset="0"/>
                <a:ea typeface="Calibri" pitchFamily="34" charset="-122"/>
                <a:cs typeface="Calibri" pitchFamily="34" charset="-120"/>
              </a:rPr>
              <a:t>correlation≠causation · sampling bias · CLT / LLN</a:t>
            </a:r>
            <a:endParaRPr lang="en-US" sz="1350" dirty="0"/>
          </a:p>
        </p:txBody>
      </p:sp>
      <p:sp>
        <p:nvSpPr>
          <p:cNvPr id="26" name="Text 24"/>
          <p:cNvSpPr txBox="1"/>
          <p:nvPr/>
        </p:nvSpPr>
        <p:spPr>
          <a:xfrm>
            <a:off x="11521440" y="6446520"/>
            <a:ext cx="548640" cy="320040"/>
          </a:xfrm>
          <a:prstGeom prst="rect">
            <a:avLst/>
          </a:prstGeom>
          <a:noFill/>
          <a:ln/>
        </p:spPr>
        <p:txBody>
          <a:bodyPr wrap="square" rtlCol="0" anchor="ctr"/>
          <a:lstStyle/>
          <a:p>
            <a:pPr algn="r" indent="0" marL="0">
              <a:buNone/>
            </a:pPr>
            <a:r>
              <a:rPr lang="en-US" sz="1100" dirty="0">
                <a:solidFill>
                  <a:srgbClr val="6B6480"/>
                </a:solidFill>
                <a:latin typeface="Calibri" pitchFamily="34" charset="0"/>
                <a:ea typeface="Calibri" pitchFamily="34" charset="-122"/>
                <a:cs typeface="Calibri" pitchFamily="34" charset="-120"/>
              </a:rPr>
              <a:t>4</a:t>
            </a:r>
            <a:endParaRPr lang="en-US" sz="1100" dirty="0"/>
          </a:p>
        </p:txBody>
      </p:sp>
      <p:sp>
        <p:nvSpPr>
          <p:cNvPr id="27" name="Text 25"/>
          <p:cNvSpPr txBox="1"/>
          <p:nvPr/>
        </p:nvSpPr>
        <p:spPr>
          <a:xfrm>
            <a:off x="457200" y="6446520"/>
            <a:ext cx="5486400" cy="320040"/>
          </a:xfrm>
          <a:prstGeom prst="rect">
            <a:avLst/>
          </a:prstGeom>
          <a:noFill/>
          <a:ln/>
        </p:spPr>
        <p:txBody>
          <a:bodyPr wrap="square" rtlCol="0" anchor="ctr"/>
          <a:lstStyle/>
          <a:p>
            <a:pPr indent="0" marL="0">
              <a:buNone/>
            </a:pPr>
            <a:r>
              <a:rPr lang="en-US" sz="1100" dirty="0">
                <a:solidFill>
                  <a:srgbClr val="6B6480"/>
                </a:solidFill>
                <a:latin typeface="Calibri" pitchFamily="34" charset="0"/>
                <a:ea typeface="Calibri" pitchFamily="34" charset="-122"/>
                <a:cs typeface="Calibri" pitchFamily="34" charset="-120"/>
              </a:rPr>
              <a:t>Topic 8 · Probability &amp; Statistics in ML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2A9D8F"/>
          </a:solidFill>
          <a:ln/>
        </p:spPr>
      </p:sp>
      <p:sp>
        <p:nvSpPr>
          <p:cNvPr id="3" name="Text 1"/>
          <p:cNvSpPr txBox="1"/>
          <p:nvPr/>
        </p:nvSpPr>
        <p:spPr>
          <a:xfrm>
            <a:off x="548640" y="44805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4" name="Text 2"/>
          <p:cNvSpPr txBox="1"/>
          <p:nvPr/>
        </p:nvSpPr>
        <p:spPr>
          <a:xfrm>
            <a:off x="1325880" y="411480"/>
            <a:ext cx="10058400" cy="731520"/>
          </a:xfrm>
          <a:prstGeom prst="rect">
            <a:avLst/>
          </a:prstGeom>
          <a:noFill/>
          <a:ln/>
        </p:spPr>
        <p:txBody>
          <a:bodyPr wrap="square" rtlCol="0" anchor="ctr"/>
          <a:lstStyle/>
          <a:p>
            <a:pPr indent="0" marL="0">
              <a:buNone/>
            </a:pPr>
            <a:r>
              <a:rPr lang="en-US" sz="3200" b="1" dirty="0">
                <a:solidFill>
                  <a:srgbClr val="231942"/>
                </a:solidFill>
                <a:latin typeface="Cambria" pitchFamily="34" charset="0"/>
                <a:ea typeface="Cambria" pitchFamily="34" charset="-122"/>
                <a:cs typeface="Cambria" pitchFamily="34" charset="-120"/>
              </a:rPr>
              <a:t>Quick drill: name that distribution</a:t>
            </a:r>
            <a:endParaRPr lang="en-US" sz="3200" dirty="0"/>
          </a:p>
        </p:txBody>
      </p:sp>
      <p:sp>
        <p:nvSpPr>
          <p:cNvPr id="5" name="Text 3"/>
          <p:cNvSpPr txBox="1"/>
          <p:nvPr/>
        </p:nvSpPr>
        <p:spPr>
          <a:xfrm>
            <a:off x="566928" y="1234440"/>
            <a:ext cx="10972800" cy="365760"/>
          </a:xfrm>
          <a:prstGeom prst="rect">
            <a:avLst/>
          </a:prstGeom>
          <a:noFill/>
          <a:ln/>
        </p:spPr>
        <p:txBody>
          <a:bodyPr wrap="square" rtlCol="0" anchor="ctr"/>
          <a:lstStyle/>
          <a:p>
            <a:pPr indent="0" marL="0">
              <a:buNone/>
            </a:pPr>
            <a:r>
              <a:rPr lang="en-US" sz="1500" i="1" dirty="0">
                <a:solidFill>
                  <a:srgbClr val="6B6480"/>
                </a:solidFill>
                <a:latin typeface="Calibri" pitchFamily="34" charset="0"/>
                <a:ea typeface="Calibri" pitchFamily="34" charset="-122"/>
                <a:cs typeface="Calibri" pitchFamily="34" charset="-120"/>
              </a:rPr>
              <a:t>Match each real scenario to its distribution. (Live in the self-check widget.)</a:t>
            </a:r>
            <a:endParaRPr lang="en-US" sz="1500" dirty="0"/>
          </a:p>
        </p:txBody>
      </p:sp>
      <p:sp>
        <p:nvSpPr>
          <p:cNvPr id="6" name="Shape 4"/>
          <p:cNvSpPr/>
          <p:nvPr/>
        </p:nvSpPr>
        <p:spPr>
          <a:xfrm>
            <a:off x="640080" y="1828800"/>
            <a:ext cx="6766560" cy="548640"/>
          </a:xfrm>
          <a:prstGeom prst="roundRect">
            <a:avLst>
              <a:gd name="adj" fmla="val 16667"/>
            </a:avLst>
          </a:prstGeom>
          <a:solidFill>
            <a:srgbClr val="F0ECF7"/>
          </a:solidFill>
          <a:ln/>
        </p:spPr>
      </p:sp>
      <p:sp>
        <p:nvSpPr>
          <p:cNvPr id="7" name="Text 5"/>
          <p:cNvSpPr txBox="1"/>
          <p:nvPr/>
        </p:nvSpPr>
        <p:spPr>
          <a:xfrm>
            <a:off x="868680" y="1828800"/>
            <a:ext cx="6400800" cy="548640"/>
          </a:xfrm>
          <a:prstGeom prst="rect">
            <a:avLst/>
          </a:prstGeom>
          <a:noFill/>
          <a:ln/>
        </p:spPr>
        <p:txBody>
          <a:bodyPr wrap="square" lIns="0" tIns="0" rIns="0" bIns="0" rtlCol="0" anchor="ctr"/>
          <a:lstStyle/>
          <a:p>
            <a:pPr indent="0" marL="0">
              <a:buNone/>
            </a:pPr>
            <a:r>
              <a:rPr lang="en-US" sz="1450" dirty="0">
                <a:solidFill>
                  <a:srgbClr val="231942"/>
                </a:solidFill>
                <a:latin typeface="Calibri" pitchFamily="34" charset="0"/>
                <a:ea typeface="Calibri" pitchFamily="34" charset="-122"/>
                <a:cs typeface="Calibri" pitchFamily="34" charset="-120"/>
              </a:rPr>
              <a:t>One coin flip: heads or tails</a:t>
            </a:r>
            <a:endParaRPr lang="en-US" sz="1450" dirty="0"/>
          </a:p>
        </p:txBody>
      </p:sp>
      <p:sp>
        <p:nvSpPr>
          <p:cNvPr id="8" name="Shape 6"/>
          <p:cNvSpPr/>
          <p:nvPr/>
        </p:nvSpPr>
        <p:spPr>
          <a:xfrm>
            <a:off x="7680960" y="1828800"/>
            <a:ext cx="3931920" cy="548640"/>
          </a:xfrm>
          <a:prstGeom prst="roundRect">
            <a:avLst>
              <a:gd name="adj" fmla="val 16667"/>
            </a:avLst>
          </a:prstGeom>
          <a:solidFill>
            <a:srgbClr val="7B2CBF"/>
          </a:solidFill>
          <a:ln/>
        </p:spPr>
      </p:sp>
      <p:sp>
        <p:nvSpPr>
          <p:cNvPr id="9" name="Text 7"/>
          <p:cNvSpPr txBox="1"/>
          <p:nvPr/>
        </p:nvSpPr>
        <p:spPr>
          <a:xfrm>
            <a:off x="7680960" y="1828800"/>
            <a:ext cx="39319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Bernoulli</a:t>
            </a:r>
            <a:endParaRPr lang="en-US" sz="1500" dirty="0"/>
          </a:p>
        </p:txBody>
      </p:sp>
      <p:sp>
        <p:nvSpPr>
          <p:cNvPr id="10" name="Shape 8"/>
          <p:cNvSpPr/>
          <p:nvPr/>
        </p:nvSpPr>
        <p:spPr>
          <a:xfrm>
            <a:off x="640080" y="2514600"/>
            <a:ext cx="6766560" cy="548640"/>
          </a:xfrm>
          <a:prstGeom prst="roundRect">
            <a:avLst>
              <a:gd name="adj" fmla="val 16667"/>
            </a:avLst>
          </a:prstGeom>
          <a:solidFill>
            <a:srgbClr val="F0ECF7"/>
          </a:solidFill>
          <a:ln/>
        </p:spPr>
      </p:sp>
      <p:sp>
        <p:nvSpPr>
          <p:cNvPr id="11" name="Text 9"/>
          <p:cNvSpPr txBox="1"/>
          <p:nvPr/>
        </p:nvSpPr>
        <p:spPr>
          <a:xfrm>
            <a:off x="868680" y="2514600"/>
            <a:ext cx="6400800" cy="548640"/>
          </a:xfrm>
          <a:prstGeom prst="rect">
            <a:avLst/>
          </a:prstGeom>
          <a:noFill/>
          <a:ln/>
        </p:spPr>
        <p:txBody>
          <a:bodyPr wrap="square" lIns="0" tIns="0" rIns="0" bIns="0" rtlCol="0" anchor="ctr"/>
          <a:lstStyle/>
          <a:p>
            <a:pPr indent="0" marL="0">
              <a:buNone/>
            </a:pPr>
            <a:r>
              <a:rPr lang="en-US" sz="1450" dirty="0">
                <a:solidFill>
                  <a:srgbClr val="231942"/>
                </a:solidFill>
                <a:latin typeface="Calibri" pitchFamily="34" charset="0"/>
                <a:ea typeface="Calibri" pitchFamily="34" charset="-122"/>
                <a:cs typeface="Calibri" pitchFamily="34" charset="-120"/>
              </a:rPr>
              <a:t># heads in 10 flips</a:t>
            </a:r>
            <a:endParaRPr lang="en-US" sz="1450" dirty="0"/>
          </a:p>
        </p:txBody>
      </p:sp>
      <p:sp>
        <p:nvSpPr>
          <p:cNvPr id="12" name="Shape 10"/>
          <p:cNvSpPr/>
          <p:nvPr/>
        </p:nvSpPr>
        <p:spPr>
          <a:xfrm>
            <a:off x="7680960" y="2514600"/>
            <a:ext cx="3931920" cy="548640"/>
          </a:xfrm>
          <a:prstGeom prst="roundRect">
            <a:avLst>
              <a:gd name="adj" fmla="val 16667"/>
            </a:avLst>
          </a:prstGeom>
          <a:solidFill>
            <a:srgbClr val="2A9D8F"/>
          </a:solidFill>
          <a:ln/>
        </p:spPr>
      </p:sp>
      <p:sp>
        <p:nvSpPr>
          <p:cNvPr id="13" name="Text 11"/>
          <p:cNvSpPr txBox="1"/>
          <p:nvPr/>
        </p:nvSpPr>
        <p:spPr>
          <a:xfrm>
            <a:off x="7680960" y="2514600"/>
            <a:ext cx="39319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Binomial</a:t>
            </a:r>
            <a:endParaRPr lang="en-US" sz="1500" dirty="0"/>
          </a:p>
        </p:txBody>
      </p:sp>
      <p:sp>
        <p:nvSpPr>
          <p:cNvPr id="14" name="Shape 12"/>
          <p:cNvSpPr/>
          <p:nvPr/>
        </p:nvSpPr>
        <p:spPr>
          <a:xfrm>
            <a:off x="640080" y="3200400"/>
            <a:ext cx="6766560" cy="548640"/>
          </a:xfrm>
          <a:prstGeom prst="roundRect">
            <a:avLst>
              <a:gd name="adj" fmla="val 16667"/>
            </a:avLst>
          </a:prstGeom>
          <a:solidFill>
            <a:srgbClr val="F0ECF7"/>
          </a:solidFill>
          <a:ln/>
        </p:spPr>
      </p:sp>
      <p:sp>
        <p:nvSpPr>
          <p:cNvPr id="15" name="Text 13"/>
          <p:cNvSpPr txBox="1"/>
          <p:nvPr/>
        </p:nvSpPr>
        <p:spPr>
          <a:xfrm>
            <a:off x="868680" y="3200400"/>
            <a:ext cx="6400800" cy="548640"/>
          </a:xfrm>
          <a:prstGeom prst="rect">
            <a:avLst/>
          </a:prstGeom>
          <a:noFill/>
          <a:ln/>
        </p:spPr>
        <p:txBody>
          <a:bodyPr wrap="square" lIns="0" tIns="0" rIns="0" bIns="0" rtlCol="0" anchor="ctr"/>
          <a:lstStyle/>
          <a:p>
            <a:pPr indent="0" marL="0">
              <a:buNone/>
            </a:pPr>
            <a:r>
              <a:rPr lang="en-US" sz="1450" dirty="0">
                <a:solidFill>
                  <a:srgbClr val="231942"/>
                </a:solidFill>
                <a:latin typeface="Calibri" pitchFamily="34" charset="0"/>
                <a:ea typeface="Calibri" pitchFamily="34" charset="-122"/>
                <a:cs typeface="Calibri" pitchFamily="34" charset="-120"/>
              </a:rPr>
              <a:t># emails arriving per hour</a:t>
            </a:r>
            <a:endParaRPr lang="en-US" sz="1450" dirty="0"/>
          </a:p>
        </p:txBody>
      </p:sp>
      <p:sp>
        <p:nvSpPr>
          <p:cNvPr id="16" name="Shape 14"/>
          <p:cNvSpPr/>
          <p:nvPr/>
        </p:nvSpPr>
        <p:spPr>
          <a:xfrm>
            <a:off x="7680960" y="3200400"/>
            <a:ext cx="3931920" cy="548640"/>
          </a:xfrm>
          <a:prstGeom prst="roundRect">
            <a:avLst>
              <a:gd name="adj" fmla="val 16667"/>
            </a:avLst>
          </a:prstGeom>
          <a:solidFill>
            <a:srgbClr val="E76F51"/>
          </a:solidFill>
          <a:ln/>
        </p:spPr>
      </p:sp>
      <p:sp>
        <p:nvSpPr>
          <p:cNvPr id="17" name="Text 15"/>
          <p:cNvSpPr txBox="1"/>
          <p:nvPr/>
        </p:nvSpPr>
        <p:spPr>
          <a:xfrm>
            <a:off x="7680960" y="3200400"/>
            <a:ext cx="39319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Poisson</a:t>
            </a:r>
            <a:endParaRPr lang="en-US" sz="1500" dirty="0"/>
          </a:p>
        </p:txBody>
      </p:sp>
      <p:sp>
        <p:nvSpPr>
          <p:cNvPr id="18" name="Shape 16"/>
          <p:cNvSpPr/>
          <p:nvPr/>
        </p:nvSpPr>
        <p:spPr>
          <a:xfrm>
            <a:off x="640080" y="3886200"/>
            <a:ext cx="6766560" cy="548640"/>
          </a:xfrm>
          <a:prstGeom prst="roundRect">
            <a:avLst>
              <a:gd name="adj" fmla="val 16667"/>
            </a:avLst>
          </a:prstGeom>
          <a:solidFill>
            <a:srgbClr val="F0ECF7"/>
          </a:solidFill>
          <a:ln/>
        </p:spPr>
      </p:sp>
      <p:sp>
        <p:nvSpPr>
          <p:cNvPr id="19" name="Text 17"/>
          <p:cNvSpPr txBox="1"/>
          <p:nvPr/>
        </p:nvSpPr>
        <p:spPr>
          <a:xfrm>
            <a:off x="868680" y="3886200"/>
            <a:ext cx="6400800" cy="548640"/>
          </a:xfrm>
          <a:prstGeom prst="rect">
            <a:avLst/>
          </a:prstGeom>
          <a:noFill/>
          <a:ln/>
        </p:spPr>
        <p:txBody>
          <a:bodyPr wrap="square" lIns="0" tIns="0" rIns="0" bIns="0" rtlCol="0" anchor="ctr"/>
          <a:lstStyle/>
          <a:p>
            <a:pPr indent="0" marL="0">
              <a:buNone/>
            </a:pPr>
            <a:r>
              <a:rPr lang="en-US" sz="1450" dirty="0">
                <a:solidFill>
                  <a:srgbClr val="231942"/>
                </a:solidFill>
                <a:latin typeface="Calibri" pitchFamily="34" charset="0"/>
                <a:ea typeface="Calibri" pitchFamily="34" charset="-122"/>
                <a:cs typeface="Calibri" pitchFamily="34" charset="-120"/>
              </a:rPr>
              <a:t>Adult heights</a:t>
            </a:r>
            <a:endParaRPr lang="en-US" sz="1450" dirty="0"/>
          </a:p>
        </p:txBody>
      </p:sp>
      <p:sp>
        <p:nvSpPr>
          <p:cNvPr id="20" name="Shape 18"/>
          <p:cNvSpPr/>
          <p:nvPr/>
        </p:nvSpPr>
        <p:spPr>
          <a:xfrm>
            <a:off x="7680960" y="3886200"/>
            <a:ext cx="3931920" cy="548640"/>
          </a:xfrm>
          <a:prstGeom prst="roundRect">
            <a:avLst>
              <a:gd name="adj" fmla="val 16667"/>
            </a:avLst>
          </a:prstGeom>
          <a:solidFill>
            <a:srgbClr val="F4A259"/>
          </a:solidFill>
          <a:ln/>
        </p:spPr>
      </p:sp>
      <p:sp>
        <p:nvSpPr>
          <p:cNvPr id="21" name="Text 19"/>
          <p:cNvSpPr txBox="1"/>
          <p:nvPr/>
        </p:nvSpPr>
        <p:spPr>
          <a:xfrm>
            <a:off x="7680960" y="3886200"/>
            <a:ext cx="39319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Gaussian (Normal)</a:t>
            </a:r>
            <a:endParaRPr lang="en-US" sz="1500" dirty="0"/>
          </a:p>
        </p:txBody>
      </p:sp>
      <p:sp>
        <p:nvSpPr>
          <p:cNvPr id="22" name="Shape 20"/>
          <p:cNvSpPr/>
          <p:nvPr/>
        </p:nvSpPr>
        <p:spPr>
          <a:xfrm>
            <a:off x="640080" y="4572000"/>
            <a:ext cx="6766560" cy="548640"/>
          </a:xfrm>
          <a:prstGeom prst="roundRect">
            <a:avLst>
              <a:gd name="adj" fmla="val 16667"/>
            </a:avLst>
          </a:prstGeom>
          <a:solidFill>
            <a:srgbClr val="F0ECF7"/>
          </a:solidFill>
          <a:ln/>
        </p:spPr>
      </p:sp>
      <p:sp>
        <p:nvSpPr>
          <p:cNvPr id="23" name="Text 21"/>
          <p:cNvSpPr txBox="1"/>
          <p:nvPr/>
        </p:nvSpPr>
        <p:spPr>
          <a:xfrm>
            <a:off x="868680" y="4572000"/>
            <a:ext cx="6400800" cy="548640"/>
          </a:xfrm>
          <a:prstGeom prst="rect">
            <a:avLst/>
          </a:prstGeom>
          <a:noFill/>
          <a:ln/>
        </p:spPr>
        <p:txBody>
          <a:bodyPr wrap="square" lIns="0" tIns="0" rIns="0" bIns="0" rtlCol="0" anchor="ctr"/>
          <a:lstStyle/>
          <a:p>
            <a:pPr indent="0" marL="0">
              <a:buNone/>
            </a:pPr>
            <a:r>
              <a:rPr lang="en-US" sz="1450" dirty="0">
                <a:solidFill>
                  <a:srgbClr val="231942"/>
                </a:solidFill>
                <a:latin typeface="Calibri" pitchFamily="34" charset="0"/>
                <a:ea typeface="Calibri" pitchFamily="34" charset="-122"/>
                <a:cs typeface="Calibri" pitchFamily="34" charset="-120"/>
              </a:rPr>
              <a:t>Any value equally likely in a range</a:t>
            </a:r>
            <a:endParaRPr lang="en-US" sz="1450" dirty="0"/>
          </a:p>
        </p:txBody>
      </p:sp>
      <p:sp>
        <p:nvSpPr>
          <p:cNvPr id="24" name="Shape 22"/>
          <p:cNvSpPr/>
          <p:nvPr/>
        </p:nvSpPr>
        <p:spPr>
          <a:xfrm>
            <a:off x="7680960" y="4572000"/>
            <a:ext cx="3931920" cy="548640"/>
          </a:xfrm>
          <a:prstGeom prst="roundRect">
            <a:avLst>
              <a:gd name="adj" fmla="val 16667"/>
            </a:avLst>
          </a:prstGeom>
          <a:solidFill>
            <a:srgbClr val="5A189A"/>
          </a:solidFill>
          <a:ln/>
        </p:spPr>
      </p:sp>
      <p:sp>
        <p:nvSpPr>
          <p:cNvPr id="25" name="Text 23"/>
          <p:cNvSpPr txBox="1"/>
          <p:nvPr/>
        </p:nvSpPr>
        <p:spPr>
          <a:xfrm>
            <a:off x="7680960" y="4572000"/>
            <a:ext cx="39319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Uniform</a:t>
            </a:r>
            <a:endParaRPr lang="en-US" sz="1500" dirty="0"/>
          </a:p>
        </p:txBody>
      </p:sp>
      <p:sp>
        <p:nvSpPr>
          <p:cNvPr id="26" name="Shape 24"/>
          <p:cNvSpPr/>
          <p:nvPr/>
        </p:nvSpPr>
        <p:spPr>
          <a:xfrm>
            <a:off x="640080" y="5257800"/>
            <a:ext cx="6766560" cy="548640"/>
          </a:xfrm>
          <a:prstGeom prst="roundRect">
            <a:avLst>
              <a:gd name="adj" fmla="val 16667"/>
            </a:avLst>
          </a:prstGeom>
          <a:solidFill>
            <a:srgbClr val="F0ECF7"/>
          </a:solidFill>
          <a:ln/>
        </p:spPr>
      </p:sp>
      <p:sp>
        <p:nvSpPr>
          <p:cNvPr id="27" name="Text 25"/>
          <p:cNvSpPr txBox="1"/>
          <p:nvPr/>
        </p:nvSpPr>
        <p:spPr>
          <a:xfrm>
            <a:off x="868680" y="5257800"/>
            <a:ext cx="6400800" cy="548640"/>
          </a:xfrm>
          <a:prstGeom prst="rect">
            <a:avLst/>
          </a:prstGeom>
          <a:noFill/>
          <a:ln/>
        </p:spPr>
        <p:txBody>
          <a:bodyPr wrap="square" lIns="0" tIns="0" rIns="0" bIns="0" rtlCol="0" anchor="ctr"/>
          <a:lstStyle/>
          <a:p>
            <a:pPr indent="0" marL="0">
              <a:buNone/>
            </a:pPr>
            <a:r>
              <a:rPr lang="en-US" sz="1450" dirty="0">
                <a:solidFill>
                  <a:srgbClr val="231942"/>
                </a:solidFill>
                <a:latin typeface="Calibri" pitchFamily="34" charset="0"/>
                <a:ea typeface="Calibri" pitchFamily="34" charset="-122"/>
                <a:cs typeface="Calibri" pitchFamily="34" charset="-120"/>
              </a:rPr>
              <a:t>Time until the next bus</a:t>
            </a:r>
            <a:endParaRPr lang="en-US" sz="1450" dirty="0"/>
          </a:p>
        </p:txBody>
      </p:sp>
      <p:sp>
        <p:nvSpPr>
          <p:cNvPr id="28" name="Shape 26"/>
          <p:cNvSpPr/>
          <p:nvPr/>
        </p:nvSpPr>
        <p:spPr>
          <a:xfrm>
            <a:off x="7680960" y="5257800"/>
            <a:ext cx="3931920" cy="548640"/>
          </a:xfrm>
          <a:prstGeom prst="roundRect">
            <a:avLst>
              <a:gd name="adj" fmla="val 16667"/>
            </a:avLst>
          </a:prstGeom>
          <a:solidFill>
            <a:srgbClr val="E9C46A"/>
          </a:solidFill>
          <a:ln/>
        </p:spPr>
      </p:sp>
      <p:sp>
        <p:nvSpPr>
          <p:cNvPr id="29" name="Text 27"/>
          <p:cNvSpPr txBox="1"/>
          <p:nvPr/>
        </p:nvSpPr>
        <p:spPr>
          <a:xfrm>
            <a:off x="7680960" y="5257800"/>
            <a:ext cx="39319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Exponential</a:t>
            </a:r>
            <a:endParaRPr lang="en-US" sz="1500" dirty="0"/>
          </a:p>
        </p:txBody>
      </p:sp>
      <p:sp>
        <p:nvSpPr>
          <p:cNvPr id="30" name="Text 28"/>
          <p:cNvSpPr txBox="1"/>
          <p:nvPr/>
        </p:nvSpPr>
        <p:spPr>
          <a:xfrm>
            <a:off x="11521440" y="6446520"/>
            <a:ext cx="548640" cy="320040"/>
          </a:xfrm>
          <a:prstGeom prst="rect">
            <a:avLst/>
          </a:prstGeom>
          <a:noFill/>
          <a:ln/>
        </p:spPr>
        <p:txBody>
          <a:bodyPr wrap="square" rtlCol="0" anchor="ctr"/>
          <a:lstStyle/>
          <a:p>
            <a:pPr algn="r" indent="0" marL="0">
              <a:buNone/>
            </a:pPr>
            <a:r>
              <a:rPr lang="en-US" sz="1100" dirty="0">
                <a:solidFill>
                  <a:srgbClr val="6B6480"/>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457200" y="6446520"/>
            <a:ext cx="5486400" cy="320040"/>
          </a:xfrm>
          <a:prstGeom prst="rect">
            <a:avLst/>
          </a:prstGeom>
          <a:noFill/>
          <a:ln/>
        </p:spPr>
        <p:txBody>
          <a:bodyPr wrap="square" rtlCol="0" anchor="ctr"/>
          <a:lstStyle/>
          <a:p>
            <a:pPr indent="0" marL="0">
              <a:buNone/>
            </a:pPr>
            <a:r>
              <a:rPr lang="en-US" sz="1100" dirty="0">
                <a:solidFill>
                  <a:srgbClr val="6B6480"/>
                </a:solidFill>
                <a:latin typeface="Calibri" pitchFamily="34" charset="0"/>
                <a:ea typeface="Calibri" pitchFamily="34" charset="-122"/>
                <a:cs typeface="Calibri" pitchFamily="34" charset="-120"/>
              </a:rPr>
              <a:t>Topic 8 · Probability &amp; Statistics in ML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E76F51"/>
          </a:solidFill>
          <a:ln/>
        </p:spPr>
      </p:sp>
      <p:sp>
        <p:nvSpPr>
          <p:cNvPr id="3" name="Text 1"/>
          <p:cNvSpPr txBox="1"/>
          <p:nvPr/>
        </p:nvSpPr>
        <p:spPr>
          <a:xfrm>
            <a:off x="548640" y="44805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1325880" y="411480"/>
            <a:ext cx="10058400" cy="731520"/>
          </a:xfrm>
          <a:prstGeom prst="rect">
            <a:avLst/>
          </a:prstGeom>
          <a:noFill/>
          <a:ln/>
        </p:spPr>
        <p:txBody>
          <a:bodyPr wrap="square" rtlCol="0" anchor="ctr"/>
          <a:lstStyle/>
          <a:p>
            <a:pPr indent="0" marL="0">
              <a:buNone/>
            </a:pPr>
            <a:r>
              <a:rPr lang="en-US" sz="3200" b="1" dirty="0">
                <a:solidFill>
                  <a:srgbClr val="231942"/>
                </a:solidFill>
                <a:latin typeface="Cambria" pitchFamily="34" charset="0"/>
                <a:ea typeface="Cambria" pitchFamily="34" charset="-122"/>
                <a:cs typeface="Cambria" pitchFamily="34" charset="-120"/>
              </a:rPr>
              <a:t>Fix #1 — Bayes, without the fear</a:t>
            </a:r>
            <a:endParaRPr lang="en-US" sz="3200" dirty="0"/>
          </a:p>
        </p:txBody>
      </p:sp>
      <p:sp>
        <p:nvSpPr>
          <p:cNvPr id="5" name="Text 3"/>
          <p:cNvSpPr txBox="1"/>
          <p:nvPr/>
        </p:nvSpPr>
        <p:spPr>
          <a:xfrm>
            <a:off x="566928" y="1234440"/>
            <a:ext cx="10972800" cy="365760"/>
          </a:xfrm>
          <a:prstGeom prst="rect">
            <a:avLst/>
          </a:prstGeom>
          <a:noFill/>
          <a:ln/>
        </p:spPr>
        <p:txBody>
          <a:bodyPr wrap="square" rtlCol="0" anchor="ctr"/>
          <a:lstStyle/>
          <a:p>
            <a:pPr indent="0" marL="0">
              <a:buNone/>
            </a:pPr>
            <a:r>
              <a:rPr lang="en-US" sz="1500" i="1" dirty="0">
                <a:solidFill>
                  <a:srgbClr val="6B6480"/>
                </a:solidFill>
                <a:latin typeface="Calibri" pitchFamily="34" charset="0"/>
                <a:ea typeface="Calibri" pitchFamily="34" charset="-122"/>
                <a:cs typeface="Calibri" pitchFamily="34" charset="-120"/>
              </a:rPr>
              <a:t>Don't start with the formula. Start with 1,000 real people.</a:t>
            </a:r>
            <a:endParaRPr lang="en-US" sz="1500" dirty="0"/>
          </a:p>
        </p:txBody>
      </p:sp>
      <p:sp>
        <p:nvSpPr>
          <p:cNvPr id="6" name="Shape 4"/>
          <p:cNvSpPr/>
          <p:nvPr/>
        </p:nvSpPr>
        <p:spPr>
          <a:xfrm>
            <a:off x="640080" y="1737360"/>
            <a:ext cx="5486400" cy="4297680"/>
          </a:xfrm>
          <a:prstGeom prst="roundRect">
            <a:avLst>
              <a:gd name="adj" fmla="val 2979"/>
            </a:avLst>
          </a:prstGeom>
          <a:solidFill>
            <a:srgbClr val="F0ECF7"/>
          </a:solidFill>
          <a:ln/>
        </p:spPr>
      </p:sp>
      <p:sp>
        <p:nvSpPr>
          <p:cNvPr id="7" name="Text 5"/>
          <p:cNvSpPr txBox="1"/>
          <p:nvPr/>
        </p:nvSpPr>
        <p:spPr>
          <a:xfrm>
            <a:off x="914400" y="1965960"/>
            <a:ext cx="4937760" cy="457200"/>
          </a:xfrm>
          <a:prstGeom prst="rect">
            <a:avLst/>
          </a:prstGeom>
          <a:noFill/>
          <a:ln/>
        </p:spPr>
        <p:txBody>
          <a:bodyPr wrap="square" rtlCol="0" anchor="ctr"/>
          <a:lstStyle/>
          <a:p>
            <a:pPr indent="0" marL="0">
              <a:buNone/>
            </a:pPr>
            <a:r>
              <a:rPr lang="en-US" sz="1700" b="1" dirty="0">
                <a:solidFill>
                  <a:srgbClr val="5A189A"/>
                </a:solidFill>
                <a:latin typeface="Calibri" pitchFamily="34" charset="0"/>
                <a:ea typeface="Calibri" pitchFamily="34" charset="-122"/>
                <a:cs typeface="Calibri" pitchFamily="34" charset="-120"/>
              </a:rPr>
              <a:t>1,000 people · 1% sick</a:t>
            </a:r>
            <a:endParaRPr lang="en-US" sz="1700" dirty="0"/>
          </a:p>
        </p:txBody>
      </p:sp>
      <p:sp>
        <p:nvSpPr>
          <p:cNvPr id="8" name="Shape 6"/>
          <p:cNvSpPr/>
          <p:nvPr/>
        </p:nvSpPr>
        <p:spPr>
          <a:xfrm>
            <a:off x="914400" y="2514600"/>
            <a:ext cx="4937760" cy="868680"/>
          </a:xfrm>
          <a:prstGeom prst="roundRect">
            <a:avLst>
              <a:gd name="adj" fmla="val 10526"/>
            </a:avLst>
          </a:prstGeom>
          <a:solidFill>
            <a:srgbClr val="FFFFFF"/>
          </a:solidFill>
          <a:ln w="25400">
            <a:solidFill>
              <a:srgbClr val="E76F51"/>
            </a:solidFill>
            <a:prstDash val="solid"/>
          </a:ln>
        </p:spPr>
      </p:sp>
      <p:sp>
        <p:nvSpPr>
          <p:cNvPr id="9" name="Text 7"/>
          <p:cNvSpPr txBox="1"/>
          <p:nvPr/>
        </p:nvSpPr>
        <p:spPr>
          <a:xfrm>
            <a:off x="1097280" y="2587752"/>
            <a:ext cx="4572000" cy="411480"/>
          </a:xfrm>
          <a:prstGeom prst="rect">
            <a:avLst/>
          </a:prstGeom>
          <a:noFill/>
          <a:ln/>
        </p:spPr>
        <p:txBody>
          <a:bodyPr wrap="square" lIns="0" tIns="0" rIns="0" bIns="0" rtlCol="0" anchor="ctr"/>
          <a:lstStyle/>
          <a:p>
            <a:pPr indent="0" marL="0">
              <a:buNone/>
            </a:pPr>
            <a:r>
              <a:rPr lang="en-US" sz="1500" b="1" dirty="0">
                <a:solidFill>
                  <a:srgbClr val="231942"/>
                </a:solidFill>
                <a:latin typeface="Calibri" pitchFamily="34" charset="0"/>
                <a:ea typeface="Calibri" pitchFamily="34" charset="-122"/>
                <a:cs typeface="Calibri" pitchFamily="34" charset="-120"/>
              </a:rPr>
              <a:t>10 are actually sick</a:t>
            </a:r>
            <a:endParaRPr lang="en-US" sz="1500" dirty="0"/>
          </a:p>
        </p:txBody>
      </p:sp>
      <p:sp>
        <p:nvSpPr>
          <p:cNvPr id="10" name="Text 8"/>
          <p:cNvSpPr txBox="1"/>
          <p:nvPr/>
        </p:nvSpPr>
        <p:spPr>
          <a:xfrm>
            <a:off x="1097280" y="2953512"/>
            <a:ext cx="4572000" cy="384048"/>
          </a:xfrm>
          <a:prstGeom prst="rect">
            <a:avLst/>
          </a:prstGeom>
          <a:noFill/>
          <a:ln/>
        </p:spPr>
        <p:txBody>
          <a:bodyPr wrap="square" lIns="0" tIns="0" rIns="0" bIns="0" rtlCol="0" anchor="ctr"/>
          <a:lstStyle/>
          <a:p>
            <a:pPr indent="0" marL="0">
              <a:buNone/>
            </a:pPr>
            <a:r>
              <a:rPr lang="en-US" sz="1300" dirty="0">
                <a:solidFill>
                  <a:srgbClr val="6B6480"/>
                </a:solidFill>
                <a:latin typeface="Calibri" pitchFamily="34" charset="0"/>
                <a:ea typeface="Calibri" pitchFamily="34" charset="-122"/>
                <a:cs typeface="Calibri" pitchFamily="34" charset="-120"/>
              </a:rPr>
              <a:t>→ 99% test +  →  ~10 true positives</a:t>
            </a:r>
            <a:endParaRPr lang="en-US" sz="1300" dirty="0"/>
          </a:p>
        </p:txBody>
      </p:sp>
      <p:sp>
        <p:nvSpPr>
          <p:cNvPr id="11" name="Shape 9"/>
          <p:cNvSpPr/>
          <p:nvPr/>
        </p:nvSpPr>
        <p:spPr>
          <a:xfrm>
            <a:off x="914400" y="3566160"/>
            <a:ext cx="4937760" cy="868680"/>
          </a:xfrm>
          <a:prstGeom prst="roundRect">
            <a:avLst>
              <a:gd name="adj" fmla="val 10526"/>
            </a:avLst>
          </a:prstGeom>
          <a:solidFill>
            <a:srgbClr val="FFFFFF"/>
          </a:solidFill>
          <a:ln w="25400">
            <a:solidFill>
              <a:srgbClr val="E9C46A"/>
            </a:solidFill>
            <a:prstDash val="solid"/>
          </a:ln>
        </p:spPr>
      </p:sp>
      <p:sp>
        <p:nvSpPr>
          <p:cNvPr id="12" name="Text 10"/>
          <p:cNvSpPr txBox="1"/>
          <p:nvPr/>
        </p:nvSpPr>
        <p:spPr>
          <a:xfrm>
            <a:off x="1097280" y="3639312"/>
            <a:ext cx="4572000" cy="411480"/>
          </a:xfrm>
          <a:prstGeom prst="rect">
            <a:avLst/>
          </a:prstGeom>
          <a:noFill/>
          <a:ln/>
        </p:spPr>
        <p:txBody>
          <a:bodyPr wrap="square" lIns="0" tIns="0" rIns="0" bIns="0" rtlCol="0" anchor="ctr"/>
          <a:lstStyle/>
          <a:p>
            <a:pPr indent="0" marL="0">
              <a:buNone/>
            </a:pPr>
            <a:r>
              <a:rPr lang="en-US" sz="1500" b="1" dirty="0">
                <a:solidFill>
                  <a:srgbClr val="231942"/>
                </a:solidFill>
                <a:latin typeface="Calibri" pitchFamily="34" charset="0"/>
                <a:ea typeface="Calibri" pitchFamily="34" charset="-122"/>
                <a:cs typeface="Calibri" pitchFamily="34" charset="-120"/>
              </a:rPr>
              <a:t>990 are healthy</a:t>
            </a:r>
            <a:endParaRPr lang="en-US" sz="1500" dirty="0"/>
          </a:p>
        </p:txBody>
      </p:sp>
      <p:sp>
        <p:nvSpPr>
          <p:cNvPr id="13" name="Text 11"/>
          <p:cNvSpPr txBox="1"/>
          <p:nvPr/>
        </p:nvSpPr>
        <p:spPr>
          <a:xfrm>
            <a:off x="1097280" y="4005072"/>
            <a:ext cx="4572000" cy="384048"/>
          </a:xfrm>
          <a:prstGeom prst="rect">
            <a:avLst/>
          </a:prstGeom>
          <a:noFill/>
          <a:ln/>
        </p:spPr>
        <p:txBody>
          <a:bodyPr wrap="square" lIns="0" tIns="0" rIns="0" bIns="0" rtlCol="0" anchor="ctr"/>
          <a:lstStyle/>
          <a:p>
            <a:pPr indent="0" marL="0">
              <a:buNone/>
            </a:pPr>
            <a:r>
              <a:rPr lang="en-US" sz="1300" dirty="0">
                <a:solidFill>
                  <a:srgbClr val="6B6480"/>
                </a:solidFill>
                <a:latin typeface="Calibri" pitchFamily="34" charset="0"/>
                <a:ea typeface="Calibri" pitchFamily="34" charset="-122"/>
                <a:cs typeface="Calibri" pitchFamily="34" charset="-120"/>
              </a:rPr>
              <a:t>→ 1% false + →  ~10 FALSE positives</a:t>
            </a:r>
            <a:endParaRPr lang="en-US" sz="1300" dirty="0"/>
          </a:p>
        </p:txBody>
      </p:sp>
      <p:sp>
        <p:nvSpPr>
          <p:cNvPr id="14" name="Shape 12"/>
          <p:cNvSpPr/>
          <p:nvPr/>
        </p:nvSpPr>
        <p:spPr>
          <a:xfrm>
            <a:off x="914400" y="4617720"/>
            <a:ext cx="4937760" cy="868680"/>
          </a:xfrm>
          <a:prstGeom prst="roundRect">
            <a:avLst>
              <a:gd name="adj" fmla="val 10526"/>
            </a:avLst>
          </a:prstGeom>
          <a:solidFill>
            <a:srgbClr val="FFFFFF"/>
          </a:solidFill>
          <a:ln w="25400">
            <a:solidFill>
              <a:srgbClr val="231942"/>
            </a:solidFill>
            <a:prstDash val="solid"/>
          </a:ln>
        </p:spPr>
      </p:sp>
      <p:sp>
        <p:nvSpPr>
          <p:cNvPr id="15" name="Text 13"/>
          <p:cNvSpPr txBox="1"/>
          <p:nvPr/>
        </p:nvSpPr>
        <p:spPr>
          <a:xfrm>
            <a:off x="1097280" y="4690872"/>
            <a:ext cx="4572000" cy="411480"/>
          </a:xfrm>
          <a:prstGeom prst="rect">
            <a:avLst/>
          </a:prstGeom>
          <a:noFill/>
          <a:ln/>
        </p:spPr>
        <p:txBody>
          <a:bodyPr wrap="square" lIns="0" tIns="0" rIns="0" bIns="0" rtlCol="0" anchor="ctr"/>
          <a:lstStyle/>
          <a:p>
            <a:pPr indent="0" marL="0">
              <a:buNone/>
            </a:pPr>
            <a:r>
              <a:rPr lang="en-US" sz="1500" b="1" dirty="0">
                <a:solidFill>
                  <a:srgbClr val="231942"/>
                </a:solidFill>
                <a:latin typeface="Calibri" pitchFamily="34" charset="0"/>
                <a:ea typeface="Calibri" pitchFamily="34" charset="-122"/>
                <a:cs typeface="Calibri" pitchFamily="34" charset="-120"/>
              </a:rPr>
              <a:t>20 people test positive total</a:t>
            </a:r>
            <a:endParaRPr lang="en-US" sz="1500" dirty="0"/>
          </a:p>
        </p:txBody>
      </p:sp>
      <p:sp>
        <p:nvSpPr>
          <p:cNvPr id="16" name="Text 14"/>
          <p:cNvSpPr txBox="1"/>
          <p:nvPr/>
        </p:nvSpPr>
        <p:spPr>
          <a:xfrm>
            <a:off x="1097280" y="5056632"/>
            <a:ext cx="4572000" cy="384048"/>
          </a:xfrm>
          <a:prstGeom prst="rect">
            <a:avLst/>
          </a:prstGeom>
          <a:noFill/>
          <a:ln/>
        </p:spPr>
        <p:txBody>
          <a:bodyPr wrap="square" lIns="0" tIns="0" rIns="0" bIns="0" rtlCol="0" anchor="ctr"/>
          <a:lstStyle/>
          <a:p>
            <a:pPr indent="0" marL="0">
              <a:buNone/>
            </a:pPr>
            <a:r>
              <a:rPr lang="en-US" sz="1300" dirty="0">
                <a:solidFill>
                  <a:srgbClr val="6B6480"/>
                </a:solidFill>
                <a:latin typeface="Calibri" pitchFamily="34" charset="0"/>
                <a:ea typeface="Calibri" pitchFamily="34" charset="-122"/>
                <a:cs typeface="Calibri" pitchFamily="34" charset="-120"/>
              </a:rPr>
              <a:t>only 10 are really sick</a:t>
            </a:r>
            <a:endParaRPr lang="en-US" sz="1300" dirty="0"/>
          </a:p>
        </p:txBody>
      </p:sp>
      <p:sp>
        <p:nvSpPr>
          <p:cNvPr id="17" name="Text 15"/>
          <p:cNvSpPr txBox="1"/>
          <p:nvPr/>
        </p:nvSpPr>
        <p:spPr>
          <a:xfrm>
            <a:off x="914400" y="5623560"/>
            <a:ext cx="4937760" cy="365760"/>
          </a:xfrm>
          <a:prstGeom prst="rect">
            <a:avLst/>
          </a:prstGeom>
          <a:noFill/>
          <a:ln/>
        </p:spPr>
        <p:txBody>
          <a:bodyPr wrap="square" rtlCol="0" anchor="ctr"/>
          <a:lstStyle/>
          <a:p>
            <a:pPr indent="0" marL="0">
              <a:buNone/>
            </a:pPr>
            <a:r>
              <a:rPr lang="en-US" sz="1600" b="1" dirty="0">
                <a:solidFill>
                  <a:srgbClr val="E76F51"/>
                </a:solidFill>
                <a:latin typeface="Cambria Math" pitchFamily="34" charset="0"/>
                <a:ea typeface="Cambria Math" pitchFamily="34" charset="-122"/>
                <a:cs typeface="Cambria Math" pitchFamily="34" charset="-120"/>
              </a:rPr>
              <a:t>So P(sick | positive) = 10/20 = 50%</a:t>
            </a:r>
            <a:endParaRPr lang="en-US" sz="1600" dirty="0"/>
          </a:p>
        </p:txBody>
      </p:sp>
      <p:sp>
        <p:nvSpPr>
          <p:cNvPr id="18" name="Shape 16"/>
          <p:cNvSpPr/>
          <p:nvPr/>
        </p:nvSpPr>
        <p:spPr>
          <a:xfrm>
            <a:off x="6309360" y="1737360"/>
            <a:ext cx="5303520" cy="4297680"/>
          </a:xfrm>
          <a:prstGeom prst="roundRect">
            <a:avLst>
              <a:gd name="adj" fmla="val 2979"/>
            </a:avLst>
          </a:prstGeom>
          <a:solidFill>
            <a:srgbClr val="231942"/>
          </a:solidFill>
          <a:ln/>
        </p:spPr>
      </p:sp>
      <p:sp>
        <p:nvSpPr>
          <p:cNvPr id="19" name="Text 17"/>
          <p:cNvSpPr txBox="1"/>
          <p:nvPr/>
        </p:nvSpPr>
        <p:spPr>
          <a:xfrm>
            <a:off x="6583680" y="1920240"/>
            <a:ext cx="4754880" cy="365760"/>
          </a:xfrm>
          <a:prstGeom prst="rect">
            <a:avLst/>
          </a:prstGeom>
          <a:noFill/>
          <a:ln/>
        </p:spPr>
        <p:txBody>
          <a:bodyPr wrap="square" rtlCol="0" anchor="ctr"/>
          <a:lstStyle/>
          <a:p>
            <a:pPr indent="0" marL="0">
              <a:buNone/>
            </a:pPr>
            <a:r>
              <a:rPr lang="en-US" sz="1500" b="1" spc="200" kern="0" dirty="0">
                <a:solidFill>
                  <a:srgbClr val="F4C79A"/>
                </a:solidFill>
                <a:latin typeface="Calibri" pitchFamily="34" charset="0"/>
                <a:ea typeface="Calibri" pitchFamily="34" charset="-122"/>
                <a:cs typeface="Calibri" pitchFamily="34" charset="-120"/>
              </a:rPr>
              <a:t>🖥️  LIVE DEMO</a:t>
            </a:r>
            <a:endParaRPr lang="en-US" sz="1500" dirty="0"/>
          </a:p>
        </p:txBody>
      </p:sp>
      <p:sp>
        <p:nvSpPr>
          <p:cNvPr id="20" name="Text 18"/>
          <p:cNvSpPr txBox="1"/>
          <p:nvPr/>
        </p:nvSpPr>
        <p:spPr>
          <a:xfrm>
            <a:off x="6583680" y="2286000"/>
            <a:ext cx="475488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Bayes Tree</a:t>
            </a:r>
            <a:endParaRPr lang="en-US" sz="2400" dirty="0"/>
          </a:p>
        </p:txBody>
      </p:sp>
      <p:sp>
        <p:nvSpPr>
          <p:cNvPr id="21" name="Text 19"/>
          <p:cNvSpPr txBox="1"/>
          <p:nvPr/>
        </p:nvSpPr>
        <p:spPr>
          <a:xfrm>
            <a:off x="6583680" y="2926080"/>
            <a:ext cx="4754880" cy="2926080"/>
          </a:xfrm>
          <a:prstGeom prst="rect">
            <a:avLst/>
          </a:prstGeom>
          <a:noFill/>
          <a:ln/>
        </p:spPr>
        <p:txBody>
          <a:bodyPr wrap="square" rtlCol="0" anchor="t"/>
          <a:lstStyle/>
          <a:p>
            <a:pPr indent="0" marL="0">
              <a:lnSpc>
                <a:spcPct val="115000"/>
              </a:lnSpc>
              <a:buNone/>
            </a:pPr>
            <a:r>
              <a:rPr lang="en-US" sz="1550" dirty="0">
                <a:solidFill>
                  <a:srgbClr val="E4D6F5"/>
                </a:solidFill>
                <a:latin typeface="Calibri" pitchFamily="34" charset="0"/>
                <a:ea typeface="Calibri" pitchFamily="34" charset="-122"/>
                <a:cs typeface="Calibri" pitchFamily="34" charset="-120"/>
              </a:rPr>
              <a:t>Move the prevalence slider from 1% up to 30%.
</a:t>
            </a:r>
            <a:endParaRPr lang="en-US" sz="1550" dirty="0"/>
          </a:p>
          <a:p>
            <a:pPr indent="0" marL="0">
              <a:lnSpc>
                <a:spcPct val="115000"/>
              </a:lnSpc>
              <a:buNone/>
            </a:pPr>
            <a:r>
              <a:rPr lang="en-US" sz="1550" dirty="0">
                <a:solidFill>
                  <a:srgbClr val="E4D6F5"/>
                </a:solidFill>
                <a:latin typeface="Calibri" pitchFamily="34" charset="0"/>
                <a:ea typeface="Calibri" pitchFamily="34" charset="-122"/>
                <a:cs typeface="Calibri" pitchFamily="34" charset="-120"/>
              </a:rPr>
              <a:t>Watch the “chance you're sick” number climb — because rarer disease means false positives dominate.
</a:t>
            </a:r>
            <a:endParaRPr lang="en-US" sz="1550" dirty="0"/>
          </a:p>
          <a:p>
            <a:pPr indent="0" marL="0">
              <a:lnSpc>
                <a:spcPct val="115000"/>
              </a:lnSpc>
              <a:buNone/>
            </a:pPr>
            <a:r>
              <a:rPr lang="en-US" sz="1550" i="1" dirty="0">
                <a:solidFill>
                  <a:srgbClr val="C9A9E8"/>
                </a:solidFill>
                <a:latin typeface="Calibri" pitchFamily="34" charset="0"/>
                <a:ea typeface="Calibri" pitchFamily="34" charset="-122"/>
                <a:cs typeface="Calibri" pitchFamily="34" charset="-120"/>
              </a:rPr>
              <a:t>Only THEN reveal the formula. The intuition comes first.</a:t>
            </a:r>
            <a:endParaRPr lang="en-US" sz="1550" dirty="0"/>
          </a:p>
        </p:txBody>
      </p:sp>
      <p:sp>
        <p:nvSpPr>
          <p:cNvPr id="22" name="Text 20"/>
          <p:cNvSpPr txBox="1"/>
          <p:nvPr/>
        </p:nvSpPr>
        <p:spPr>
          <a:xfrm>
            <a:off x="11521440" y="6446520"/>
            <a:ext cx="548640" cy="320040"/>
          </a:xfrm>
          <a:prstGeom prst="rect">
            <a:avLst/>
          </a:prstGeom>
          <a:noFill/>
          <a:ln/>
        </p:spPr>
        <p:txBody>
          <a:bodyPr wrap="square" rtlCol="0" anchor="ctr"/>
          <a:lstStyle/>
          <a:p>
            <a:pPr algn="r" indent="0" marL="0">
              <a:buNone/>
            </a:pPr>
            <a:r>
              <a:rPr lang="en-US" sz="1100" dirty="0">
                <a:solidFill>
                  <a:srgbClr val="6B6480"/>
                </a:solidFill>
                <a:latin typeface="Calibri" pitchFamily="34" charset="0"/>
                <a:ea typeface="Calibri" pitchFamily="34" charset="-122"/>
                <a:cs typeface="Calibri" pitchFamily="34" charset="-120"/>
              </a:rPr>
              <a:t>6</a:t>
            </a:r>
            <a:endParaRPr lang="en-US" sz="1100" dirty="0"/>
          </a:p>
        </p:txBody>
      </p:sp>
      <p:sp>
        <p:nvSpPr>
          <p:cNvPr id="23" name="Text 21"/>
          <p:cNvSpPr txBox="1"/>
          <p:nvPr/>
        </p:nvSpPr>
        <p:spPr>
          <a:xfrm>
            <a:off x="457200" y="6446520"/>
            <a:ext cx="5486400" cy="320040"/>
          </a:xfrm>
          <a:prstGeom prst="rect">
            <a:avLst/>
          </a:prstGeom>
          <a:noFill/>
          <a:ln/>
        </p:spPr>
        <p:txBody>
          <a:bodyPr wrap="square" rtlCol="0" anchor="ctr"/>
          <a:lstStyle/>
          <a:p>
            <a:pPr indent="0" marL="0">
              <a:buNone/>
            </a:pPr>
            <a:r>
              <a:rPr lang="en-US" sz="1100" dirty="0">
                <a:solidFill>
                  <a:srgbClr val="6B6480"/>
                </a:solidFill>
                <a:latin typeface="Calibri" pitchFamily="34" charset="0"/>
                <a:ea typeface="Calibri" pitchFamily="34" charset="-122"/>
                <a:cs typeface="Calibri" pitchFamily="34" charset="-120"/>
              </a:rPr>
              <a:t>Topic 8 · Probability &amp; Statistics in ML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E76F51"/>
          </a:solidFill>
          <a:ln/>
        </p:spPr>
      </p:sp>
      <p:sp>
        <p:nvSpPr>
          <p:cNvPr id="3" name="Text 1"/>
          <p:cNvSpPr txBox="1"/>
          <p:nvPr/>
        </p:nvSpPr>
        <p:spPr>
          <a:xfrm>
            <a:off x="548640" y="44805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1325880" y="411480"/>
            <a:ext cx="10058400" cy="731520"/>
          </a:xfrm>
          <a:prstGeom prst="rect">
            <a:avLst/>
          </a:prstGeom>
          <a:noFill/>
          <a:ln/>
        </p:spPr>
        <p:txBody>
          <a:bodyPr wrap="square" rtlCol="0" anchor="ctr"/>
          <a:lstStyle/>
          <a:p>
            <a:pPr indent="0" marL="0">
              <a:buNone/>
            </a:pPr>
            <a:r>
              <a:rPr lang="en-US" sz="3200" b="1" dirty="0">
                <a:solidFill>
                  <a:srgbClr val="231942"/>
                </a:solidFill>
                <a:latin typeface="Cambria" pitchFamily="34" charset="0"/>
                <a:ea typeface="Cambria" pitchFamily="34" charset="-122"/>
                <a:cs typeface="Cambria" pitchFamily="34" charset="-120"/>
              </a:rPr>
              <a:t>Fix #2 — Correlation ≠ causation</a:t>
            </a:r>
            <a:endParaRPr lang="en-US" sz="3200" dirty="0"/>
          </a:p>
        </p:txBody>
      </p:sp>
      <p:sp>
        <p:nvSpPr>
          <p:cNvPr id="5" name="Text 3"/>
          <p:cNvSpPr txBox="1"/>
          <p:nvPr/>
        </p:nvSpPr>
        <p:spPr>
          <a:xfrm>
            <a:off x="566928" y="1234440"/>
            <a:ext cx="11155680" cy="365760"/>
          </a:xfrm>
          <a:prstGeom prst="rect">
            <a:avLst/>
          </a:prstGeom>
          <a:noFill/>
          <a:ln/>
        </p:spPr>
        <p:txBody>
          <a:bodyPr wrap="square" rtlCol="0" anchor="ctr"/>
          <a:lstStyle/>
          <a:p>
            <a:pPr indent="0" marL="0">
              <a:buNone/>
            </a:pPr>
            <a:r>
              <a:rPr lang="en-US" sz="1500" i="1" dirty="0">
                <a:solidFill>
                  <a:srgbClr val="6B6480"/>
                </a:solidFill>
                <a:latin typeface="Calibri" pitchFamily="34" charset="0"/>
                <a:ea typeface="Calibri" pitchFamily="34" charset="-122"/>
                <a:cs typeface="Calibri" pitchFamily="34" charset="-120"/>
              </a:rPr>
              <a:t>Your model finds correlation. It does NOT understand cause. This is why models fail in deployment.</a:t>
            </a:r>
            <a:endParaRPr lang="en-US" sz="1500" dirty="0"/>
          </a:p>
        </p:txBody>
      </p:sp>
      <p:sp>
        <p:nvSpPr>
          <p:cNvPr id="6" name="Shape 4"/>
          <p:cNvSpPr/>
          <p:nvPr/>
        </p:nvSpPr>
        <p:spPr>
          <a:xfrm>
            <a:off x="640080" y="1828800"/>
            <a:ext cx="3520440" cy="2651760"/>
          </a:xfrm>
          <a:prstGeom prst="roundRect">
            <a:avLst>
              <a:gd name="adj" fmla="val 4828"/>
            </a:avLst>
          </a:prstGeom>
          <a:solidFill>
            <a:srgbClr val="F0ECF7"/>
          </a:solidFill>
          <a:ln/>
        </p:spPr>
      </p:sp>
      <p:sp>
        <p:nvSpPr>
          <p:cNvPr id="7" name="Shape 5"/>
          <p:cNvSpPr/>
          <p:nvPr/>
        </p:nvSpPr>
        <p:spPr>
          <a:xfrm>
            <a:off x="1938528" y="2057400"/>
            <a:ext cx="914400" cy="914400"/>
          </a:xfrm>
          <a:prstGeom prst="ellipse">
            <a:avLst/>
          </a:prstGeom>
          <a:solidFill>
            <a:srgbClr val="E76F51"/>
          </a:solidFill>
          <a:ln/>
        </p:spPr>
      </p:sp>
      <p:sp>
        <p:nvSpPr>
          <p:cNvPr id="8" name="Text 6"/>
          <p:cNvSpPr txBox="1"/>
          <p:nvPr/>
        </p:nvSpPr>
        <p:spPr>
          <a:xfrm>
            <a:off x="1938528" y="2057400"/>
            <a:ext cx="914400" cy="91440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9" name="Text 7"/>
          <p:cNvSpPr txBox="1"/>
          <p:nvPr/>
        </p:nvSpPr>
        <p:spPr>
          <a:xfrm>
            <a:off x="822960" y="3063240"/>
            <a:ext cx="3154680" cy="640080"/>
          </a:xfrm>
          <a:prstGeom prst="rect">
            <a:avLst/>
          </a:prstGeom>
          <a:noFill/>
          <a:ln/>
        </p:spPr>
        <p:txBody>
          <a:bodyPr wrap="square" rtlCol="0" anchor="ctr"/>
          <a:lstStyle/>
          <a:p>
            <a:pPr algn="ctr" indent="0" marL="0">
              <a:buNone/>
            </a:pPr>
            <a:r>
              <a:rPr lang="en-US" sz="1600" b="1" dirty="0">
                <a:solidFill>
                  <a:srgbClr val="231942"/>
                </a:solidFill>
                <a:latin typeface="Calibri" pitchFamily="34" charset="0"/>
                <a:ea typeface="Calibri" pitchFamily="34" charset="-122"/>
                <a:cs typeface="Calibri" pitchFamily="34" charset="-120"/>
              </a:rPr>
              <a:t>Ice cream ↔ drownings</a:t>
            </a:r>
            <a:endParaRPr lang="en-US" sz="1600" dirty="0"/>
          </a:p>
        </p:txBody>
      </p:sp>
      <p:sp>
        <p:nvSpPr>
          <p:cNvPr id="10" name="Text 8"/>
          <p:cNvSpPr txBox="1"/>
          <p:nvPr/>
        </p:nvSpPr>
        <p:spPr>
          <a:xfrm>
            <a:off x="868680" y="3703320"/>
            <a:ext cx="3063240" cy="685800"/>
          </a:xfrm>
          <a:prstGeom prst="rect">
            <a:avLst/>
          </a:prstGeom>
          <a:noFill/>
          <a:ln/>
        </p:spPr>
        <p:txBody>
          <a:bodyPr wrap="square" rtlCol="0" anchor="t"/>
          <a:lstStyle/>
          <a:p>
            <a:pPr algn="ctr" indent="0" marL="0">
              <a:buNone/>
            </a:pPr>
            <a:r>
              <a:rPr lang="en-US" sz="1350" dirty="0">
                <a:solidFill>
                  <a:srgbClr val="6B6480"/>
                </a:solidFill>
                <a:latin typeface="Calibri" pitchFamily="34" charset="0"/>
                <a:ea typeface="Calibri" pitchFamily="34" charset="-122"/>
                <a:cs typeface="Calibri" pitchFamily="34" charset="-120"/>
              </a:rPr>
              <a:t>Hidden cause: summer heat drives both</a:t>
            </a:r>
            <a:endParaRPr lang="en-US" sz="1350" dirty="0"/>
          </a:p>
        </p:txBody>
      </p:sp>
      <p:sp>
        <p:nvSpPr>
          <p:cNvPr id="11" name="Shape 9"/>
          <p:cNvSpPr/>
          <p:nvPr/>
        </p:nvSpPr>
        <p:spPr>
          <a:xfrm>
            <a:off x="4343400" y="1828800"/>
            <a:ext cx="3520440" cy="2651760"/>
          </a:xfrm>
          <a:prstGeom prst="roundRect">
            <a:avLst>
              <a:gd name="adj" fmla="val 4828"/>
            </a:avLst>
          </a:prstGeom>
          <a:solidFill>
            <a:srgbClr val="F0ECF7"/>
          </a:solidFill>
          <a:ln/>
        </p:spPr>
      </p:sp>
      <p:sp>
        <p:nvSpPr>
          <p:cNvPr id="12" name="Shape 10"/>
          <p:cNvSpPr/>
          <p:nvPr/>
        </p:nvSpPr>
        <p:spPr>
          <a:xfrm>
            <a:off x="5641848" y="2057400"/>
            <a:ext cx="914400" cy="914400"/>
          </a:xfrm>
          <a:prstGeom prst="ellipse">
            <a:avLst/>
          </a:prstGeom>
          <a:solidFill>
            <a:srgbClr val="2A9D8F"/>
          </a:solidFill>
          <a:ln/>
        </p:spPr>
      </p:sp>
      <p:sp>
        <p:nvSpPr>
          <p:cNvPr id="13" name="Text 11"/>
          <p:cNvSpPr txBox="1"/>
          <p:nvPr/>
        </p:nvSpPr>
        <p:spPr>
          <a:xfrm>
            <a:off x="5641848" y="2057400"/>
            <a:ext cx="914400" cy="91440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4" name="Text 12"/>
          <p:cNvSpPr txBox="1"/>
          <p:nvPr/>
        </p:nvSpPr>
        <p:spPr>
          <a:xfrm>
            <a:off x="4526280" y="3063240"/>
            <a:ext cx="3154680" cy="640080"/>
          </a:xfrm>
          <a:prstGeom prst="rect">
            <a:avLst/>
          </a:prstGeom>
          <a:noFill/>
          <a:ln/>
        </p:spPr>
        <p:txBody>
          <a:bodyPr wrap="square" rtlCol="0" anchor="ctr"/>
          <a:lstStyle/>
          <a:p>
            <a:pPr algn="ctr" indent="0" marL="0">
              <a:buNone/>
            </a:pPr>
            <a:r>
              <a:rPr lang="en-US" sz="1600" b="1" dirty="0">
                <a:solidFill>
                  <a:srgbClr val="231942"/>
                </a:solidFill>
                <a:latin typeface="Calibri" pitchFamily="34" charset="0"/>
                <a:ea typeface="Calibri" pitchFamily="34" charset="-122"/>
                <a:cs typeface="Calibri" pitchFamily="34" charset="-120"/>
              </a:rPr>
              <a:t>Shoe size ↔ reading skill</a:t>
            </a:r>
            <a:endParaRPr lang="en-US" sz="1600" dirty="0"/>
          </a:p>
        </p:txBody>
      </p:sp>
      <p:sp>
        <p:nvSpPr>
          <p:cNvPr id="15" name="Text 13"/>
          <p:cNvSpPr txBox="1"/>
          <p:nvPr/>
        </p:nvSpPr>
        <p:spPr>
          <a:xfrm>
            <a:off x="4572000" y="3703320"/>
            <a:ext cx="3063240" cy="685800"/>
          </a:xfrm>
          <a:prstGeom prst="rect">
            <a:avLst/>
          </a:prstGeom>
          <a:noFill/>
          <a:ln/>
        </p:spPr>
        <p:txBody>
          <a:bodyPr wrap="square" rtlCol="0" anchor="t"/>
          <a:lstStyle/>
          <a:p>
            <a:pPr algn="ctr" indent="0" marL="0">
              <a:buNone/>
            </a:pPr>
            <a:r>
              <a:rPr lang="en-US" sz="1350" dirty="0">
                <a:solidFill>
                  <a:srgbClr val="6B6480"/>
                </a:solidFill>
                <a:latin typeface="Calibri" pitchFamily="34" charset="0"/>
                <a:ea typeface="Calibri" pitchFamily="34" charset="-122"/>
                <a:cs typeface="Calibri" pitchFamily="34" charset="-120"/>
              </a:rPr>
              <a:t>Hidden cause: age drives both</a:t>
            </a:r>
            <a:endParaRPr lang="en-US" sz="1350" dirty="0"/>
          </a:p>
        </p:txBody>
      </p:sp>
      <p:sp>
        <p:nvSpPr>
          <p:cNvPr id="16" name="Shape 14"/>
          <p:cNvSpPr/>
          <p:nvPr/>
        </p:nvSpPr>
        <p:spPr>
          <a:xfrm>
            <a:off x="8046720" y="1828800"/>
            <a:ext cx="3520440" cy="2651760"/>
          </a:xfrm>
          <a:prstGeom prst="roundRect">
            <a:avLst>
              <a:gd name="adj" fmla="val 4828"/>
            </a:avLst>
          </a:prstGeom>
          <a:solidFill>
            <a:srgbClr val="F0ECF7"/>
          </a:solidFill>
          <a:ln/>
        </p:spPr>
      </p:sp>
      <p:sp>
        <p:nvSpPr>
          <p:cNvPr id="17" name="Shape 15"/>
          <p:cNvSpPr/>
          <p:nvPr/>
        </p:nvSpPr>
        <p:spPr>
          <a:xfrm>
            <a:off x="9345168" y="2057400"/>
            <a:ext cx="914400" cy="914400"/>
          </a:xfrm>
          <a:prstGeom prst="ellipse">
            <a:avLst/>
          </a:prstGeom>
          <a:solidFill>
            <a:srgbClr val="F4A259"/>
          </a:solidFill>
          <a:ln/>
        </p:spPr>
      </p:sp>
      <p:sp>
        <p:nvSpPr>
          <p:cNvPr id="18" name="Text 16"/>
          <p:cNvSpPr txBox="1"/>
          <p:nvPr/>
        </p:nvSpPr>
        <p:spPr>
          <a:xfrm>
            <a:off x="9345168" y="2057400"/>
            <a:ext cx="914400" cy="91440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9" name="Text 17"/>
          <p:cNvSpPr txBox="1"/>
          <p:nvPr/>
        </p:nvSpPr>
        <p:spPr>
          <a:xfrm>
            <a:off x="8229600" y="3063240"/>
            <a:ext cx="3154680" cy="640080"/>
          </a:xfrm>
          <a:prstGeom prst="rect">
            <a:avLst/>
          </a:prstGeom>
          <a:noFill/>
          <a:ln/>
        </p:spPr>
        <p:txBody>
          <a:bodyPr wrap="square" rtlCol="0" anchor="ctr"/>
          <a:lstStyle/>
          <a:p>
            <a:pPr algn="ctr" indent="0" marL="0">
              <a:buNone/>
            </a:pPr>
            <a:r>
              <a:rPr lang="en-US" sz="1600" b="1" dirty="0">
                <a:solidFill>
                  <a:srgbClr val="231942"/>
                </a:solidFill>
                <a:latin typeface="Calibri" pitchFamily="34" charset="0"/>
                <a:ea typeface="Calibri" pitchFamily="34" charset="-122"/>
                <a:cs typeface="Calibri" pitchFamily="34" charset="-120"/>
              </a:rPr>
              <a:t>Fire trucks ↔ damage</a:t>
            </a:r>
            <a:endParaRPr lang="en-US" sz="1600" dirty="0"/>
          </a:p>
        </p:txBody>
      </p:sp>
      <p:sp>
        <p:nvSpPr>
          <p:cNvPr id="20" name="Text 18"/>
          <p:cNvSpPr txBox="1"/>
          <p:nvPr/>
        </p:nvSpPr>
        <p:spPr>
          <a:xfrm>
            <a:off x="8275320" y="3703320"/>
            <a:ext cx="3063240" cy="685800"/>
          </a:xfrm>
          <a:prstGeom prst="rect">
            <a:avLst/>
          </a:prstGeom>
          <a:noFill/>
          <a:ln/>
        </p:spPr>
        <p:txBody>
          <a:bodyPr wrap="square" rtlCol="0" anchor="t"/>
          <a:lstStyle/>
          <a:p>
            <a:pPr algn="ctr" indent="0" marL="0">
              <a:buNone/>
            </a:pPr>
            <a:r>
              <a:rPr lang="en-US" sz="1350" dirty="0">
                <a:solidFill>
                  <a:srgbClr val="6B6480"/>
                </a:solidFill>
                <a:latin typeface="Calibri" pitchFamily="34" charset="0"/>
                <a:ea typeface="Calibri" pitchFamily="34" charset="-122"/>
                <a:cs typeface="Calibri" pitchFamily="34" charset="-120"/>
              </a:rPr>
              <a:t>Bigger fire drives both</a:t>
            </a:r>
            <a:endParaRPr lang="en-US" sz="1350" dirty="0"/>
          </a:p>
        </p:txBody>
      </p:sp>
      <p:sp>
        <p:nvSpPr>
          <p:cNvPr id="21" name="Shape 19"/>
          <p:cNvSpPr/>
          <p:nvPr/>
        </p:nvSpPr>
        <p:spPr>
          <a:xfrm>
            <a:off x="640080" y="4709160"/>
            <a:ext cx="10972800" cy="1325880"/>
          </a:xfrm>
          <a:prstGeom prst="roundRect">
            <a:avLst>
              <a:gd name="adj" fmla="val 8276"/>
            </a:avLst>
          </a:prstGeom>
          <a:solidFill>
            <a:srgbClr val="231942"/>
          </a:solidFill>
          <a:ln/>
        </p:spPr>
      </p:sp>
      <p:sp>
        <p:nvSpPr>
          <p:cNvPr id="22" name="Text 20"/>
          <p:cNvSpPr txBox="1"/>
          <p:nvPr/>
        </p:nvSpPr>
        <p:spPr>
          <a:xfrm>
            <a:off x="914400" y="4709160"/>
            <a:ext cx="10424160" cy="1325880"/>
          </a:xfrm>
          <a:prstGeom prst="rect">
            <a:avLst/>
          </a:prstGeom>
          <a:noFill/>
          <a:ln/>
        </p:spPr>
        <p:txBody>
          <a:bodyPr wrap="square" lIns="0" tIns="0" rIns="0" bIns="0" rtlCol="0" anchor="ctr"/>
          <a:lstStyle/>
          <a:p>
            <a:pPr indent="0" marL="0">
              <a:buNone/>
            </a:pPr>
            <a:r>
              <a:rPr lang="en-US" sz="1550" b="1" dirty="0">
                <a:solidFill>
                  <a:srgbClr val="F4C79A"/>
                </a:solidFill>
                <a:latin typeface="Calibri" pitchFamily="34" charset="0"/>
                <a:ea typeface="Calibri" pitchFamily="34" charset="-122"/>
                <a:cs typeface="Calibri" pitchFamily="34" charset="-120"/>
              </a:rPr>
              <a:t>The ML takeaway:  </a:t>
            </a:r>
            <a:pPr indent="0" marL="0">
              <a:buNone/>
            </a:pPr>
            <a:r>
              <a:rPr lang="en-US" sz="1550" dirty="0">
                <a:solidFill>
                  <a:srgbClr val="E4D6F5"/>
                </a:solidFill>
                <a:latin typeface="Calibri" pitchFamily="34" charset="0"/>
                <a:ea typeface="Calibri" pitchFamily="34" charset="-122"/>
                <a:cs typeface="Calibri" pitchFamily="34" charset="-120"/>
              </a:rPr>
              <a:t>a feature that correlates with the target may just share a lurking variable. Correlation is enough to PREDICT, but you need causal reasoning to intervene or to trust the model out of sample.</a:t>
            </a:r>
            <a:endParaRPr lang="en-US" sz="1550" dirty="0"/>
          </a:p>
        </p:txBody>
      </p:sp>
      <p:sp>
        <p:nvSpPr>
          <p:cNvPr id="23" name="Text 21"/>
          <p:cNvSpPr txBox="1"/>
          <p:nvPr/>
        </p:nvSpPr>
        <p:spPr>
          <a:xfrm>
            <a:off x="11521440" y="6446520"/>
            <a:ext cx="548640" cy="320040"/>
          </a:xfrm>
          <a:prstGeom prst="rect">
            <a:avLst/>
          </a:prstGeom>
          <a:noFill/>
          <a:ln/>
        </p:spPr>
        <p:txBody>
          <a:bodyPr wrap="square" rtlCol="0" anchor="ctr"/>
          <a:lstStyle/>
          <a:p>
            <a:pPr algn="r" indent="0" marL="0">
              <a:buNone/>
            </a:pPr>
            <a:r>
              <a:rPr lang="en-US" sz="1100" dirty="0">
                <a:solidFill>
                  <a:srgbClr val="6B6480"/>
                </a:solidFill>
                <a:latin typeface="Calibri" pitchFamily="34" charset="0"/>
                <a:ea typeface="Calibri" pitchFamily="34" charset="-122"/>
                <a:cs typeface="Calibri" pitchFamily="34" charset="-120"/>
              </a:rPr>
              <a:t>7</a:t>
            </a:r>
            <a:endParaRPr lang="en-US" sz="1100" dirty="0"/>
          </a:p>
        </p:txBody>
      </p:sp>
      <p:sp>
        <p:nvSpPr>
          <p:cNvPr id="24" name="Text 22"/>
          <p:cNvSpPr txBox="1"/>
          <p:nvPr/>
        </p:nvSpPr>
        <p:spPr>
          <a:xfrm>
            <a:off x="457200" y="6446520"/>
            <a:ext cx="5486400" cy="320040"/>
          </a:xfrm>
          <a:prstGeom prst="rect">
            <a:avLst/>
          </a:prstGeom>
          <a:noFill/>
          <a:ln/>
        </p:spPr>
        <p:txBody>
          <a:bodyPr wrap="square" rtlCol="0" anchor="ctr"/>
          <a:lstStyle/>
          <a:p>
            <a:pPr indent="0" marL="0">
              <a:buNone/>
            </a:pPr>
            <a:r>
              <a:rPr lang="en-US" sz="1100" dirty="0">
                <a:solidFill>
                  <a:srgbClr val="6B6480"/>
                </a:solidFill>
                <a:latin typeface="Calibri" pitchFamily="34" charset="0"/>
                <a:ea typeface="Calibri" pitchFamily="34" charset="-122"/>
                <a:cs typeface="Calibri" pitchFamily="34" charset="-120"/>
              </a:rPr>
              <a:t>Topic 8 · Probability &amp; Statistics in ML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E76F51"/>
          </a:solidFill>
          <a:ln/>
        </p:spPr>
      </p:sp>
      <p:sp>
        <p:nvSpPr>
          <p:cNvPr id="3" name="Text 1"/>
          <p:cNvSpPr txBox="1"/>
          <p:nvPr/>
        </p:nvSpPr>
        <p:spPr>
          <a:xfrm>
            <a:off x="548640" y="44805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1325880" y="411480"/>
            <a:ext cx="10058400" cy="731520"/>
          </a:xfrm>
          <a:prstGeom prst="rect">
            <a:avLst/>
          </a:prstGeom>
          <a:noFill/>
          <a:ln/>
        </p:spPr>
        <p:txBody>
          <a:bodyPr wrap="square" rtlCol="0" anchor="ctr"/>
          <a:lstStyle/>
          <a:p>
            <a:pPr indent="0" marL="0">
              <a:buNone/>
            </a:pPr>
            <a:r>
              <a:rPr lang="en-US" sz="3100" b="1" dirty="0">
                <a:solidFill>
                  <a:srgbClr val="231942"/>
                </a:solidFill>
                <a:latin typeface="Cambria" pitchFamily="34" charset="0"/>
                <a:ea typeface="Cambria" pitchFamily="34" charset="-122"/>
                <a:cs typeface="Cambria" pitchFamily="34" charset="-120"/>
              </a:rPr>
              <a:t>Fix #3 — The Central Limit Theorem</a:t>
            </a:r>
            <a:endParaRPr lang="en-US" sz="3100" dirty="0"/>
          </a:p>
        </p:txBody>
      </p:sp>
      <p:sp>
        <p:nvSpPr>
          <p:cNvPr id="5" name="Text 3"/>
          <p:cNvSpPr txBox="1"/>
          <p:nvPr/>
        </p:nvSpPr>
        <p:spPr>
          <a:xfrm>
            <a:off x="566928" y="1234440"/>
            <a:ext cx="10972800" cy="365760"/>
          </a:xfrm>
          <a:prstGeom prst="rect">
            <a:avLst/>
          </a:prstGeom>
          <a:noFill/>
          <a:ln/>
        </p:spPr>
        <p:txBody>
          <a:bodyPr wrap="square" rtlCol="0" anchor="ctr"/>
          <a:lstStyle/>
          <a:p>
            <a:pPr indent="0" marL="0">
              <a:buNone/>
            </a:pPr>
            <a:r>
              <a:rPr lang="en-US" sz="1500" i="1" dirty="0">
                <a:solidFill>
                  <a:srgbClr val="6B6480"/>
                </a:solidFill>
                <a:latin typeface="Calibri" pitchFamily="34" charset="0"/>
                <a:ea typeface="Calibri" pitchFamily="34" charset="-122"/>
                <a:cs typeface="Calibri" pitchFamily="34" charset="-120"/>
              </a:rPr>
              <a:t>Why the normal distribution shows up everywhere — and why big samples are trustworthy.</a:t>
            </a:r>
            <a:endParaRPr lang="en-US" sz="1500" dirty="0"/>
          </a:p>
        </p:txBody>
      </p:sp>
      <p:sp>
        <p:nvSpPr>
          <p:cNvPr id="6" name="Shape 4"/>
          <p:cNvSpPr/>
          <p:nvPr/>
        </p:nvSpPr>
        <p:spPr>
          <a:xfrm>
            <a:off x="640080" y="1737360"/>
            <a:ext cx="5486400" cy="4297680"/>
          </a:xfrm>
          <a:prstGeom prst="roundRect">
            <a:avLst>
              <a:gd name="adj" fmla="val 2979"/>
            </a:avLst>
          </a:prstGeom>
          <a:solidFill>
            <a:srgbClr val="F0ECF7"/>
          </a:solidFill>
          <a:ln/>
        </p:spPr>
      </p:sp>
      <p:sp>
        <p:nvSpPr>
          <p:cNvPr id="7" name="Text 5"/>
          <p:cNvSpPr txBox="1"/>
          <p:nvPr/>
        </p:nvSpPr>
        <p:spPr>
          <a:xfrm>
            <a:off x="914400" y="1965960"/>
            <a:ext cx="4937760" cy="457200"/>
          </a:xfrm>
          <a:prstGeom prst="rect">
            <a:avLst/>
          </a:prstGeom>
          <a:noFill/>
          <a:ln/>
        </p:spPr>
        <p:txBody>
          <a:bodyPr wrap="square" rtlCol="0" anchor="ctr"/>
          <a:lstStyle/>
          <a:p>
            <a:pPr indent="0" marL="0">
              <a:buNone/>
            </a:pPr>
            <a:r>
              <a:rPr lang="en-US" sz="1700" b="1" dirty="0">
                <a:solidFill>
                  <a:srgbClr val="5A189A"/>
                </a:solidFill>
                <a:latin typeface="Calibri" pitchFamily="34" charset="0"/>
                <a:ea typeface="Calibri" pitchFamily="34" charset="-122"/>
                <a:cs typeface="Calibri" pitchFamily="34" charset="-120"/>
              </a:rPr>
              <a:t>The idea in one line</a:t>
            </a:r>
            <a:endParaRPr lang="en-US" sz="1700" dirty="0"/>
          </a:p>
        </p:txBody>
      </p:sp>
      <p:sp>
        <p:nvSpPr>
          <p:cNvPr id="8" name="Text 6"/>
          <p:cNvSpPr txBox="1"/>
          <p:nvPr/>
        </p:nvSpPr>
        <p:spPr>
          <a:xfrm>
            <a:off x="914400" y="2468880"/>
            <a:ext cx="4937760" cy="2103120"/>
          </a:xfrm>
          <a:prstGeom prst="rect">
            <a:avLst/>
          </a:prstGeom>
          <a:noFill/>
          <a:ln/>
        </p:spPr>
        <p:txBody>
          <a:bodyPr wrap="square" rtlCol="0" anchor="t"/>
          <a:lstStyle/>
          <a:p>
            <a:pPr indent="0" marL="0">
              <a:buNone/>
            </a:pPr>
            <a:r>
              <a:rPr lang="en-US" sz="1600" dirty="0">
                <a:solidFill>
                  <a:srgbClr val="231942"/>
                </a:solidFill>
                <a:latin typeface="Calibri" pitchFamily="34" charset="0"/>
                <a:ea typeface="Calibri" pitchFamily="34" charset="-122"/>
                <a:cs typeface="Calibri" pitchFamily="34" charset="-120"/>
              </a:rPr>
              <a:t>Take samples from </a:t>
            </a:r>
            <a:pPr indent="0" marL="0">
              <a:buNone/>
            </a:pPr>
            <a:r>
              <a:rPr lang="en-US" sz="1600" b="1" dirty="0">
                <a:solidFill>
                  <a:srgbClr val="E76F51"/>
                </a:solidFill>
                <a:latin typeface="Calibri" pitchFamily="34" charset="0"/>
                <a:ea typeface="Calibri" pitchFamily="34" charset="-122"/>
                <a:cs typeface="Calibri" pitchFamily="34" charset="-120"/>
              </a:rPr>
              <a:t>ANY </a:t>
            </a:r>
            <a:pPr indent="0" marL="0">
              <a:buNone/>
            </a:pPr>
            <a:r>
              <a:rPr lang="en-US" sz="1600" dirty="0">
                <a:solidFill>
                  <a:srgbClr val="231942"/>
                </a:solidFill>
                <a:latin typeface="Calibri" pitchFamily="34" charset="0"/>
                <a:ea typeface="Calibri" pitchFamily="34" charset="-122"/>
                <a:cs typeface="Calibri" pitchFamily="34" charset="-120"/>
              </a:rPr>
              <a:t>distribution — even a weird, skewed one. Compute each sample's </a:t>
            </a:r>
            <a:pPr indent="0" marL="0">
              <a:buNone/>
            </a:pPr>
            <a:r>
              <a:rPr lang="en-US" sz="1600" b="1" dirty="0">
                <a:solidFill>
                  <a:srgbClr val="231942"/>
                </a:solidFill>
                <a:latin typeface="Calibri" pitchFamily="34" charset="0"/>
                <a:ea typeface="Calibri" pitchFamily="34" charset="-122"/>
                <a:cs typeface="Calibri" pitchFamily="34" charset="-120"/>
              </a:rPr>
              <a:t>average.
</a:t>
            </a:r>
            <a:pPr indent="0" marL="0">
              <a:buNone/>
            </a:pPr>
            <a:r>
              <a:rPr lang="en-US" sz="1600" dirty="0">
                <a:solidFill>
                  <a:srgbClr val="231942"/>
                </a:solidFill>
                <a:latin typeface="Calibri" pitchFamily="34" charset="0"/>
                <a:ea typeface="Calibri" pitchFamily="34" charset="-122"/>
                <a:cs typeface="Calibri" pitchFamily="34" charset="-120"/>
              </a:rPr>
              <a:t>Those averages form a </a:t>
            </a:r>
            <a:pPr indent="0" marL="0">
              <a:buNone/>
            </a:pPr>
            <a:r>
              <a:rPr lang="en-US" sz="1600" b="1" dirty="0">
                <a:solidFill>
                  <a:srgbClr val="2A9D8F"/>
                </a:solidFill>
                <a:latin typeface="Calibri" pitchFamily="34" charset="0"/>
                <a:ea typeface="Calibri" pitchFamily="34" charset="-122"/>
                <a:cs typeface="Calibri" pitchFamily="34" charset="-120"/>
              </a:rPr>
              <a:t>bell curve </a:t>
            </a:r>
            <a:pPr indent="0" marL="0">
              <a:buNone/>
            </a:pPr>
            <a:r>
              <a:rPr lang="en-US" sz="1600" dirty="0">
                <a:solidFill>
                  <a:srgbClr val="231942"/>
                </a:solidFill>
                <a:latin typeface="Calibri" pitchFamily="34" charset="0"/>
                <a:ea typeface="Calibri" pitchFamily="34" charset="-122"/>
                <a:cs typeface="Calibri" pitchFamily="34" charset="-120"/>
              </a:rPr>
              <a:t>— and the bigger the sample size, the tighter and more perfect the bell.</a:t>
            </a:r>
            <a:endParaRPr lang="en-US" sz="1600" dirty="0"/>
          </a:p>
        </p:txBody>
      </p:sp>
      <p:sp>
        <p:nvSpPr>
          <p:cNvPr id="9" name="Text 7"/>
          <p:cNvSpPr txBox="1"/>
          <p:nvPr/>
        </p:nvSpPr>
        <p:spPr>
          <a:xfrm>
            <a:off x="914400" y="4709160"/>
            <a:ext cx="4937760" cy="1188720"/>
          </a:xfrm>
          <a:prstGeom prst="rect">
            <a:avLst/>
          </a:prstGeom>
          <a:noFill/>
          <a:ln/>
        </p:spPr>
        <p:txBody>
          <a:bodyPr wrap="square" rtlCol="0" anchor="t"/>
          <a:lstStyle/>
          <a:p>
            <a:pPr indent="0" marL="0">
              <a:buNone/>
            </a:pPr>
            <a:r>
              <a:rPr lang="en-US" sz="1400" b="1" dirty="0">
                <a:solidFill>
                  <a:srgbClr val="5A189A"/>
                </a:solidFill>
                <a:latin typeface="Calibri" pitchFamily="34" charset="0"/>
                <a:ea typeface="Calibri" pitchFamily="34" charset="-122"/>
                <a:cs typeface="Calibri" pitchFamily="34" charset="-120"/>
              </a:rPr>
              <a:t>Why ML cares:  </a:t>
            </a:r>
            <a:pPr indent="0" marL="0">
              <a:buNone/>
            </a:pPr>
            <a:r>
              <a:rPr lang="en-US" sz="1400" dirty="0">
                <a:solidFill>
                  <a:srgbClr val="6B6480"/>
                </a:solidFill>
                <a:latin typeface="Calibri" pitchFamily="34" charset="0"/>
                <a:ea typeface="Calibri" pitchFamily="34" charset="-122"/>
                <a:cs typeface="Calibri" pitchFamily="34" charset="-120"/>
              </a:rPr>
              <a:t>it justifies normality assumptions, confidence intervals, and why more data = more stable estimates (Law of Large Numbers).</a:t>
            </a:r>
            <a:endParaRPr lang="en-US" sz="1400" dirty="0"/>
          </a:p>
        </p:txBody>
      </p:sp>
      <p:sp>
        <p:nvSpPr>
          <p:cNvPr id="10" name="Shape 8"/>
          <p:cNvSpPr/>
          <p:nvPr/>
        </p:nvSpPr>
        <p:spPr>
          <a:xfrm>
            <a:off x="6309360" y="1737360"/>
            <a:ext cx="5303520" cy="4297680"/>
          </a:xfrm>
          <a:prstGeom prst="roundRect">
            <a:avLst>
              <a:gd name="adj" fmla="val 2979"/>
            </a:avLst>
          </a:prstGeom>
          <a:solidFill>
            <a:srgbClr val="231942"/>
          </a:solidFill>
          <a:ln/>
        </p:spPr>
      </p:sp>
      <p:sp>
        <p:nvSpPr>
          <p:cNvPr id="11" name="Text 9"/>
          <p:cNvSpPr txBox="1"/>
          <p:nvPr/>
        </p:nvSpPr>
        <p:spPr>
          <a:xfrm>
            <a:off x="6583680" y="1920240"/>
            <a:ext cx="4754880" cy="365760"/>
          </a:xfrm>
          <a:prstGeom prst="rect">
            <a:avLst/>
          </a:prstGeom>
          <a:noFill/>
          <a:ln/>
        </p:spPr>
        <p:txBody>
          <a:bodyPr wrap="square" rtlCol="0" anchor="ctr"/>
          <a:lstStyle/>
          <a:p>
            <a:pPr indent="0" marL="0">
              <a:buNone/>
            </a:pPr>
            <a:r>
              <a:rPr lang="en-US" sz="1500" b="1" spc="200" kern="0" dirty="0">
                <a:solidFill>
                  <a:srgbClr val="F4C79A"/>
                </a:solidFill>
                <a:latin typeface="Calibri" pitchFamily="34" charset="0"/>
                <a:ea typeface="Calibri" pitchFamily="34" charset="-122"/>
                <a:cs typeface="Calibri" pitchFamily="34" charset="-120"/>
              </a:rPr>
              <a:t>🖥️  LIVE DEMO</a:t>
            </a:r>
            <a:endParaRPr lang="en-US" sz="1500" dirty="0"/>
          </a:p>
        </p:txBody>
      </p:sp>
      <p:sp>
        <p:nvSpPr>
          <p:cNvPr id="12" name="Text 10"/>
          <p:cNvSpPr txBox="1"/>
          <p:nvPr/>
        </p:nvSpPr>
        <p:spPr>
          <a:xfrm>
            <a:off x="6583680" y="2286000"/>
            <a:ext cx="475488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CLT Simulator</a:t>
            </a:r>
            <a:endParaRPr lang="en-US" sz="2400" dirty="0"/>
          </a:p>
        </p:txBody>
      </p:sp>
      <p:sp>
        <p:nvSpPr>
          <p:cNvPr id="13" name="Text 11"/>
          <p:cNvSpPr txBox="1"/>
          <p:nvPr/>
        </p:nvSpPr>
        <p:spPr>
          <a:xfrm>
            <a:off x="6583680" y="2926080"/>
            <a:ext cx="4754880" cy="2926080"/>
          </a:xfrm>
          <a:prstGeom prst="rect">
            <a:avLst/>
          </a:prstGeom>
          <a:noFill/>
          <a:ln/>
        </p:spPr>
        <p:txBody>
          <a:bodyPr wrap="square" rtlCol="0" anchor="t"/>
          <a:lstStyle/>
          <a:p>
            <a:pPr indent="0" marL="0">
              <a:lnSpc>
                <a:spcPct val="115000"/>
              </a:lnSpc>
              <a:buNone/>
            </a:pPr>
            <a:r>
              <a:rPr lang="en-US" sz="1550" dirty="0">
                <a:solidFill>
                  <a:srgbClr val="E4D6F5"/>
                </a:solidFill>
                <a:latin typeface="Calibri" pitchFamily="34" charset="0"/>
                <a:ea typeface="Calibri" pitchFamily="34" charset="-122"/>
                <a:cs typeface="Calibri" pitchFamily="34" charset="-120"/>
              </a:rPr>
              <a:t>1.  Pick the bimodal (two-hump) source — as un-bell-like as it gets.
</a:t>
            </a:r>
            <a:endParaRPr lang="en-US" sz="1550" dirty="0"/>
          </a:p>
          <a:p>
            <a:pPr indent="0" marL="0">
              <a:lnSpc>
                <a:spcPct val="115000"/>
              </a:lnSpc>
              <a:buNone/>
            </a:pPr>
            <a:r>
              <a:rPr lang="en-US" sz="1550" dirty="0">
                <a:solidFill>
                  <a:srgbClr val="E4D6F5"/>
                </a:solidFill>
                <a:latin typeface="Calibri" pitchFamily="34" charset="0"/>
                <a:ea typeface="Calibri" pitchFamily="34" charset="-122"/>
                <a:cs typeface="Calibri" pitchFamily="34" charset="-120"/>
              </a:rPr>
              <a:t>2.  Hit “+500 fast”. Watch a bell appear from chaos.
</a:t>
            </a:r>
            <a:endParaRPr lang="en-US" sz="1550" dirty="0"/>
          </a:p>
          <a:p>
            <a:pPr indent="0" marL="0">
              <a:lnSpc>
                <a:spcPct val="115000"/>
              </a:lnSpc>
              <a:buNone/>
            </a:pPr>
            <a:r>
              <a:rPr lang="en-US" sz="1550" dirty="0">
                <a:solidFill>
                  <a:srgbClr val="E4D6F5"/>
                </a:solidFill>
                <a:latin typeface="Calibri" pitchFamily="34" charset="0"/>
                <a:ea typeface="Calibri" pitchFamily="34" charset="-122"/>
                <a:cs typeface="Calibri" pitchFamily="34" charset="-120"/>
              </a:rPr>
              <a:t>3.  Increase n and repeat — the bell gets tighter.</a:t>
            </a:r>
            <a:endParaRPr lang="en-US" sz="1550" dirty="0"/>
          </a:p>
        </p:txBody>
      </p:sp>
      <p:sp>
        <p:nvSpPr>
          <p:cNvPr id="14" name="Text 12"/>
          <p:cNvSpPr txBox="1"/>
          <p:nvPr/>
        </p:nvSpPr>
        <p:spPr>
          <a:xfrm>
            <a:off x="11521440" y="6446520"/>
            <a:ext cx="548640" cy="320040"/>
          </a:xfrm>
          <a:prstGeom prst="rect">
            <a:avLst/>
          </a:prstGeom>
          <a:noFill/>
          <a:ln/>
        </p:spPr>
        <p:txBody>
          <a:bodyPr wrap="square" rtlCol="0" anchor="ctr"/>
          <a:lstStyle/>
          <a:p>
            <a:pPr algn="r" indent="0" marL="0">
              <a:buNone/>
            </a:pPr>
            <a:r>
              <a:rPr lang="en-US" sz="1100" dirty="0">
                <a:solidFill>
                  <a:srgbClr val="6B6480"/>
                </a:solidFill>
                <a:latin typeface="Calibri" pitchFamily="34" charset="0"/>
                <a:ea typeface="Calibri" pitchFamily="34" charset="-122"/>
                <a:cs typeface="Calibri" pitchFamily="34" charset="-120"/>
              </a:rPr>
              <a:t>8</a:t>
            </a:r>
            <a:endParaRPr lang="en-US" sz="1100" dirty="0"/>
          </a:p>
        </p:txBody>
      </p:sp>
      <p:sp>
        <p:nvSpPr>
          <p:cNvPr id="15" name="Text 13"/>
          <p:cNvSpPr txBox="1"/>
          <p:nvPr/>
        </p:nvSpPr>
        <p:spPr>
          <a:xfrm>
            <a:off x="457200" y="6446520"/>
            <a:ext cx="5486400" cy="320040"/>
          </a:xfrm>
          <a:prstGeom prst="rect">
            <a:avLst/>
          </a:prstGeom>
          <a:noFill/>
          <a:ln/>
        </p:spPr>
        <p:txBody>
          <a:bodyPr wrap="square" rtlCol="0" anchor="ctr"/>
          <a:lstStyle/>
          <a:p>
            <a:pPr indent="0" marL="0">
              <a:buNone/>
            </a:pPr>
            <a:r>
              <a:rPr lang="en-US" sz="1100" dirty="0">
                <a:solidFill>
                  <a:srgbClr val="6B6480"/>
                </a:solidFill>
                <a:latin typeface="Calibri" pitchFamily="34" charset="0"/>
                <a:ea typeface="Calibri" pitchFamily="34" charset="-122"/>
                <a:cs typeface="Calibri" pitchFamily="34" charset="-120"/>
              </a:rPr>
              <a:t>Topic 8 · Probability &amp; Statistics in ML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1942"/>
        </a:solidFill>
      </p:bgPr>
    </p:bg>
    <p:spTree>
      <p:nvGrpSpPr>
        <p:cNvPr id="1" name=""/>
        <p:cNvGrpSpPr/>
        <p:nvPr/>
      </p:nvGrpSpPr>
      <p:grpSpPr>
        <a:xfrm>
          <a:off x="0" y="0"/>
          <a:ext cx="0" cy="0"/>
          <a:chOff x="0" y="0"/>
          <a:chExt cx="0" cy="0"/>
        </a:xfrm>
      </p:grpSpPr>
      <p:sp>
        <p:nvSpPr>
          <p:cNvPr id="2" name="Shape 0"/>
          <p:cNvSpPr/>
          <p:nvPr/>
        </p:nvSpPr>
        <p:spPr>
          <a:xfrm>
            <a:off x="9418320" y="-1371600"/>
            <a:ext cx="4572000" cy="4572000"/>
          </a:xfrm>
          <a:prstGeom prst="ellipse">
            <a:avLst/>
          </a:prstGeom>
          <a:solidFill>
            <a:srgbClr val="F4A259">
              <a:alpha val="20000"/>
            </a:srgbClr>
          </a:solidFill>
          <a:ln/>
        </p:spPr>
      </p:sp>
      <p:sp>
        <p:nvSpPr>
          <p:cNvPr id="3" name="Shape 1"/>
          <p:cNvSpPr/>
          <p:nvPr/>
        </p:nvSpPr>
        <p:spPr>
          <a:xfrm>
            <a:off x="548640" y="502920"/>
            <a:ext cx="640080" cy="640080"/>
          </a:xfrm>
          <a:prstGeom prst="ellipse">
            <a:avLst/>
          </a:prstGeom>
          <a:solidFill>
            <a:srgbClr val="F4A259"/>
          </a:solidFill>
          <a:ln/>
        </p:spPr>
      </p:sp>
      <p:sp>
        <p:nvSpPr>
          <p:cNvPr id="4" name="Text 2"/>
          <p:cNvSpPr txBox="1"/>
          <p:nvPr/>
        </p:nvSpPr>
        <p:spPr>
          <a:xfrm>
            <a:off x="548640" y="49377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5" name="Text 3"/>
          <p:cNvSpPr txBox="1"/>
          <p:nvPr/>
        </p:nvSpPr>
        <p:spPr>
          <a:xfrm>
            <a:off x="1325880" y="45720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Case study: The A/B Test Detective</a:t>
            </a:r>
            <a:endParaRPr lang="en-US" sz="3000" dirty="0"/>
          </a:p>
        </p:txBody>
      </p:sp>
      <p:sp>
        <p:nvSpPr>
          <p:cNvPr id="6" name="Text 4"/>
          <p:cNvSpPr txBox="1"/>
          <p:nvPr/>
        </p:nvSpPr>
        <p:spPr>
          <a:xfrm>
            <a:off x="1371600" y="1234440"/>
            <a:ext cx="10058400" cy="365760"/>
          </a:xfrm>
          <a:prstGeom prst="rect">
            <a:avLst/>
          </a:prstGeom>
          <a:noFill/>
          <a:ln/>
        </p:spPr>
        <p:txBody>
          <a:bodyPr wrap="square" rtlCol="0" anchor="ctr"/>
          <a:lstStyle/>
          <a:p>
            <a:pPr indent="0" marL="0">
              <a:buNone/>
            </a:pPr>
            <a:r>
              <a:rPr lang="en-US" sz="1600" i="1" dirty="0">
                <a:solidFill>
                  <a:srgbClr val="E4D6F5"/>
                </a:solidFill>
                <a:latin typeface="Calibri" pitchFamily="34" charset="0"/>
                <a:ea typeface="Calibri" pitchFamily="34" charset="-122"/>
                <a:cs typeface="Calibri" pitchFamily="34" charset="-120"/>
              </a:rPr>
              <a:t>A model change looks better. Should you ship it — or is it just noise?</a:t>
            </a:r>
            <a:endParaRPr lang="en-US" sz="1600" dirty="0"/>
          </a:p>
        </p:txBody>
      </p:sp>
      <p:sp>
        <p:nvSpPr>
          <p:cNvPr id="7" name="Shape 5"/>
          <p:cNvSpPr/>
          <p:nvPr/>
        </p:nvSpPr>
        <p:spPr>
          <a:xfrm>
            <a:off x="640080" y="1874520"/>
            <a:ext cx="5394960" cy="4114800"/>
          </a:xfrm>
          <a:prstGeom prst="roundRect">
            <a:avLst>
              <a:gd name="adj" fmla="val 3111"/>
            </a:avLst>
          </a:prstGeom>
          <a:solidFill>
            <a:srgbClr val="FFFFFF">
              <a:alpha val="8000"/>
            </a:srgbClr>
          </a:solidFill>
          <a:ln/>
        </p:spPr>
      </p:sp>
      <p:sp>
        <p:nvSpPr>
          <p:cNvPr id="8" name="Text 6"/>
          <p:cNvSpPr txBox="1"/>
          <p:nvPr/>
        </p:nvSpPr>
        <p:spPr>
          <a:xfrm>
            <a:off x="914400" y="2103120"/>
            <a:ext cx="4846320" cy="457200"/>
          </a:xfrm>
          <a:prstGeom prst="rect">
            <a:avLst/>
          </a:prstGeom>
          <a:noFill/>
          <a:ln/>
        </p:spPr>
        <p:txBody>
          <a:bodyPr wrap="square" rtlCol="0" anchor="ctr"/>
          <a:lstStyle/>
          <a:p>
            <a:pPr indent="0" marL="0">
              <a:buNone/>
            </a:pPr>
            <a:r>
              <a:rPr lang="en-US" sz="1900" b="1" dirty="0">
                <a:solidFill>
                  <a:srgbClr val="F4C79A"/>
                </a:solidFill>
                <a:latin typeface="Calibri" pitchFamily="34" charset="0"/>
                <a:ea typeface="Calibri" pitchFamily="34" charset="-122"/>
                <a:cs typeface="Calibri" pitchFamily="34" charset="-120"/>
              </a:rPr>
              <a:t>The scenario</a:t>
            </a:r>
            <a:endParaRPr lang="en-US" sz="1900" dirty="0"/>
          </a:p>
        </p:txBody>
      </p:sp>
      <p:sp>
        <p:nvSpPr>
          <p:cNvPr id="9" name="Text 7"/>
          <p:cNvSpPr txBox="1"/>
          <p:nvPr/>
        </p:nvSpPr>
        <p:spPr>
          <a:xfrm>
            <a:off x="914400" y="2606040"/>
            <a:ext cx="4846320" cy="3108960"/>
          </a:xfrm>
          <a:prstGeom prst="rect">
            <a:avLst/>
          </a:prstGeom>
          <a:noFill/>
          <a:ln/>
        </p:spPr>
        <p:txBody>
          <a:bodyPr wrap="square" rtlCol="0" anchor="t"/>
          <a:lstStyle/>
          <a:p>
            <a:pPr indent="0" marL="0">
              <a:buNone/>
            </a:pPr>
            <a:r>
              <a:rPr lang="en-US" sz="1600" dirty="0">
                <a:solidFill>
                  <a:srgbClr val="E4D6F5"/>
                </a:solidFill>
                <a:latin typeface="Calibri" pitchFamily="34" charset="0"/>
                <a:ea typeface="Calibri" pitchFamily="34" charset="-122"/>
                <a:cs typeface="Calibri" pitchFamily="34" charset="-120"/>
              </a:rPr>
              <a:t>Your team tests two versions of a recommendation model:
</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Model A </a:t>
            </a:r>
            <a:pPr indent="0" marL="0">
              <a:buNone/>
            </a:pPr>
            <a:r>
              <a:rPr lang="en-US" sz="1600" dirty="0">
                <a:solidFill>
                  <a:srgbClr val="E4D6F5"/>
                </a:solidFill>
                <a:latin typeface="Calibri" pitchFamily="34" charset="0"/>
                <a:ea typeface="Calibri" pitchFamily="34" charset="-122"/>
                <a:cs typeface="Calibri" pitchFamily="34" charset="-120"/>
              </a:rPr>
              <a:t>(current)  vs  </a:t>
            </a:r>
            <a:pPr indent="0" marL="0">
              <a:buNone/>
            </a:pPr>
            <a:r>
              <a:rPr lang="en-US" sz="1600" b="1" dirty="0">
                <a:solidFill>
                  <a:srgbClr val="FFFFFF"/>
                </a:solidFill>
                <a:latin typeface="Calibri" pitchFamily="34" charset="0"/>
                <a:ea typeface="Calibri" pitchFamily="34" charset="-122"/>
                <a:cs typeface="Calibri" pitchFamily="34" charset="-120"/>
              </a:rPr>
              <a:t>Model B </a:t>
            </a:r>
            <a:pPr indent="0" marL="0">
              <a:buNone/>
            </a:pPr>
            <a:r>
              <a:rPr lang="en-US" sz="1600" dirty="0">
                <a:solidFill>
                  <a:srgbClr val="E4D6F5"/>
                </a:solidFill>
                <a:latin typeface="Calibri" pitchFamily="34" charset="0"/>
                <a:ea typeface="Calibri" pitchFamily="34" charset="-122"/>
                <a:cs typeface="Calibri" pitchFamily="34" charset="-120"/>
              </a:rPr>
              <a:t>(new)
</a:t>
            </a:r>
            <a:pPr indent="0" marL="0">
              <a:buNone/>
            </a:pPr>
            <a:r>
              <a:rPr lang="en-US" sz="1600" dirty="0">
                <a:solidFill>
                  <a:srgbClr val="E4D6F5"/>
                </a:solidFill>
                <a:latin typeface="Calibri" pitchFamily="34" charset="0"/>
                <a:ea typeface="Calibri" pitchFamily="34" charset="-122"/>
                <a:cs typeface="Calibri" pitchFamily="34" charset="-120"/>
              </a:rPr>
              <a:t>B shows a higher click-through rate.
</a:t>
            </a:r>
            <a:pPr indent="0" marL="0">
              <a:buNone/>
            </a:pPr>
            <a:r>
              <a:rPr lang="en-US" sz="2000" b="1" dirty="0">
                <a:solidFill>
                  <a:srgbClr val="F4A259"/>
                </a:solidFill>
                <a:latin typeface="Calibri" pitchFamily="34" charset="0"/>
                <a:ea typeface="Calibri" pitchFamily="34" charset="-122"/>
                <a:cs typeface="Calibri" pitchFamily="34" charset="-120"/>
              </a:rPr>
              <a:t>Ship it?</a:t>
            </a:r>
            <a:endParaRPr lang="en-US" sz="1600" dirty="0"/>
          </a:p>
        </p:txBody>
      </p:sp>
      <p:sp>
        <p:nvSpPr>
          <p:cNvPr id="10" name="Shape 8"/>
          <p:cNvSpPr/>
          <p:nvPr/>
        </p:nvSpPr>
        <p:spPr>
          <a:xfrm>
            <a:off x="6309360" y="1874520"/>
            <a:ext cx="5303520" cy="4114800"/>
          </a:xfrm>
          <a:prstGeom prst="roundRect">
            <a:avLst>
              <a:gd name="adj" fmla="val 3111"/>
            </a:avLst>
          </a:prstGeom>
          <a:solidFill>
            <a:srgbClr val="FFFFFF">
              <a:alpha val="8000"/>
            </a:srgbClr>
          </a:solidFill>
          <a:ln/>
        </p:spPr>
      </p:sp>
      <p:sp>
        <p:nvSpPr>
          <p:cNvPr id="11" name="Text 9"/>
          <p:cNvSpPr txBox="1"/>
          <p:nvPr/>
        </p:nvSpPr>
        <p:spPr>
          <a:xfrm>
            <a:off x="6583680" y="2103120"/>
            <a:ext cx="4754880" cy="457200"/>
          </a:xfrm>
          <a:prstGeom prst="rect">
            <a:avLst/>
          </a:prstGeom>
          <a:noFill/>
          <a:ln/>
        </p:spPr>
        <p:txBody>
          <a:bodyPr wrap="square" rtlCol="0" anchor="ctr"/>
          <a:lstStyle/>
          <a:p>
            <a:pPr indent="0" marL="0">
              <a:buNone/>
            </a:pPr>
            <a:r>
              <a:rPr lang="en-US" sz="1900" b="1" dirty="0">
                <a:solidFill>
                  <a:srgbClr val="F4C79A"/>
                </a:solidFill>
                <a:latin typeface="Calibri" pitchFamily="34" charset="0"/>
                <a:ea typeface="Calibri" pitchFamily="34" charset="-122"/>
                <a:cs typeface="Calibri" pitchFamily="34" charset="-120"/>
              </a:rPr>
              <a:t>Your investigation</a:t>
            </a:r>
            <a:endParaRPr lang="en-US" sz="1900" dirty="0"/>
          </a:p>
        </p:txBody>
      </p:sp>
      <p:sp>
        <p:nvSpPr>
          <p:cNvPr id="12" name="Shape 10"/>
          <p:cNvSpPr/>
          <p:nvPr/>
        </p:nvSpPr>
        <p:spPr>
          <a:xfrm>
            <a:off x="6583680" y="2651760"/>
            <a:ext cx="548640" cy="548640"/>
          </a:xfrm>
          <a:prstGeom prst="ellipse">
            <a:avLst/>
          </a:prstGeom>
          <a:solidFill>
            <a:srgbClr val="F4A259"/>
          </a:solidFill>
          <a:ln/>
        </p:spPr>
      </p:sp>
      <p:sp>
        <p:nvSpPr>
          <p:cNvPr id="13" name="Text 11"/>
          <p:cNvSpPr txBox="1"/>
          <p:nvPr/>
        </p:nvSpPr>
        <p:spPr>
          <a:xfrm>
            <a:off x="6583680" y="2651760"/>
            <a:ext cx="548640" cy="548640"/>
          </a:xfrm>
          <a:prstGeom prst="rect">
            <a:avLst/>
          </a:prstGeom>
          <a:noFill/>
          <a:ln/>
        </p:spPr>
        <p:txBody>
          <a:bodyPr wrap="square" lIns="0" tIns="0" rIns="0" bIns="0" rtlCol="0" anchor="ctr"/>
          <a:lstStyle/>
          <a:p>
            <a:pPr algn="ctr" indent="0" marL="0">
              <a:buNone/>
            </a:pPr>
            <a:r>
              <a:rPr lang="en-US" sz="2200" b="1" dirty="0">
                <a:solidFill>
                  <a:srgbClr val="231942"/>
                </a:solidFill>
                <a:latin typeface="Cambria" pitchFamily="34" charset="0"/>
                <a:ea typeface="Cambria" pitchFamily="34" charset="-122"/>
                <a:cs typeface="Cambria" pitchFamily="34" charset="-120"/>
              </a:rPr>
              <a:t>1</a:t>
            </a:r>
            <a:endParaRPr lang="en-US" sz="2200" dirty="0"/>
          </a:p>
        </p:txBody>
      </p:sp>
      <p:sp>
        <p:nvSpPr>
          <p:cNvPr id="14" name="Text 12"/>
          <p:cNvSpPr txBox="1"/>
          <p:nvPr/>
        </p:nvSpPr>
        <p:spPr>
          <a:xfrm>
            <a:off x="7269480" y="2651760"/>
            <a:ext cx="4114800" cy="82296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Compute the descriptive stats for A and B</a:t>
            </a:r>
            <a:endParaRPr lang="en-US" sz="1550" dirty="0"/>
          </a:p>
        </p:txBody>
      </p:sp>
      <p:sp>
        <p:nvSpPr>
          <p:cNvPr id="15" name="Shape 13"/>
          <p:cNvSpPr/>
          <p:nvPr/>
        </p:nvSpPr>
        <p:spPr>
          <a:xfrm>
            <a:off x="6583680" y="3703320"/>
            <a:ext cx="548640" cy="548640"/>
          </a:xfrm>
          <a:prstGeom prst="ellipse">
            <a:avLst/>
          </a:prstGeom>
          <a:solidFill>
            <a:srgbClr val="F4A259"/>
          </a:solidFill>
          <a:ln/>
        </p:spPr>
      </p:sp>
      <p:sp>
        <p:nvSpPr>
          <p:cNvPr id="16" name="Text 14"/>
          <p:cNvSpPr txBox="1"/>
          <p:nvPr/>
        </p:nvSpPr>
        <p:spPr>
          <a:xfrm>
            <a:off x="6583680" y="3703320"/>
            <a:ext cx="548640" cy="548640"/>
          </a:xfrm>
          <a:prstGeom prst="rect">
            <a:avLst/>
          </a:prstGeom>
          <a:noFill/>
          <a:ln/>
        </p:spPr>
        <p:txBody>
          <a:bodyPr wrap="square" lIns="0" tIns="0" rIns="0" bIns="0" rtlCol="0" anchor="ctr"/>
          <a:lstStyle/>
          <a:p>
            <a:pPr algn="ctr" indent="0" marL="0">
              <a:buNone/>
            </a:pPr>
            <a:r>
              <a:rPr lang="en-US" sz="2200" b="1" dirty="0">
                <a:solidFill>
                  <a:srgbClr val="231942"/>
                </a:solidFill>
                <a:latin typeface="Cambria" pitchFamily="34" charset="0"/>
                <a:ea typeface="Cambria" pitchFamily="34" charset="-122"/>
                <a:cs typeface="Cambria" pitchFamily="34" charset="-120"/>
              </a:rPr>
              <a:t>2</a:t>
            </a:r>
            <a:endParaRPr lang="en-US" sz="2200" dirty="0"/>
          </a:p>
        </p:txBody>
      </p:sp>
      <p:sp>
        <p:nvSpPr>
          <p:cNvPr id="17" name="Text 15"/>
          <p:cNvSpPr txBox="1"/>
          <p:nvPr/>
        </p:nvSpPr>
        <p:spPr>
          <a:xfrm>
            <a:off x="7269480" y="3703320"/>
            <a:ext cx="4114800" cy="82296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Decide: is the difference REAL or just noise?</a:t>
            </a:r>
            <a:endParaRPr lang="en-US" sz="1550" dirty="0"/>
          </a:p>
        </p:txBody>
      </p:sp>
      <p:sp>
        <p:nvSpPr>
          <p:cNvPr id="18" name="Shape 16"/>
          <p:cNvSpPr/>
          <p:nvPr/>
        </p:nvSpPr>
        <p:spPr>
          <a:xfrm>
            <a:off x="6583680" y="4754880"/>
            <a:ext cx="548640" cy="548640"/>
          </a:xfrm>
          <a:prstGeom prst="ellipse">
            <a:avLst/>
          </a:prstGeom>
          <a:solidFill>
            <a:srgbClr val="F4A259"/>
          </a:solidFill>
          <a:ln/>
        </p:spPr>
      </p:sp>
      <p:sp>
        <p:nvSpPr>
          <p:cNvPr id="19" name="Text 17"/>
          <p:cNvSpPr txBox="1"/>
          <p:nvPr/>
        </p:nvSpPr>
        <p:spPr>
          <a:xfrm>
            <a:off x="6583680" y="4754880"/>
            <a:ext cx="548640" cy="548640"/>
          </a:xfrm>
          <a:prstGeom prst="rect">
            <a:avLst/>
          </a:prstGeom>
          <a:noFill/>
          <a:ln/>
        </p:spPr>
        <p:txBody>
          <a:bodyPr wrap="square" lIns="0" tIns="0" rIns="0" bIns="0" rtlCol="0" anchor="ctr"/>
          <a:lstStyle/>
          <a:p>
            <a:pPr algn="ctr" indent="0" marL="0">
              <a:buNone/>
            </a:pPr>
            <a:r>
              <a:rPr lang="en-US" sz="2200" b="1" dirty="0">
                <a:solidFill>
                  <a:srgbClr val="231942"/>
                </a:solidFill>
                <a:latin typeface="Cambria" pitchFamily="34" charset="0"/>
                <a:ea typeface="Cambria" pitchFamily="34" charset="-122"/>
                <a:cs typeface="Cambria" pitchFamily="34" charset="-120"/>
              </a:rPr>
              <a:t>3</a:t>
            </a:r>
            <a:endParaRPr lang="en-US" sz="2200" dirty="0"/>
          </a:p>
        </p:txBody>
      </p:sp>
      <p:sp>
        <p:nvSpPr>
          <p:cNvPr id="20" name="Text 18"/>
          <p:cNvSpPr txBox="1"/>
          <p:nvPr/>
        </p:nvSpPr>
        <p:spPr>
          <a:xfrm>
            <a:off x="7269480" y="4754880"/>
            <a:ext cx="4114800" cy="82296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Find at least one hidden trap in your data</a:t>
            </a:r>
            <a:endParaRPr lang="en-US" sz="1550" dirty="0"/>
          </a:p>
        </p:txBody>
      </p:sp>
      <p:sp>
        <p:nvSpPr>
          <p:cNvPr id="21" name="Text 19"/>
          <p:cNvSpPr txBox="1"/>
          <p:nvPr/>
        </p:nvSpPr>
        <p:spPr>
          <a:xfrm>
            <a:off x="6583680" y="5532120"/>
            <a:ext cx="4937760" cy="457200"/>
          </a:xfrm>
          <a:prstGeom prst="rect">
            <a:avLst/>
          </a:prstGeom>
          <a:noFill/>
          <a:ln/>
        </p:spPr>
        <p:txBody>
          <a:bodyPr wrap="square" rtlCol="0" anchor="ctr"/>
          <a:lstStyle/>
          <a:p>
            <a:pPr indent="0" marL="0">
              <a:buNone/>
            </a:pPr>
            <a:r>
              <a:rPr lang="en-US" sz="1250" i="1" dirty="0">
                <a:solidFill>
                  <a:srgbClr val="C9A9E8"/>
                </a:solidFill>
                <a:latin typeface="Calibri" pitchFamily="34" charset="0"/>
                <a:ea typeface="Calibri" pitchFamily="34" charset="-122"/>
                <a:cs typeface="Calibri" pitchFamily="34" charset="-120"/>
              </a:rPr>
              <a:t>⚠️ Some datasets have traps planted. Different rooms may reach different verdicts — and defend them.</a:t>
            </a:r>
            <a:endParaRPr lang="en-US" sz="1250" dirty="0"/>
          </a:p>
        </p:txBody>
      </p:sp>
      <p:sp>
        <p:nvSpPr>
          <p:cNvPr id="22" name="Text 20"/>
          <p:cNvSpPr txBox="1"/>
          <p:nvPr/>
        </p:nvSpPr>
        <p:spPr>
          <a:xfrm>
            <a:off x="11521440" y="6446520"/>
            <a:ext cx="548640" cy="320040"/>
          </a:xfrm>
          <a:prstGeom prst="rect">
            <a:avLst/>
          </a:prstGeom>
          <a:noFill/>
          <a:ln/>
        </p:spPr>
        <p:txBody>
          <a:bodyPr wrap="square" rtlCol="0" anchor="ctr"/>
          <a:lstStyle/>
          <a:p>
            <a:pPr algn="r" indent="0" marL="0">
              <a:buNone/>
            </a:pPr>
            <a:r>
              <a:rPr lang="en-US" sz="1100" dirty="0">
                <a:solidFill>
                  <a:srgbClr val="6B6480"/>
                </a:solidFill>
                <a:latin typeface="Calibri" pitchFamily="34" charset="0"/>
                <a:ea typeface="Calibri" pitchFamily="34" charset="-122"/>
                <a:cs typeface="Calibri" pitchFamily="34" charset="-120"/>
              </a:rPr>
              <a:t>9</a:t>
            </a:r>
            <a:endParaRPr lang="en-US" sz="1100" dirty="0"/>
          </a:p>
        </p:txBody>
      </p:sp>
      <p:sp>
        <p:nvSpPr>
          <p:cNvPr id="23" name="Text 21"/>
          <p:cNvSpPr txBox="1"/>
          <p:nvPr/>
        </p:nvSpPr>
        <p:spPr>
          <a:xfrm>
            <a:off x="457200" y="6446520"/>
            <a:ext cx="5486400" cy="320040"/>
          </a:xfrm>
          <a:prstGeom prst="rect">
            <a:avLst/>
          </a:prstGeom>
          <a:noFill/>
          <a:ln/>
        </p:spPr>
        <p:txBody>
          <a:bodyPr wrap="square" rtlCol="0" anchor="ctr"/>
          <a:lstStyle/>
          <a:p>
            <a:pPr indent="0" marL="0">
              <a:buNone/>
            </a:pPr>
            <a:r>
              <a:rPr lang="en-US" sz="1100" dirty="0">
                <a:solidFill>
                  <a:srgbClr val="6B6480"/>
                </a:solidFill>
                <a:latin typeface="Calibri" pitchFamily="34" charset="0"/>
                <a:ea typeface="Calibri" pitchFamily="34" charset="-122"/>
                <a:cs typeface="Calibri" pitchFamily="34" charset="-120"/>
              </a:rPr>
              <a:t>Topic 8 · Probability &amp; Statistics in ML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F4A259"/>
          </a:solidFill>
          <a:ln/>
        </p:spPr>
      </p:sp>
      <p:sp>
        <p:nvSpPr>
          <p:cNvPr id="3" name="Text 1"/>
          <p:cNvSpPr txBox="1"/>
          <p:nvPr/>
        </p:nvSpPr>
        <p:spPr>
          <a:xfrm>
            <a:off x="548640" y="44805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txBox="1"/>
          <p:nvPr/>
        </p:nvSpPr>
        <p:spPr>
          <a:xfrm>
            <a:off x="1325880" y="411480"/>
            <a:ext cx="10058400" cy="731520"/>
          </a:xfrm>
          <a:prstGeom prst="rect">
            <a:avLst/>
          </a:prstGeom>
          <a:noFill/>
          <a:ln/>
        </p:spPr>
        <p:txBody>
          <a:bodyPr wrap="square" rtlCol="0" anchor="ctr"/>
          <a:lstStyle/>
          <a:p>
            <a:pPr indent="0" marL="0">
              <a:buNone/>
            </a:pPr>
            <a:r>
              <a:rPr lang="en-US" sz="3200" b="1" dirty="0">
                <a:solidFill>
                  <a:srgbClr val="231942"/>
                </a:solidFill>
                <a:latin typeface="Cambria" pitchFamily="34" charset="0"/>
                <a:ea typeface="Cambria" pitchFamily="34" charset="-122"/>
                <a:cs typeface="Cambria" pitchFamily="34" charset="-120"/>
              </a:rPr>
              <a:t>Breakout: 4 teams, 4 datasets</a:t>
            </a:r>
            <a:endParaRPr lang="en-US" sz="3200" dirty="0"/>
          </a:p>
        </p:txBody>
      </p:sp>
      <p:sp>
        <p:nvSpPr>
          <p:cNvPr id="5" name="Text 3"/>
          <p:cNvSpPr txBox="1"/>
          <p:nvPr/>
        </p:nvSpPr>
        <p:spPr>
          <a:xfrm>
            <a:off x="566928" y="1234440"/>
            <a:ext cx="10972800" cy="365760"/>
          </a:xfrm>
          <a:prstGeom prst="rect">
            <a:avLst/>
          </a:prstGeom>
          <a:noFill/>
          <a:ln/>
        </p:spPr>
        <p:txBody>
          <a:bodyPr wrap="square" rtlCol="0" anchor="ctr"/>
          <a:lstStyle/>
          <a:p>
            <a:pPr indent="0" marL="0">
              <a:buNone/>
            </a:pPr>
            <a:r>
              <a:rPr lang="en-US" sz="1500" i="1" dirty="0">
                <a:solidFill>
                  <a:srgbClr val="6B6480"/>
                </a:solidFill>
                <a:latin typeface="Calibri" pitchFamily="34" charset="0"/>
                <a:ea typeface="Calibri" pitchFamily="34" charset="-122"/>
                <a:cs typeface="Calibri" pitchFamily="34" charset="-120"/>
              </a:rPr>
              <a:t>Each team gets a different dataset. Reach a verdict, then defend it in the reveal.</a:t>
            </a:r>
            <a:endParaRPr lang="en-US" sz="1500" dirty="0"/>
          </a:p>
        </p:txBody>
      </p:sp>
      <p:sp>
        <p:nvSpPr>
          <p:cNvPr id="6" name="Shape 4"/>
          <p:cNvSpPr/>
          <p:nvPr/>
        </p:nvSpPr>
        <p:spPr>
          <a:xfrm>
            <a:off x="640080" y="1828800"/>
            <a:ext cx="2606040" cy="3108960"/>
          </a:xfrm>
          <a:prstGeom prst="roundRect">
            <a:avLst>
              <a:gd name="adj" fmla="val 4912"/>
            </a:avLst>
          </a:prstGeom>
          <a:solidFill>
            <a:srgbClr val="F0ECF7"/>
          </a:solidFill>
          <a:ln w="25400">
            <a:solidFill>
              <a:srgbClr val="2A9D8F"/>
            </a:solidFill>
            <a:prstDash val="solid"/>
          </a:ln>
        </p:spPr>
      </p:sp>
      <p:sp>
        <p:nvSpPr>
          <p:cNvPr id="7" name="Text 5"/>
          <p:cNvSpPr txBox="1"/>
          <p:nvPr/>
        </p:nvSpPr>
        <p:spPr>
          <a:xfrm>
            <a:off x="777240" y="2011680"/>
            <a:ext cx="2331720" cy="411480"/>
          </a:xfrm>
          <a:prstGeom prst="rect">
            <a:avLst/>
          </a:prstGeom>
          <a:noFill/>
          <a:ln/>
        </p:spPr>
        <p:txBody>
          <a:bodyPr wrap="square" rtlCol="0" anchor="ctr"/>
          <a:lstStyle/>
          <a:p>
            <a:pPr algn="ctr" indent="0" marL="0">
              <a:buNone/>
            </a:pPr>
            <a:r>
              <a:rPr lang="en-US" sz="1700" b="1" dirty="0">
                <a:solidFill>
                  <a:srgbClr val="2A9D8F"/>
                </a:solidFill>
                <a:latin typeface="Calibri" pitchFamily="34" charset="0"/>
                <a:ea typeface="Calibri" pitchFamily="34" charset="-122"/>
                <a:cs typeface="Calibri" pitchFamily="34" charset="-120"/>
              </a:rPr>
              <a:t>Team 1</a:t>
            </a:r>
            <a:endParaRPr lang="en-US" sz="1700" dirty="0"/>
          </a:p>
        </p:txBody>
      </p:sp>
      <p:sp>
        <p:nvSpPr>
          <p:cNvPr id="8" name="Shape 6"/>
          <p:cNvSpPr/>
          <p:nvPr/>
        </p:nvSpPr>
        <p:spPr>
          <a:xfrm>
            <a:off x="868680" y="2514600"/>
            <a:ext cx="2148840" cy="1234440"/>
          </a:xfrm>
          <a:prstGeom prst="roundRect">
            <a:avLst>
              <a:gd name="adj" fmla="val 7407"/>
            </a:avLst>
          </a:prstGeom>
          <a:solidFill>
            <a:srgbClr val="FFFFFF"/>
          </a:solidFill>
          <a:ln/>
        </p:spPr>
      </p:sp>
      <p:sp>
        <p:nvSpPr>
          <p:cNvPr id="9" name="Text 7"/>
          <p:cNvSpPr txBox="1"/>
          <p:nvPr/>
        </p:nvSpPr>
        <p:spPr>
          <a:xfrm>
            <a:off x="914400" y="2514600"/>
            <a:ext cx="2057400" cy="1234440"/>
          </a:xfrm>
          <a:prstGeom prst="rect">
            <a:avLst/>
          </a:prstGeom>
          <a:noFill/>
          <a:ln/>
        </p:spPr>
        <p:txBody>
          <a:bodyPr wrap="square" lIns="0" tIns="0" rIns="0" bIns="0" rtlCol="0" anchor="ctr"/>
          <a:lstStyle/>
          <a:p>
            <a:pPr algn="ctr" indent="0" marL="0">
              <a:buNone/>
            </a:pPr>
            <a:r>
              <a:rPr lang="en-US" sz="1450" b="1" dirty="0">
                <a:solidFill>
                  <a:srgbClr val="231942"/>
                </a:solidFill>
                <a:latin typeface="Cambria" pitchFamily="34" charset="0"/>
                <a:ea typeface="Cambria" pitchFamily="34" charset="-122"/>
                <a:cs typeface="Cambria" pitchFamily="34" charset="-120"/>
              </a:rPr>
              <a:t>A: 100/1000</a:t>
            </a:r>
            <a:endParaRPr lang="en-US" sz="1450" dirty="0"/>
          </a:p>
          <a:p>
            <a:pPr algn="ctr" indent="0" marL="0">
              <a:buNone/>
            </a:pPr>
            <a:r>
              <a:rPr lang="en-US" sz="1450" b="1" dirty="0">
                <a:solidFill>
                  <a:srgbClr val="231942"/>
                </a:solidFill>
                <a:latin typeface="Cambria" pitchFamily="34" charset="0"/>
                <a:ea typeface="Cambria" pitchFamily="34" charset="-122"/>
                <a:cs typeface="Cambria" pitchFamily="34" charset="-120"/>
              </a:rPr>
              <a:t>B: 130/1000</a:t>
            </a:r>
            <a:endParaRPr lang="en-US" sz="1450" dirty="0"/>
          </a:p>
        </p:txBody>
      </p:sp>
      <p:sp>
        <p:nvSpPr>
          <p:cNvPr id="10" name="Text 8"/>
          <p:cNvSpPr txBox="1"/>
          <p:nvPr/>
        </p:nvSpPr>
        <p:spPr>
          <a:xfrm>
            <a:off x="868680" y="3886200"/>
            <a:ext cx="2148840" cy="960120"/>
          </a:xfrm>
          <a:prstGeom prst="rect">
            <a:avLst/>
          </a:prstGeom>
          <a:noFill/>
          <a:ln/>
        </p:spPr>
        <p:txBody>
          <a:bodyPr wrap="square" rtlCol="0" anchor="t"/>
          <a:lstStyle/>
          <a:p>
            <a:pPr algn="ctr" indent="0" marL="0">
              <a:buNone/>
            </a:pPr>
            <a:r>
              <a:rPr lang="en-US" sz="1250" i="1" dirty="0">
                <a:solidFill>
                  <a:srgbClr val="6B6480"/>
                </a:solidFill>
                <a:latin typeface="Calibri" pitchFamily="34" charset="0"/>
                <a:ea typeface="Calibri" pitchFamily="34" charset="-122"/>
                <a:cs typeface="Calibri" pitchFamily="34" charset="-120"/>
              </a:rPr>
              <a:t>Clean — B genuinely better</a:t>
            </a:r>
            <a:endParaRPr lang="en-US" sz="1250" dirty="0"/>
          </a:p>
        </p:txBody>
      </p:sp>
      <p:sp>
        <p:nvSpPr>
          <p:cNvPr id="11" name="Shape 9"/>
          <p:cNvSpPr/>
          <p:nvPr/>
        </p:nvSpPr>
        <p:spPr>
          <a:xfrm>
            <a:off x="3429000" y="1828800"/>
            <a:ext cx="2606040" cy="3108960"/>
          </a:xfrm>
          <a:prstGeom prst="roundRect">
            <a:avLst>
              <a:gd name="adj" fmla="val 4912"/>
            </a:avLst>
          </a:prstGeom>
          <a:solidFill>
            <a:srgbClr val="F0ECF7"/>
          </a:solidFill>
          <a:ln w="25400">
            <a:solidFill>
              <a:srgbClr val="E76F51"/>
            </a:solidFill>
            <a:prstDash val="solid"/>
          </a:ln>
        </p:spPr>
      </p:sp>
      <p:sp>
        <p:nvSpPr>
          <p:cNvPr id="12" name="Text 10"/>
          <p:cNvSpPr txBox="1"/>
          <p:nvPr/>
        </p:nvSpPr>
        <p:spPr>
          <a:xfrm>
            <a:off x="3566160" y="2011680"/>
            <a:ext cx="2331720" cy="411480"/>
          </a:xfrm>
          <a:prstGeom prst="rect">
            <a:avLst/>
          </a:prstGeom>
          <a:noFill/>
          <a:ln/>
        </p:spPr>
        <p:txBody>
          <a:bodyPr wrap="square" rtlCol="0" anchor="ctr"/>
          <a:lstStyle/>
          <a:p>
            <a:pPr algn="ctr" indent="0" marL="0">
              <a:buNone/>
            </a:pPr>
            <a:r>
              <a:rPr lang="en-US" sz="1700" b="1" dirty="0">
                <a:solidFill>
                  <a:srgbClr val="E76F51"/>
                </a:solidFill>
                <a:latin typeface="Calibri" pitchFamily="34" charset="0"/>
                <a:ea typeface="Calibri" pitchFamily="34" charset="-122"/>
                <a:cs typeface="Calibri" pitchFamily="34" charset="-120"/>
              </a:rPr>
              <a:t>Team 2</a:t>
            </a:r>
            <a:endParaRPr lang="en-US" sz="1700" dirty="0"/>
          </a:p>
        </p:txBody>
      </p:sp>
      <p:sp>
        <p:nvSpPr>
          <p:cNvPr id="13" name="Shape 11"/>
          <p:cNvSpPr/>
          <p:nvPr/>
        </p:nvSpPr>
        <p:spPr>
          <a:xfrm>
            <a:off x="3657600" y="2514600"/>
            <a:ext cx="2148840" cy="1234440"/>
          </a:xfrm>
          <a:prstGeom prst="roundRect">
            <a:avLst>
              <a:gd name="adj" fmla="val 7407"/>
            </a:avLst>
          </a:prstGeom>
          <a:solidFill>
            <a:srgbClr val="FFFFFF"/>
          </a:solidFill>
          <a:ln/>
        </p:spPr>
      </p:sp>
      <p:sp>
        <p:nvSpPr>
          <p:cNvPr id="14" name="Text 12"/>
          <p:cNvSpPr txBox="1"/>
          <p:nvPr/>
        </p:nvSpPr>
        <p:spPr>
          <a:xfrm>
            <a:off x="3703320" y="2514600"/>
            <a:ext cx="2057400" cy="1234440"/>
          </a:xfrm>
          <a:prstGeom prst="rect">
            <a:avLst/>
          </a:prstGeom>
          <a:noFill/>
          <a:ln/>
        </p:spPr>
        <p:txBody>
          <a:bodyPr wrap="square" lIns="0" tIns="0" rIns="0" bIns="0" rtlCol="0" anchor="ctr"/>
          <a:lstStyle/>
          <a:p>
            <a:pPr algn="ctr" indent="0" marL="0">
              <a:buNone/>
            </a:pPr>
            <a:r>
              <a:rPr lang="en-US" sz="1450" b="1" dirty="0">
                <a:solidFill>
                  <a:srgbClr val="231942"/>
                </a:solidFill>
                <a:latin typeface="Cambria" pitchFamily="34" charset="0"/>
                <a:ea typeface="Cambria" pitchFamily="34" charset="-122"/>
                <a:cs typeface="Cambria" pitchFamily="34" charset="-120"/>
              </a:rPr>
              <a:t>A: 100/1000</a:t>
            </a:r>
            <a:endParaRPr lang="en-US" sz="1450" dirty="0"/>
          </a:p>
          <a:p>
            <a:pPr algn="ctr" indent="0" marL="0">
              <a:buNone/>
            </a:pPr>
            <a:r>
              <a:rPr lang="en-US" sz="1450" b="1" dirty="0">
                <a:solidFill>
                  <a:srgbClr val="231942"/>
                </a:solidFill>
                <a:latin typeface="Cambria" pitchFamily="34" charset="0"/>
                <a:ea typeface="Cambria" pitchFamily="34" charset="-122"/>
                <a:cs typeface="Cambria" pitchFamily="34" charset="-120"/>
              </a:rPr>
              <a:t>B: 13/100</a:t>
            </a:r>
            <a:endParaRPr lang="en-US" sz="1450" dirty="0"/>
          </a:p>
        </p:txBody>
      </p:sp>
      <p:sp>
        <p:nvSpPr>
          <p:cNvPr id="15" name="Text 13"/>
          <p:cNvSpPr txBox="1"/>
          <p:nvPr/>
        </p:nvSpPr>
        <p:spPr>
          <a:xfrm>
            <a:off x="3657600" y="3886200"/>
            <a:ext cx="2148840" cy="960120"/>
          </a:xfrm>
          <a:prstGeom prst="rect">
            <a:avLst/>
          </a:prstGeom>
          <a:noFill/>
          <a:ln/>
        </p:spPr>
        <p:txBody>
          <a:bodyPr wrap="square" rtlCol="0" anchor="t"/>
          <a:lstStyle/>
          <a:p>
            <a:pPr algn="ctr" indent="0" marL="0">
              <a:buNone/>
            </a:pPr>
            <a:r>
              <a:rPr lang="en-US" sz="1250" i="1" dirty="0">
                <a:solidFill>
                  <a:srgbClr val="6B6480"/>
                </a:solidFill>
                <a:latin typeface="Calibri" pitchFamily="34" charset="0"/>
                <a:ea typeface="Calibri" pitchFamily="34" charset="-122"/>
                <a:cs typeface="Calibri" pitchFamily="34" charset="-120"/>
              </a:rPr>
              <a:t>B's sample is TINY — not reliable</a:t>
            </a:r>
            <a:endParaRPr lang="en-US" sz="1250" dirty="0"/>
          </a:p>
        </p:txBody>
      </p:sp>
      <p:sp>
        <p:nvSpPr>
          <p:cNvPr id="16" name="Shape 14"/>
          <p:cNvSpPr/>
          <p:nvPr/>
        </p:nvSpPr>
        <p:spPr>
          <a:xfrm>
            <a:off x="6217920" y="1828800"/>
            <a:ext cx="2606040" cy="3108960"/>
          </a:xfrm>
          <a:prstGeom prst="roundRect">
            <a:avLst>
              <a:gd name="adj" fmla="val 4912"/>
            </a:avLst>
          </a:prstGeom>
          <a:solidFill>
            <a:srgbClr val="F0ECF7"/>
          </a:solidFill>
          <a:ln w="25400">
            <a:solidFill>
              <a:srgbClr val="F4A259"/>
            </a:solidFill>
            <a:prstDash val="solid"/>
          </a:ln>
        </p:spPr>
      </p:sp>
      <p:sp>
        <p:nvSpPr>
          <p:cNvPr id="17" name="Text 15"/>
          <p:cNvSpPr txBox="1"/>
          <p:nvPr/>
        </p:nvSpPr>
        <p:spPr>
          <a:xfrm>
            <a:off x="6355080" y="2011680"/>
            <a:ext cx="2331720" cy="411480"/>
          </a:xfrm>
          <a:prstGeom prst="rect">
            <a:avLst/>
          </a:prstGeom>
          <a:noFill/>
          <a:ln/>
        </p:spPr>
        <p:txBody>
          <a:bodyPr wrap="square" rtlCol="0" anchor="ctr"/>
          <a:lstStyle/>
          <a:p>
            <a:pPr algn="ctr" indent="0" marL="0">
              <a:buNone/>
            </a:pPr>
            <a:r>
              <a:rPr lang="en-US" sz="1700" b="1" dirty="0">
                <a:solidFill>
                  <a:srgbClr val="F4A259"/>
                </a:solidFill>
                <a:latin typeface="Calibri" pitchFamily="34" charset="0"/>
                <a:ea typeface="Calibri" pitchFamily="34" charset="-122"/>
                <a:cs typeface="Calibri" pitchFamily="34" charset="-120"/>
              </a:rPr>
              <a:t>Team 3</a:t>
            </a:r>
            <a:endParaRPr lang="en-US" sz="1700" dirty="0"/>
          </a:p>
        </p:txBody>
      </p:sp>
      <p:sp>
        <p:nvSpPr>
          <p:cNvPr id="18" name="Shape 16"/>
          <p:cNvSpPr/>
          <p:nvPr/>
        </p:nvSpPr>
        <p:spPr>
          <a:xfrm>
            <a:off x="6446520" y="2514600"/>
            <a:ext cx="2148840" cy="1234440"/>
          </a:xfrm>
          <a:prstGeom prst="roundRect">
            <a:avLst>
              <a:gd name="adj" fmla="val 7407"/>
            </a:avLst>
          </a:prstGeom>
          <a:solidFill>
            <a:srgbClr val="FFFFFF"/>
          </a:solidFill>
          <a:ln/>
        </p:spPr>
      </p:sp>
      <p:sp>
        <p:nvSpPr>
          <p:cNvPr id="19" name="Text 17"/>
          <p:cNvSpPr txBox="1"/>
          <p:nvPr/>
        </p:nvSpPr>
        <p:spPr>
          <a:xfrm>
            <a:off x="6492240" y="2514600"/>
            <a:ext cx="2057400" cy="1234440"/>
          </a:xfrm>
          <a:prstGeom prst="rect">
            <a:avLst/>
          </a:prstGeom>
          <a:noFill/>
          <a:ln/>
        </p:spPr>
        <p:txBody>
          <a:bodyPr wrap="square" lIns="0" tIns="0" rIns="0" bIns="0" rtlCol="0" anchor="ctr"/>
          <a:lstStyle/>
          <a:p>
            <a:pPr algn="ctr" indent="0" marL="0">
              <a:buNone/>
            </a:pPr>
            <a:r>
              <a:rPr lang="en-US" sz="1450" b="1" dirty="0">
                <a:solidFill>
                  <a:srgbClr val="231942"/>
                </a:solidFill>
                <a:latin typeface="Cambria" pitchFamily="34" charset="0"/>
                <a:ea typeface="Cambria" pitchFamily="34" charset="-122"/>
                <a:cs typeface="Cambria" pitchFamily="34" charset="-120"/>
              </a:rPr>
              <a:t>A: 100/1000</a:t>
            </a:r>
            <a:endParaRPr lang="en-US" sz="1450" dirty="0"/>
          </a:p>
          <a:p>
            <a:pPr algn="ctr" indent="0" marL="0">
              <a:buNone/>
            </a:pPr>
            <a:r>
              <a:rPr lang="en-US" sz="1450" b="1" dirty="0">
                <a:solidFill>
                  <a:srgbClr val="231942"/>
                </a:solidFill>
                <a:latin typeface="Cambria" pitchFamily="34" charset="0"/>
                <a:ea typeface="Cambria" pitchFamily="34" charset="-122"/>
                <a:cs typeface="Cambria" pitchFamily="34" charset="-120"/>
              </a:rPr>
              <a:t>B: 108/1000</a:t>
            </a:r>
            <a:endParaRPr lang="en-US" sz="1450" dirty="0"/>
          </a:p>
        </p:txBody>
      </p:sp>
      <p:sp>
        <p:nvSpPr>
          <p:cNvPr id="20" name="Text 18"/>
          <p:cNvSpPr txBox="1"/>
          <p:nvPr/>
        </p:nvSpPr>
        <p:spPr>
          <a:xfrm>
            <a:off x="6446520" y="3886200"/>
            <a:ext cx="2148840" cy="960120"/>
          </a:xfrm>
          <a:prstGeom prst="rect">
            <a:avLst/>
          </a:prstGeom>
          <a:noFill/>
          <a:ln/>
        </p:spPr>
        <p:txBody>
          <a:bodyPr wrap="square" rtlCol="0" anchor="t"/>
          <a:lstStyle/>
          <a:p>
            <a:pPr algn="ctr" indent="0" marL="0">
              <a:buNone/>
            </a:pPr>
            <a:r>
              <a:rPr lang="en-US" sz="1250" i="1" dirty="0">
                <a:solidFill>
                  <a:srgbClr val="6B6480"/>
                </a:solidFill>
                <a:latin typeface="Calibri" pitchFamily="34" charset="0"/>
                <a:ea typeface="Calibri" pitchFamily="34" charset="-122"/>
                <a:cs typeface="Calibri" pitchFamily="34" charset="-120"/>
              </a:rPr>
              <a:t>Difference is tiny — likely noise</a:t>
            </a:r>
            <a:endParaRPr lang="en-US" sz="1250" dirty="0"/>
          </a:p>
        </p:txBody>
      </p:sp>
      <p:sp>
        <p:nvSpPr>
          <p:cNvPr id="21" name="Shape 19"/>
          <p:cNvSpPr/>
          <p:nvPr/>
        </p:nvSpPr>
        <p:spPr>
          <a:xfrm>
            <a:off x="9006840" y="1828800"/>
            <a:ext cx="2606040" cy="3108960"/>
          </a:xfrm>
          <a:prstGeom prst="roundRect">
            <a:avLst>
              <a:gd name="adj" fmla="val 4912"/>
            </a:avLst>
          </a:prstGeom>
          <a:solidFill>
            <a:srgbClr val="F0ECF7"/>
          </a:solidFill>
          <a:ln w="25400">
            <a:solidFill>
              <a:srgbClr val="7B2CBF"/>
            </a:solidFill>
            <a:prstDash val="solid"/>
          </a:ln>
        </p:spPr>
      </p:sp>
      <p:sp>
        <p:nvSpPr>
          <p:cNvPr id="22" name="Text 20"/>
          <p:cNvSpPr txBox="1"/>
          <p:nvPr/>
        </p:nvSpPr>
        <p:spPr>
          <a:xfrm>
            <a:off x="9144000" y="2011680"/>
            <a:ext cx="2331720" cy="411480"/>
          </a:xfrm>
          <a:prstGeom prst="rect">
            <a:avLst/>
          </a:prstGeom>
          <a:noFill/>
          <a:ln/>
        </p:spPr>
        <p:txBody>
          <a:bodyPr wrap="square" rtlCol="0" anchor="ctr"/>
          <a:lstStyle/>
          <a:p>
            <a:pPr algn="ctr" indent="0" marL="0">
              <a:buNone/>
            </a:pPr>
            <a:r>
              <a:rPr lang="en-US" sz="1700" b="1" dirty="0">
                <a:solidFill>
                  <a:srgbClr val="7B2CBF"/>
                </a:solidFill>
                <a:latin typeface="Calibri" pitchFamily="34" charset="0"/>
                <a:ea typeface="Calibri" pitchFamily="34" charset="-122"/>
                <a:cs typeface="Calibri" pitchFamily="34" charset="-120"/>
              </a:rPr>
              <a:t>Team 4</a:t>
            </a:r>
            <a:endParaRPr lang="en-US" sz="1700" dirty="0"/>
          </a:p>
        </p:txBody>
      </p:sp>
      <p:sp>
        <p:nvSpPr>
          <p:cNvPr id="23" name="Shape 21"/>
          <p:cNvSpPr/>
          <p:nvPr/>
        </p:nvSpPr>
        <p:spPr>
          <a:xfrm>
            <a:off x="9235440" y="2514600"/>
            <a:ext cx="2148840" cy="1234440"/>
          </a:xfrm>
          <a:prstGeom prst="roundRect">
            <a:avLst>
              <a:gd name="adj" fmla="val 7407"/>
            </a:avLst>
          </a:prstGeom>
          <a:solidFill>
            <a:srgbClr val="FFFFFF"/>
          </a:solidFill>
          <a:ln/>
        </p:spPr>
      </p:sp>
      <p:sp>
        <p:nvSpPr>
          <p:cNvPr id="24" name="Text 22"/>
          <p:cNvSpPr txBox="1"/>
          <p:nvPr/>
        </p:nvSpPr>
        <p:spPr>
          <a:xfrm>
            <a:off x="9281160" y="2514600"/>
            <a:ext cx="2057400" cy="1234440"/>
          </a:xfrm>
          <a:prstGeom prst="rect">
            <a:avLst/>
          </a:prstGeom>
          <a:noFill/>
          <a:ln/>
        </p:spPr>
        <p:txBody>
          <a:bodyPr wrap="square" lIns="0" tIns="0" rIns="0" bIns="0" rtlCol="0" anchor="ctr"/>
          <a:lstStyle/>
          <a:p>
            <a:pPr algn="ctr" indent="0" marL="0">
              <a:buNone/>
            </a:pPr>
            <a:r>
              <a:rPr lang="en-US" sz="1450" b="1" dirty="0">
                <a:solidFill>
                  <a:srgbClr val="231942"/>
                </a:solidFill>
                <a:latin typeface="Cambria" pitchFamily="34" charset="0"/>
                <a:ea typeface="Cambria" pitchFamily="34" charset="-122"/>
                <a:cs typeface="Cambria" pitchFamily="34" charset="-120"/>
              </a:rPr>
              <a:t>B better overall,</a:t>
            </a:r>
            <a:endParaRPr lang="en-US" sz="1450" dirty="0"/>
          </a:p>
          <a:p>
            <a:pPr algn="ctr" indent="0" marL="0">
              <a:buNone/>
            </a:pPr>
            <a:r>
              <a:rPr lang="en-US" sz="1450" b="1" dirty="0">
                <a:solidFill>
                  <a:srgbClr val="231942"/>
                </a:solidFill>
                <a:latin typeface="Cambria" pitchFamily="34" charset="0"/>
                <a:ea typeface="Cambria" pitchFamily="34" charset="-122"/>
                <a:cs typeface="Cambria" pitchFamily="34" charset="-120"/>
              </a:rPr>
              <a:t>but worse in EVERY segment</a:t>
            </a:r>
            <a:endParaRPr lang="en-US" sz="1450" dirty="0"/>
          </a:p>
        </p:txBody>
      </p:sp>
      <p:sp>
        <p:nvSpPr>
          <p:cNvPr id="25" name="Text 23"/>
          <p:cNvSpPr txBox="1"/>
          <p:nvPr/>
        </p:nvSpPr>
        <p:spPr>
          <a:xfrm>
            <a:off x="9235440" y="3886200"/>
            <a:ext cx="2148840" cy="960120"/>
          </a:xfrm>
          <a:prstGeom prst="rect">
            <a:avLst/>
          </a:prstGeom>
          <a:noFill/>
          <a:ln/>
        </p:spPr>
        <p:txBody>
          <a:bodyPr wrap="square" rtlCol="0" anchor="t"/>
          <a:lstStyle/>
          <a:p>
            <a:pPr algn="ctr" indent="0" marL="0">
              <a:buNone/>
            </a:pPr>
            <a:r>
              <a:rPr lang="en-US" sz="1250" i="1" dirty="0">
                <a:solidFill>
                  <a:srgbClr val="6B6480"/>
                </a:solidFill>
                <a:latin typeface="Calibri" pitchFamily="34" charset="0"/>
                <a:ea typeface="Calibri" pitchFamily="34" charset="-122"/>
                <a:cs typeface="Calibri" pitchFamily="34" charset="-120"/>
              </a:rPr>
              <a:t>Simpson's paradox trap</a:t>
            </a:r>
            <a:endParaRPr lang="en-US" sz="1250" dirty="0"/>
          </a:p>
        </p:txBody>
      </p:sp>
      <p:sp>
        <p:nvSpPr>
          <p:cNvPr id="26" name="Shape 24"/>
          <p:cNvSpPr/>
          <p:nvPr/>
        </p:nvSpPr>
        <p:spPr>
          <a:xfrm>
            <a:off x="640080" y="5120640"/>
            <a:ext cx="10972800" cy="914400"/>
          </a:xfrm>
          <a:prstGeom prst="roundRect">
            <a:avLst>
              <a:gd name="adj" fmla="val 12000"/>
            </a:avLst>
          </a:prstGeom>
          <a:solidFill>
            <a:srgbClr val="231942"/>
          </a:solidFill>
          <a:ln/>
        </p:spPr>
      </p:sp>
      <p:sp>
        <p:nvSpPr>
          <p:cNvPr id="27" name="Text 25"/>
          <p:cNvSpPr txBox="1"/>
          <p:nvPr/>
        </p:nvSpPr>
        <p:spPr>
          <a:xfrm>
            <a:off x="914400" y="5120640"/>
            <a:ext cx="10424160" cy="914400"/>
          </a:xfrm>
          <a:prstGeom prst="rect">
            <a:avLst/>
          </a:prstGeom>
          <a:noFill/>
          <a:ln/>
        </p:spPr>
        <p:txBody>
          <a:bodyPr wrap="square" lIns="0" tIns="0" rIns="0" bIns="0" rtlCol="0" anchor="ctr"/>
          <a:lstStyle/>
          <a:p>
            <a:pPr indent="0" marL="0">
              <a:buNone/>
            </a:pPr>
            <a:r>
              <a:rPr lang="en-US" sz="1500" b="1" dirty="0">
                <a:solidFill>
                  <a:srgbClr val="F4C79A"/>
                </a:solidFill>
                <a:latin typeface="Calibri" pitchFamily="34" charset="0"/>
                <a:ea typeface="Calibri" pitchFamily="34" charset="-122"/>
                <a:cs typeface="Calibri" pitchFamily="34" charset="-120"/>
              </a:rPr>
              <a:t>On the shared verdict sheet:  </a:t>
            </a:r>
            <a:pPr indent="0" marL="0">
              <a:buNone/>
            </a:pPr>
            <a:r>
              <a:rPr lang="en-US" sz="1500" dirty="0">
                <a:solidFill>
                  <a:srgbClr val="E4D6F5"/>
                </a:solidFill>
                <a:latin typeface="Calibri" pitchFamily="34" charset="0"/>
                <a:ea typeface="Calibri" pitchFamily="34" charset="-122"/>
                <a:cs typeface="Calibri" pitchFamily="34" charset="-120"/>
              </a:rPr>
              <a:t>1) compute each rate  2) SHIP or DON'T SHIP?  3) name the trap you found.  ⏱️ 8 min, pick a spokesperson.</a:t>
            </a:r>
            <a:endParaRPr lang="en-US" sz="1500" dirty="0"/>
          </a:p>
        </p:txBody>
      </p:sp>
      <p:sp>
        <p:nvSpPr>
          <p:cNvPr id="28" name="Text 26"/>
          <p:cNvSpPr txBox="1"/>
          <p:nvPr/>
        </p:nvSpPr>
        <p:spPr>
          <a:xfrm>
            <a:off x="11521440" y="6446520"/>
            <a:ext cx="548640" cy="320040"/>
          </a:xfrm>
          <a:prstGeom prst="rect">
            <a:avLst/>
          </a:prstGeom>
          <a:noFill/>
          <a:ln/>
        </p:spPr>
        <p:txBody>
          <a:bodyPr wrap="square" rtlCol="0" anchor="ctr"/>
          <a:lstStyle/>
          <a:p>
            <a:pPr algn="r" indent="0" marL="0">
              <a:buNone/>
            </a:pPr>
            <a:r>
              <a:rPr lang="en-US" sz="1100" dirty="0">
                <a:solidFill>
                  <a:srgbClr val="6B6480"/>
                </a:solidFill>
                <a:latin typeface="Calibri" pitchFamily="34" charset="0"/>
                <a:ea typeface="Calibri" pitchFamily="34" charset="-122"/>
                <a:cs typeface="Calibri" pitchFamily="34" charset="-120"/>
              </a:rPr>
              <a:t>10</a:t>
            </a:r>
            <a:endParaRPr lang="en-US" sz="1100" dirty="0"/>
          </a:p>
        </p:txBody>
      </p:sp>
      <p:sp>
        <p:nvSpPr>
          <p:cNvPr id="29" name="Text 27"/>
          <p:cNvSpPr txBox="1"/>
          <p:nvPr/>
        </p:nvSpPr>
        <p:spPr>
          <a:xfrm>
            <a:off x="457200" y="6446520"/>
            <a:ext cx="5486400" cy="320040"/>
          </a:xfrm>
          <a:prstGeom prst="rect">
            <a:avLst/>
          </a:prstGeom>
          <a:noFill/>
          <a:ln/>
        </p:spPr>
        <p:txBody>
          <a:bodyPr wrap="square" rtlCol="0" anchor="ctr"/>
          <a:lstStyle/>
          <a:p>
            <a:pPr indent="0" marL="0">
              <a:buNone/>
            </a:pPr>
            <a:r>
              <a:rPr lang="en-US" sz="1100" dirty="0">
                <a:solidFill>
                  <a:srgbClr val="6B6480"/>
                </a:solidFill>
                <a:latin typeface="Calibri" pitchFamily="34" charset="0"/>
                <a:ea typeface="Calibri" pitchFamily="34" charset="-122"/>
                <a:cs typeface="Calibri" pitchFamily="34" charset="-120"/>
              </a:rPr>
              <a:t>Topic 8 · Probability &amp; Statistics in ML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F4A259"/>
          </a:solidFill>
          <a:ln/>
        </p:spPr>
      </p:sp>
      <p:sp>
        <p:nvSpPr>
          <p:cNvPr id="3" name="Text 1"/>
          <p:cNvSpPr txBox="1"/>
          <p:nvPr/>
        </p:nvSpPr>
        <p:spPr>
          <a:xfrm>
            <a:off x="548640" y="44805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txBox="1"/>
          <p:nvPr/>
        </p:nvSpPr>
        <p:spPr>
          <a:xfrm>
            <a:off x="1325880" y="411480"/>
            <a:ext cx="10058400" cy="731520"/>
          </a:xfrm>
          <a:prstGeom prst="rect">
            <a:avLst/>
          </a:prstGeom>
          <a:noFill/>
          <a:ln/>
        </p:spPr>
        <p:txBody>
          <a:bodyPr wrap="square" rtlCol="0" anchor="ctr"/>
          <a:lstStyle/>
          <a:p>
            <a:pPr indent="0" marL="0">
              <a:buNone/>
            </a:pPr>
            <a:r>
              <a:rPr lang="en-US" sz="3200" b="1" dirty="0">
                <a:solidFill>
                  <a:srgbClr val="231942"/>
                </a:solidFill>
                <a:latin typeface="Cambria" pitchFamily="34" charset="0"/>
                <a:ea typeface="Cambria" pitchFamily="34" charset="-122"/>
                <a:cs typeface="Cambria" pitchFamily="34" charset="-120"/>
              </a:rPr>
              <a:t>The verdicts — and the traps</a:t>
            </a:r>
            <a:endParaRPr lang="en-US" sz="3200" dirty="0"/>
          </a:p>
        </p:txBody>
      </p:sp>
      <p:sp>
        <p:nvSpPr>
          <p:cNvPr id="5" name="Shape 3"/>
          <p:cNvSpPr/>
          <p:nvPr/>
        </p:nvSpPr>
        <p:spPr>
          <a:xfrm>
            <a:off x="640080" y="1737360"/>
            <a:ext cx="10972800" cy="914400"/>
          </a:xfrm>
          <a:prstGeom prst="roundRect">
            <a:avLst>
              <a:gd name="adj" fmla="val 10000"/>
            </a:avLst>
          </a:prstGeom>
          <a:solidFill>
            <a:srgbClr val="F0ECF7"/>
          </a:solidFill>
          <a:ln/>
        </p:spPr>
      </p:sp>
      <p:sp>
        <p:nvSpPr>
          <p:cNvPr id="6" name="Text 4"/>
          <p:cNvSpPr txBox="1"/>
          <p:nvPr/>
        </p:nvSpPr>
        <p:spPr>
          <a:xfrm>
            <a:off x="822960" y="1737360"/>
            <a:ext cx="1645920" cy="914400"/>
          </a:xfrm>
          <a:prstGeom prst="rect">
            <a:avLst/>
          </a:prstGeom>
          <a:noFill/>
          <a:ln/>
        </p:spPr>
        <p:txBody>
          <a:bodyPr wrap="square" lIns="0" tIns="0" rIns="0" bIns="0" rtlCol="0" anchor="ctr"/>
          <a:lstStyle/>
          <a:p>
            <a:pPr indent="0" marL="0">
              <a:buNone/>
            </a:pPr>
            <a:r>
              <a:rPr lang="en-US" sz="1600" b="1" dirty="0">
                <a:solidFill>
                  <a:srgbClr val="231942"/>
                </a:solidFill>
                <a:latin typeface="Calibri" pitchFamily="34" charset="0"/>
                <a:ea typeface="Calibri" pitchFamily="34" charset="-122"/>
                <a:cs typeface="Calibri" pitchFamily="34" charset="-120"/>
              </a:rPr>
              <a:t>Team 1</a:t>
            </a:r>
            <a:endParaRPr lang="en-US" sz="1600" dirty="0"/>
          </a:p>
        </p:txBody>
      </p:sp>
      <p:sp>
        <p:nvSpPr>
          <p:cNvPr id="7" name="Shape 5"/>
          <p:cNvSpPr/>
          <p:nvPr/>
        </p:nvSpPr>
        <p:spPr>
          <a:xfrm>
            <a:off x="2468880" y="1938528"/>
            <a:ext cx="2011680" cy="512064"/>
          </a:xfrm>
          <a:prstGeom prst="roundRect">
            <a:avLst>
              <a:gd name="adj" fmla="val 50000"/>
            </a:avLst>
          </a:prstGeom>
          <a:solidFill>
            <a:srgbClr val="2A9D8F"/>
          </a:solidFill>
          <a:ln/>
        </p:spPr>
      </p:sp>
      <p:sp>
        <p:nvSpPr>
          <p:cNvPr id="8" name="Text 6"/>
          <p:cNvSpPr txBox="1"/>
          <p:nvPr/>
        </p:nvSpPr>
        <p:spPr>
          <a:xfrm>
            <a:off x="2468880" y="1938528"/>
            <a:ext cx="2011680"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SHIP ✓</a:t>
            </a:r>
            <a:endParaRPr lang="en-US" sz="1450" dirty="0"/>
          </a:p>
        </p:txBody>
      </p:sp>
      <p:sp>
        <p:nvSpPr>
          <p:cNvPr id="9" name="Text 7"/>
          <p:cNvSpPr txBox="1"/>
          <p:nvPr/>
        </p:nvSpPr>
        <p:spPr>
          <a:xfrm>
            <a:off x="4663440" y="1737360"/>
            <a:ext cx="6766560" cy="914400"/>
          </a:xfrm>
          <a:prstGeom prst="rect">
            <a:avLst/>
          </a:prstGeom>
          <a:noFill/>
          <a:ln/>
        </p:spPr>
        <p:txBody>
          <a:bodyPr wrap="square" lIns="0" tIns="0" rIns="0" bIns="0" rtlCol="0" anchor="ctr"/>
          <a:lstStyle/>
          <a:p>
            <a:pPr indent="0" marL="0">
              <a:buNone/>
            </a:pPr>
            <a:r>
              <a:rPr lang="en-US" sz="1400" dirty="0">
                <a:solidFill>
                  <a:srgbClr val="231942"/>
                </a:solidFill>
                <a:latin typeface="Calibri" pitchFamily="34" charset="0"/>
                <a:ea typeface="Calibri" pitchFamily="34" charset="-122"/>
                <a:cs typeface="Calibri" pitchFamily="34" charset="-120"/>
              </a:rPr>
              <a:t>Large samples, real 3-point gap. Legit.</a:t>
            </a:r>
            <a:endParaRPr lang="en-US" sz="1400" dirty="0"/>
          </a:p>
        </p:txBody>
      </p:sp>
      <p:sp>
        <p:nvSpPr>
          <p:cNvPr id="10" name="Shape 8"/>
          <p:cNvSpPr/>
          <p:nvPr/>
        </p:nvSpPr>
        <p:spPr>
          <a:xfrm>
            <a:off x="640080" y="2788920"/>
            <a:ext cx="10972800" cy="914400"/>
          </a:xfrm>
          <a:prstGeom prst="roundRect">
            <a:avLst>
              <a:gd name="adj" fmla="val 10000"/>
            </a:avLst>
          </a:prstGeom>
          <a:solidFill>
            <a:srgbClr val="F0ECF7"/>
          </a:solidFill>
          <a:ln/>
        </p:spPr>
      </p:sp>
      <p:sp>
        <p:nvSpPr>
          <p:cNvPr id="11" name="Text 9"/>
          <p:cNvSpPr txBox="1"/>
          <p:nvPr/>
        </p:nvSpPr>
        <p:spPr>
          <a:xfrm>
            <a:off x="822960" y="2788920"/>
            <a:ext cx="1645920" cy="914400"/>
          </a:xfrm>
          <a:prstGeom prst="rect">
            <a:avLst/>
          </a:prstGeom>
          <a:noFill/>
          <a:ln/>
        </p:spPr>
        <p:txBody>
          <a:bodyPr wrap="square" lIns="0" tIns="0" rIns="0" bIns="0" rtlCol="0" anchor="ctr"/>
          <a:lstStyle/>
          <a:p>
            <a:pPr indent="0" marL="0">
              <a:buNone/>
            </a:pPr>
            <a:r>
              <a:rPr lang="en-US" sz="1600" b="1" dirty="0">
                <a:solidFill>
                  <a:srgbClr val="231942"/>
                </a:solidFill>
                <a:latin typeface="Calibri" pitchFamily="34" charset="0"/>
                <a:ea typeface="Calibri" pitchFamily="34" charset="-122"/>
                <a:cs typeface="Calibri" pitchFamily="34" charset="-120"/>
              </a:rPr>
              <a:t>Team 2</a:t>
            </a:r>
            <a:endParaRPr lang="en-US" sz="1600" dirty="0"/>
          </a:p>
        </p:txBody>
      </p:sp>
      <p:sp>
        <p:nvSpPr>
          <p:cNvPr id="12" name="Shape 10"/>
          <p:cNvSpPr/>
          <p:nvPr/>
        </p:nvSpPr>
        <p:spPr>
          <a:xfrm>
            <a:off x="2468880" y="2990088"/>
            <a:ext cx="2011680" cy="512064"/>
          </a:xfrm>
          <a:prstGeom prst="roundRect">
            <a:avLst>
              <a:gd name="adj" fmla="val 50000"/>
            </a:avLst>
          </a:prstGeom>
          <a:solidFill>
            <a:srgbClr val="E76F51"/>
          </a:solidFill>
          <a:ln/>
        </p:spPr>
      </p:sp>
      <p:sp>
        <p:nvSpPr>
          <p:cNvPr id="13" name="Text 11"/>
          <p:cNvSpPr txBox="1"/>
          <p:nvPr/>
        </p:nvSpPr>
        <p:spPr>
          <a:xfrm>
            <a:off x="2468880" y="2990088"/>
            <a:ext cx="2011680"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DON'T (yet)</a:t>
            </a:r>
            <a:endParaRPr lang="en-US" sz="1450" dirty="0"/>
          </a:p>
        </p:txBody>
      </p:sp>
      <p:sp>
        <p:nvSpPr>
          <p:cNvPr id="14" name="Text 12"/>
          <p:cNvSpPr txBox="1"/>
          <p:nvPr/>
        </p:nvSpPr>
        <p:spPr>
          <a:xfrm>
            <a:off x="4663440" y="2788920"/>
            <a:ext cx="6766560" cy="914400"/>
          </a:xfrm>
          <a:prstGeom prst="rect">
            <a:avLst/>
          </a:prstGeom>
          <a:noFill/>
          <a:ln/>
        </p:spPr>
        <p:txBody>
          <a:bodyPr wrap="square" lIns="0" tIns="0" rIns="0" bIns="0" rtlCol="0" anchor="ctr"/>
          <a:lstStyle/>
          <a:p>
            <a:pPr indent="0" marL="0">
              <a:buNone/>
            </a:pPr>
            <a:r>
              <a:rPr lang="en-US" sz="1400" dirty="0">
                <a:solidFill>
                  <a:srgbClr val="231942"/>
                </a:solidFill>
                <a:latin typeface="Calibri" pitchFamily="34" charset="0"/>
                <a:ea typeface="Calibri" pitchFamily="34" charset="-122"/>
                <a:cs typeface="Calibri" pitchFamily="34" charset="-120"/>
              </a:rPr>
              <a:t>13/100 looks like 13% but n=100 is far too small — huge uncertainty.</a:t>
            </a:r>
            <a:endParaRPr lang="en-US" sz="1400" dirty="0"/>
          </a:p>
        </p:txBody>
      </p:sp>
      <p:sp>
        <p:nvSpPr>
          <p:cNvPr id="15" name="Shape 13"/>
          <p:cNvSpPr/>
          <p:nvPr/>
        </p:nvSpPr>
        <p:spPr>
          <a:xfrm>
            <a:off x="640080" y="3840480"/>
            <a:ext cx="10972800" cy="914400"/>
          </a:xfrm>
          <a:prstGeom prst="roundRect">
            <a:avLst>
              <a:gd name="adj" fmla="val 10000"/>
            </a:avLst>
          </a:prstGeom>
          <a:solidFill>
            <a:srgbClr val="F0ECF7"/>
          </a:solidFill>
          <a:ln/>
        </p:spPr>
      </p:sp>
      <p:sp>
        <p:nvSpPr>
          <p:cNvPr id="16" name="Text 14"/>
          <p:cNvSpPr txBox="1"/>
          <p:nvPr/>
        </p:nvSpPr>
        <p:spPr>
          <a:xfrm>
            <a:off x="822960" y="3840480"/>
            <a:ext cx="1645920" cy="914400"/>
          </a:xfrm>
          <a:prstGeom prst="rect">
            <a:avLst/>
          </a:prstGeom>
          <a:noFill/>
          <a:ln/>
        </p:spPr>
        <p:txBody>
          <a:bodyPr wrap="square" lIns="0" tIns="0" rIns="0" bIns="0" rtlCol="0" anchor="ctr"/>
          <a:lstStyle/>
          <a:p>
            <a:pPr indent="0" marL="0">
              <a:buNone/>
            </a:pPr>
            <a:r>
              <a:rPr lang="en-US" sz="1600" b="1" dirty="0">
                <a:solidFill>
                  <a:srgbClr val="231942"/>
                </a:solidFill>
                <a:latin typeface="Calibri" pitchFamily="34" charset="0"/>
                <a:ea typeface="Calibri" pitchFamily="34" charset="-122"/>
                <a:cs typeface="Calibri" pitchFamily="34" charset="-120"/>
              </a:rPr>
              <a:t>Team 3</a:t>
            </a:r>
            <a:endParaRPr lang="en-US" sz="1600" dirty="0"/>
          </a:p>
        </p:txBody>
      </p:sp>
      <p:sp>
        <p:nvSpPr>
          <p:cNvPr id="17" name="Shape 15"/>
          <p:cNvSpPr/>
          <p:nvPr/>
        </p:nvSpPr>
        <p:spPr>
          <a:xfrm>
            <a:off x="2468880" y="4041648"/>
            <a:ext cx="2011680" cy="512064"/>
          </a:xfrm>
          <a:prstGeom prst="roundRect">
            <a:avLst>
              <a:gd name="adj" fmla="val 50000"/>
            </a:avLst>
          </a:prstGeom>
          <a:solidFill>
            <a:srgbClr val="F4A259"/>
          </a:solidFill>
          <a:ln/>
        </p:spPr>
      </p:sp>
      <p:sp>
        <p:nvSpPr>
          <p:cNvPr id="18" name="Text 16"/>
          <p:cNvSpPr txBox="1"/>
          <p:nvPr/>
        </p:nvSpPr>
        <p:spPr>
          <a:xfrm>
            <a:off x="2468880" y="4041648"/>
            <a:ext cx="2011680"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DON'T</a:t>
            </a:r>
            <a:endParaRPr lang="en-US" sz="1450" dirty="0"/>
          </a:p>
        </p:txBody>
      </p:sp>
      <p:sp>
        <p:nvSpPr>
          <p:cNvPr id="19" name="Text 17"/>
          <p:cNvSpPr txBox="1"/>
          <p:nvPr/>
        </p:nvSpPr>
        <p:spPr>
          <a:xfrm>
            <a:off x="4663440" y="3840480"/>
            <a:ext cx="6766560" cy="914400"/>
          </a:xfrm>
          <a:prstGeom prst="rect">
            <a:avLst/>
          </a:prstGeom>
          <a:noFill/>
          <a:ln/>
        </p:spPr>
        <p:txBody>
          <a:bodyPr wrap="square" lIns="0" tIns="0" rIns="0" bIns="0" rtlCol="0" anchor="ctr"/>
          <a:lstStyle/>
          <a:p>
            <a:pPr indent="0" marL="0">
              <a:buNone/>
            </a:pPr>
            <a:r>
              <a:rPr lang="en-US" sz="1400" dirty="0">
                <a:solidFill>
                  <a:srgbClr val="231942"/>
                </a:solidFill>
                <a:latin typeface="Calibri" pitchFamily="34" charset="0"/>
                <a:ea typeface="Calibri" pitchFamily="34" charset="-122"/>
                <a:cs typeface="Calibri" pitchFamily="34" charset="-120"/>
              </a:rPr>
              <a:t>100 vs 108 in 1000 ≈ noise. Not significant.</a:t>
            </a:r>
            <a:endParaRPr lang="en-US" sz="1400" dirty="0"/>
          </a:p>
        </p:txBody>
      </p:sp>
      <p:sp>
        <p:nvSpPr>
          <p:cNvPr id="20" name="Shape 18"/>
          <p:cNvSpPr/>
          <p:nvPr/>
        </p:nvSpPr>
        <p:spPr>
          <a:xfrm>
            <a:off x="640080" y="4892040"/>
            <a:ext cx="10972800" cy="914400"/>
          </a:xfrm>
          <a:prstGeom prst="roundRect">
            <a:avLst>
              <a:gd name="adj" fmla="val 10000"/>
            </a:avLst>
          </a:prstGeom>
          <a:solidFill>
            <a:srgbClr val="F0ECF7"/>
          </a:solidFill>
          <a:ln/>
        </p:spPr>
      </p:sp>
      <p:sp>
        <p:nvSpPr>
          <p:cNvPr id="21" name="Text 19"/>
          <p:cNvSpPr txBox="1"/>
          <p:nvPr/>
        </p:nvSpPr>
        <p:spPr>
          <a:xfrm>
            <a:off x="822960" y="4892040"/>
            <a:ext cx="1645920" cy="914400"/>
          </a:xfrm>
          <a:prstGeom prst="rect">
            <a:avLst/>
          </a:prstGeom>
          <a:noFill/>
          <a:ln/>
        </p:spPr>
        <p:txBody>
          <a:bodyPr wrap="square" lIns="0" tIns="0" rIns="0" bIns="0" rtlCol="0" anchor="ctr"/>
          <a:lstStyle/>
          <a:p>
            <a:pPr indent="0" marL="0">
              <a:buNone/>
            </a:pPr>
            <a:r>
              <a:rPr lang="en-US" sz="1600" b="1" dirty="0">
                <a:solidFill>
                  <a:srgbClr val="231942"/>
                </a:solidFill>
                <a:latin typeface="Calibri" pitchFamily="34" charset="0"/>
                <a:ea typeface="Calibri" pitchFamily="34" charset="-122"/>
                <a:cs typeface="Calibri" pitchFamily="34" charset="-120"/>
              </a:rPr>
              <a:t>Team 4</a:t>
            </a:r>
            <a:endParaRPr lang="en-US" sz="1600" dirty="0"/>
          </a:p>
        </p:txBody>
      </p:sp>
      <p:sp>
        <p:nvSpPr>
          <p:cNvPr id="22" name="Shape 20"/>
          <p:cNvSpPr/>
          <p:nvPr/>
        </p:nvSpPr>
        <p:spPr>
          <a:xfrm>
            <a:off x="2468880" y="5093208"/>
            <a:ext cx="2011680" cy="512064"/>
          </a:xfrm>
          <a:prstGeom prst="roundRect">
            <a:avLst>
              <a:gd name="adj" fmla="val 50000"/>
            </a:avLst>
          </a:prstGeom>
          <a:solidFill>
            <a:srgbClr val="7B2CBF"/>
          </a:solidFill>
          <a:ln/>
        </p:spPr>
      </p:sp>
      <p:sp>
        <p:nvSpPr>
          <p:cNvPr id="23" name="Text 21"/>
          <p:cNvSpPr txBox="1"/>
          <p:nvPr/>
        </p:nvSpPr>
        <p:spPr>
          <a:xfrm>
            <a:off x="2468880" y="5093208"/>
            <a:ext cx="2011680"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DON'T / investigate</a:t>
            </a:r>
            <a:endParaRPr lang="en-US" sz="1450" dirty="0"/>
          </a:p>
        </p:txBody>
      </p:sp>
      <p:sp>
        <p:nvSpPr>
          <p:cNvPr id="24" name="Text 22"/>
          <p:cNvSpPr txBox="1"/>
          <p:nvPr/>
        </p:nvSpPr>
        <p:spPr>
          <a:xfrm>
            <a:off x="4663440" y="4892040"/>
            <a:ext cx="6766560" cy="914400"/>
          </a:xfrm>
          <a:prstGeom prst="rect">
            <a:avLst/>
          </a:prstGeom>
          <a:noFill/>
          <a:ln/>
        </p:spPr>
        <p:txBody>
          <a:bodyPr wrap="square" lIns="0" tIns="0" rIns="0" bIns="0" rtlCol="0" anchor="ctr"/>
          <a:lstStyle/>
          <a:p>
            <a:pPr indent="0" marL="0">
              <a:buNone/>
            </a:pPr>
            <a:r>
              <a:rPr lang="en-US" sz="1400" dirty="0">
                <a:solidFill>
                  <a:srgbClr val="231942"/>
                </a:solidFill>
                <a:latin typeface="Calibri" pitchFamily="34" charset="0"/>
                <a:ea typeface="Calibri" pitchFamily="34" charset="-122"/>
                <a:cs typeface="Calibri" pitchFamily="34" charset="-120"/>
              </a:rPr>
              <a:t>Simpson's paradox: aggregate favors B, but every segment favors A.</a:t>
            </a:r>
            <a:endParaRPr lang="en-US" sz="1400" dirty="0"/>
          </a:p>
        </p:txBody>
      </p:sp>
      <p:sp>
        <p:nvSpPr>
          <p:cNvPr id="25" name="Shape 23"/>
          <p:cNvSpPr/>
          <p:nvPr/>
        </p:nvSpPr>
        <p:spPr>
          <a:xfrm>
            <a:off x="640080" y="5943600"/>
            <a:ext cx="10972800" cy="914"/>
          </a:xfrm>
          <a:prstGeom prst="roundRect">
            <a:avLst/>
          </a:prstGeom>
          <a:solidFill>
            <a:srgbClr val="FFFFFF"/>
          </a:solidFill>
          <a:ln/>
        </p:spPr>
      </p:sp>
      <p:sp>
        <p:nvSpPr>
          <p:cNvPr id="26" name="Text 24"/>
          <p:cNvSpPr txBox="1"/>
          <p:nvPr/>
        </p:nvSpPr>
        <p:spPr>
          <a:xfrm>
            <a:off x="11521440" y="6446520"/>
            <a:ext cx="548640" cy="320040"/>
          </a:xfrm>
          <a:prstGeom prst="rect">
            <a:avLst/>
          </a:prstGeom>
          <a:noFill/>
          <a:ln/>
        </p:spPr>
        <p:txBody>
          <a:bodyPr wrap="square" rtlCol="0" anchor="ctr"/>
          <a:lstStyle/>
          <a:p>
            <a:pPr algn="r" indent="0" marL="0">
              <a:buNone/>
            </a:pPr>
            <a:r>
              <a:rPr lang="en-US" sz="1100" dirty="0">
                <a:solidFill>
                  <a:srgbClr val="6B6480"/>
                </a:solidFill>
                <a:latin typeface="Calibri" pitchFamily="34" charset="0"/>
                <a:ea typeface="Calibri" pitchFamily="34" charset="-122"/>
                <a:cs typeface="Calibri" pitchFamily="34" charset="-120"/>
              </a:rPr>
              <a:t>11</a:t>
            </a:r>
            <a:endParaRPr lang="en-US" sz="1100" dirty="0"/>
          </a:p>
        </p:txBody>
      </p:sp>
      <p:sp>
        <p:nvSpPr>
          <p:cNvPr id="27" name="Text 25"/>
          <p:cNvSpPr txBox="1"/>
          <p:nvPr/>
        </p:nvSpPr>
        <p:spPr>
          <a:xfrm>
            <a:off x="457200" y="6446520"/>
            <a:ext cx="5486400" cy="320040"/>
          </a:xfrm>
          <a:prstGeom prst="rect">
            <a:avLst/>
          </a:prstGeom>
          <a:noFill/>
          <a:ln/>
        </p:spPr>
        <p:txBody>
          <a:bodyPr wrap="square" rtlCol="0" anchor="ctr"/>
          <a:lstStyle/>
          <a:p>
            <a:pPr indent="0" marL="0">
              <a:buNone/>
            </a:pPr>
            <a:r>
              <a:rPr lang="en-US" sz="1100" dirty="0">
                <a:solidFill>
                  <a:srgbClr val="6B6480"/>
                </a:solidFill>
                <a:latin typeface="Calibri" pitchFamily="34" charset="0"/>
                <a:ea typeface="Calibri" pitchFamily="34" charset="-122"/>
                <a:cs typeface="Calibri" pitchFamily="34" charset="-120"/>
              </a:rPr>
              <a:t>Topic 8 · Probability &amp; Statistics in ML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5A189A"/>
          </a:solidFill>
          <a:ln/>
        </p:spPr>
      </p:sp>
      <p:sp>
        <p:nvSpPr>
          <p:cNvPr id="3" name="Text 1"/>
          <p:cNvSpPr txBox="1"/>
          <p:nvPr/>
        </p:nvSpPr>
        <p:spPr>
          <a:xfrm>
            <a:off x="548640" y="44805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 name="Text 2"/>
          <p:cNvSpPr txBox="1"/>
          <p:nvPr/>
        </p:nvSpPr>
        <p:spPr>
          <a:xfrm>
            <a:off x="1325880" y="411480"/>
            <a:ext cx="10058400" cy="731520"/>
          </a:xfrm>
          <a:prstGeom prst="rect">
            <a:avLst/>
          </a:prstGeom>
          <a:noFill/>
          <a:ln/>
        </p:spPr>
        <p:txBody>
          <a:bodyPr wrap="square" rtlCol="0" anchor="ctr"/>
          <a:lstStyle/>
          <a:p>
            <a:pPr indent="0" marL="0">
              <a:buNone/>
            </a:pPr>
            <a:r>
              <a:rPr lang="en-US" sz="3200" b="1" dirty="0">
                <a:solidFill>
                  <a:srgbClr val="231942"/>
                </a:solidFill>
                <a:latin typeface="Cambria" pitchFamily="34" charset="0"/>
                <a:ea typeface="Cambria" pitchFamily="34" charset="-122"/>
                <a:cs typeface="Cambria" pitchFamily="34" charset="-120"/>
              </a:rPr>
              <a:t>Wrap-up &amp; exit ticket</a:t>
            </a:r>
            <a:endParaRPr lang="en-US" sz="3200" dirty="0"/>
          </a:p>
        </p:txBody>
      </p:sp>
      <p:sp>
        <p:nvSpPr>
          <p:cNvPr id="5" name="Shape 3"/>
          <p:cNvSpPr/>
          <p:nvPr/>
        </p:nvSpPr>
        <p:spPr>
          <a:xfrm>
            <a:off x="640080" y="1554480"/>
            <a:ext cx="5486400" cy="4480560"/>
          </a:xfrm>
          <a:prstGeom prst="roundRect">
            <a:avLst>
              <a:gd name="adj" fmla="val 2857"/>
            </a:avLst>
          </a:prstGeom>
          <a:solidFill>
            <a:srgbClr val="F0ECF7"/>
          </a:solidFill>
          <a:ln/>
        </p:spPr>
      </p:sp>
      <p:sp>
        <p:nvSpPr>
          <p:cNvPr id="6" name="Text 4"/>
          <p:cNvSpPr txBox="1"/>
          <p:nvPr/>
        </p:nvSpPr>
        <p:spPr>
          <a:xfrm>
            <a:off x="914400" y="1783080"/>
            <a:ext cx="4937760" cy="457200"/>
          </a:xfrm>
          <a:prstGeom prst="rect">
            <a:avLst/>
          </a:prstGeom>
          <a:noFill/>
          <a:ln/>
        </p:spPr>
        <p:txBody>
          <a:bodyPr wrap="square" rtlCol="0" anchor="ctr"/>
          <a:lstStyle/>
          <a:p>
            <a:pPr indent="0" marL="0">
              <a:buNone/>
            </a:pPr>
            <a:r>
              <a:rPr lang="en-US" sz="1800" b="1" dirty="0">
                <a:solidFill>
                  <a:srgbClr val="5A189A"/>
                </a:solidFill>
                <a:latin typeface="Calibri" pitchFamily="34" charset="0"/>
                <a:ea typeface="Calibri" pitchFamily="34" charset="-122"/>
                <a:cs typeface="Calibri" pitchFamily="34" charset="-120"/>
              </a:rPr>
              <a:t>4 things to remember</a:t>
            </a:r>
            <a:endParaRPr lang="en-US" sz="1800" dirty="0"/>
          </a:p>
        </p:txBody>
      </p:sp>
      <p:sp>
        <p:nvSpPr>
          <p:cNvPr id="7" name="Shape 5"/>
          <p:cNvSpPr/>
          <p:nvPr/>
        </p:nvSpPr>
        <p:spPr>
          <a:xfrm>
            <a:off x="914400" y="2377440"/>
            <a:ext cx="365760" cy="365760"/>
          </a:xfrm>
          <a:prstGeom prst="ellipse">
            <a:avLst/>
          </a:prstGeom>
          <a:solidFill>
            <a:srgbClr val="2A9D8F"/>
          </a:solidFill>
          <a:ln/>
        </p:spPr>
      </p:sp>
      <p:sp>
        <p:nvSpPr>
          <p:cNvPr id="8" name="Text 6"/>
          <p:cNvSpPr txBox="1"/>
          <p:nvPr/>
        </p:nvSpPr>
        <p:spPr>
          <a:xfrm>
            <a:off x="914400" y="235000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9" name="Text 7"/>
          <p:cNvSpPr txBox="1"/>
          <p:nvPr/>
        </p:nvSpPr>
        <p:spPr>
          <a:xfrm>
            <a:off x="1417320" y="2331720"/>
            <a:ext cx="4480560" cy="822960"/>
          </a:xfrm>
          <a:prstGeom prst="rect">
            <a:avLst/>
          </a:prstGeom>
          <a:noFill/>
          <a:ln/>
        </p:spPr>
        <p:txBody>
          <a:bodyPr wrap="square" lIns="0" tIns="0" rIns="0" bIns="0" rtlCol="0" anchor="ctr"/>
          <a:lstStyle/>
          <a:p>
            <a:pPr indent="0" marL="0">
              <a:buNone/>
            </a:pPr>
            <a:r>
              <a:rPr lang="en-US" sz="1450" dirty="0">
                <a:solidFill>
                  <a:srgbClr val="231942"/>
                </a:solidFill>
                <a:latin typeface="Calibri" pitchFamily="34" charset="0"/>
                <a:ea typeface="Calibri" pitchFamily="34" charset="-122"/>
                <a:cs typeface="Calibri" pitchFamily="34" charset="-120"/>
              </a:rPr>
              <a:t>Base rates matter: a 99% test can still be 50% right (Bayes)</a:t>
            </a:r>
            <a:endParaRPr lang="en-US" sz="1450" dirty="0"/>
          </a:p>
        </p:txBody>
      </p:sp>
      <p:sp>
        <p:nvSpPr>
          <p:cNvPr id="10" name="Shape 8"/>
          <p:cNvSpPr/>
          <p:nvPr/>
        </p:nvSpPr>
        <p:spPr>
          <a:xfrm>
            <a:off x="914400" y="3273552"/>
            <a:ext cx="365760" cy="365760"/>
          </a:xfrm>
          <a:prstGeom prst="ellipse">
            <a:avLst/>
          </a:prstGeom>
          <a:solidFill>
            <a:srgbClr val="2A9D8F"/>
          </a:solidFill>
          <a:ln/>
        </p:spPr>
      </p:sp>
      <p:sp>
        <p:nvSpPr>
          <p:cNvPr id="11" name="Text 9"/>
          <p:cNvSpPr txBox="1"/>
          <p:nvPr/>
        </p:nvSpPr>
        <p:spPr>
          <a:xfrm>
            <a:off x="914400" y="324612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2" name="Text 10"/>
          <p:cNvSpPr txBox="1"/>
          <p:nvPr/>
        </p:nvSpPr>
        <p:spPr>
          <a:xfrm>
            <a:off x="1417320" y="3227832"/>
            <a:ext cx="4480560" cy="822960"/>
          </a:xfrm>
          <a:prstGeom prst="rect">
            <a:avLst/>
          </a:prstGeom>
          <a:noFill/>
          <a:ln/>
        </p:spPr>
        <p:txBody>
          <a:bodyPr wrap="square" lIns="0" tIns="0" rIns="0" bIns="0" rtlCol="0" anchor="ctr"/>
          <a:lstStyle/>
          <a:p>
            <a:pPr indent="0" marL="0">
              <a:buNone/>
            </a:pPr>
            <a:r>
              <a:rPr lang="en-US" sz="1450" dirty="0">
                <a:solidFill>
                  <a:srgbClr val="231942"/>
                </a:solidFill>
                <a:latin typeface="Calibri" pitchFamily="34" charset="0"/>
                <a:ea typeface="Calibri" pitchFamily="34" charset="-122"/>
                <a:cs typeface="Calibri" pitchFamily="34" charset="-120"/>
              </a:rPr>
              <a:t>Correlation predicts; only causation explains</a:t>
            </a:r>
            <a:endParaRPr lang="en-US" sz="1450" dirty="0"/>
          </a:p>
        </p:txBody>
      </p:sp>
      <p:sp>
        <p:nvSpPr>
          <p:cNvPr id="13" name="Shape 11"/>
          <p:cNvSpPr/>
          <p:nvPr/>
        </p:nvSpPr>
        <p:spPr>
          <a:xfrm>
            <a:off x="914400" y="4169664"/>
            <a:ext cx="365760" cy="365760"/>
          </a:xfrm>
          <a:prstGeom prst="ellipse">
            <a:avLst/>
          </a:prstGeom>
          <a:solidFill>
            <a:srgbClr val="2A9D8F"/>
          </a:solidFill>
          <a:ln/>
        </p:spPr>
      </p:sp>
      <p:sp>
        <p:nvSpPr>
          <p:cNvPr id="14" name="Text 12"/>
          <p:cNvSpPr txBox="1"/>
          <p:nvPr/>
        </p:nvSpPr>
        <p:spPr>
          <a:xfrm>
            <a:off x="914400" y="414223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5" name="Text 13"/>
          <p:cNvSpPr txBox="1"/>
          <p:nvPr/>
        </p:nvSpPr>
        <p:spPr>
          <a:xfrm>
            <a:off x="1417320" y="4123944"/>
            <a:ext cx="4480560" cy="822960"/>
          </a:xfrm>
          <a:prstGeom prst="rect">
            <a:avLst/>
          </a:prstGeom>
          <a:noFill/>
          <a:ln/>
        </p:spPr>
        <p:txBody>
          <a:bodyPr wrap="square" lIns="0" tIns="0" rIns="0" bIns="0" rtlCol="0" anchor="ctr"/>
          <a:lstStyle/>
          <a:p>
            <a:pPr indent="0" marL="0">
              <a:buNone/>
            </a:pPr>
            <a:r>
              <a:rPr lang="en-US" sz="1450" dirty="0">
                <a:solidFill>
                  <a:srgbClr val="231942"/>
                </a:solidFill>
                <a:latin typeface="Calibri" pitchFamily="34" charset="0"/>
                <a:ea typeface="Calibri" pitchFamily="34" charset="-122"/>
                <a:cs typeface="Calibri" pitchFamily="34" charset="-120"/>
              </a:rPr>
              <a:t>The CLT is why averages go normal and big samples are trustworthy</a:t>
            </a:r>
            <a:endParaRPr lang="en-US" sz="1450" dirty="0"/>
          </a:p>
        </p:txBody>
      </p:sp>
      <p:sp>
        <p:nvSpPr>
          <p:cNvPr id="16" name="Shape 14"/>
          <p:cNvSpPr/>
          <p:nvPr/>
        </p:nvSpPr>
        <p:spPr>
          <a:xfrm>
            <a:off x="914400" y="5065776"/>
            <a:ext cx="365760" cy="365760"/>
          </a:xfrm>
          <a:prstGeom prst="ellipse">
            <a:avLst/>
          </a:prstGeom>
          <a:solidFill>
            <a:srgbClr val="2A9D8F"/>
          </a:solidFill>
          <a:ln/>
        </p:spPr>
      </p:sp>
      <p:sp>
        <p:nvSpPr>
          <p:cNvPr id="17" name="Text 15"/>
          <p:cNvSpPr txBox="1"/>
          <p:nvPr/>
        </p:nvSpPr>
        <p:spPr>
          <a:xfrm>
            <a:off x="914400" y="50383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8" name="Text 16"/>
          <p:cNvSpPr txBox="1"/>
          <p:nvPr/>
        </p:nvSpPr>
        <p:spPr>
          <a:xfrm>
            <a:off x="1417320" y="5020056"/>
            <a:ext cx="4480560" cy="822960"/>
          </a:xfrm>
          <a:prstGeom prst="rect">
            <a:avLst/>
          </a:prstGeom>
          <a:noFill/>
          <a:ln/>
        </p:spPr>
        <p:txBody>
          <a:bodyPr wrap="square" lIns="0" tIns="0" rIns="0" bIns="0" rtlCol="0" anchor="ctr"/>
          <a:lstStyle/>
          <a:p>
            <a:pPr indent="0" marL="0">
              <a:buNone/>
            </a:pPr>
            <a:r>
              <a:rPr lang="en-US" sz="1450" dirty="0">
                <a:solidFill>
                  <a:srgbClr val="231942"/>
                </a:solidFill>
                <a:latin typeface="Calibri" pitchFamily="34" charset="0"/>
                <a:ea typeface="Calibri" pitchFamily="34" charset="-122"/>
                <a:cs typeface="Calibri" pitchFamily="34" charset="-120"/>
              </a:rPr>
              <a:t>A bigger number ≠ a better model — check significance &amp; sample size</a:t>
            </a:r>
            <a:endParaRPr lang="en-US" sz="1450" dirty="0"/>
          </a:p>
        </p:txBody>
      </p:sp>
      <p:sp>
        <p:nvSpPr>
          <p:cNvPr id="19" name="Shape 17"/>
          <p:cNvSpPr/>
          <p:nvPr/>
        </p:nvSpPr>
        <p:spPr>
          <a:xfrm>
            <a:off x="6400800" y="1554480"/>
            <a:ext cx="5212080" cy="2148840"/>
          </a:xfrm>
          <a:prstGeom prst="roundRect">
            <a:avLst>
              <a:gd name="adj" fmla="val 5957"/>
            </a:avLst>
          </a:prstGeom>
          <a:solidFill>
            <a:srgbClr val="231942"/>
          </a:solidFill>
          <a:ln/>
        </p:spPr>
      </p:sp>
      <p:sp>
        <p:nvSpPr>
          <p:cNvPr id="20" name="Text 18"/>
          <p:cNvSpPr txBox="1"/>
          <p:nvPr/>
        </p:nvSpPr>
        <p:spPr>
          <a:xfrm>
            <a:off x="6675120" y="1737360"/>
            <a:ext cx="4663440" cy="411480"/>
          </a:xfrm>
          <a:prstGeom prst="rect">
            <a:avLst/>
          </a:prstGeom>
          <a:noFill/>
          <a:ln/>
        </p:spPr>
        <p:txBody>
          <a:bodyPr wrap="square" rtlCol="0" anchor="ctr"/>
          <a:lstStyle/>
          <a:p>
            <a:pPr indent="0" marL="0">
              <a:buNone/>
            </a:pPr>
            <a:r>
              <a:rPr lang="en-US" sz="1700" b="1" dirty="0">
                <a:solidFill>
                  <a:srgbClr val="F4C79A"/>
                </a:solidFill>
                <a:latin typeface="Calibri" pitchFamily="34" charset="0"/>
                <a:ea typeface="Calibri" pitchFamily="34" charset="-122"/>
                <a:cs typeface="Calibri" pitchFamily="34" charset="-120"/>
              </a:rPr>
              <a:t>📝 Exit ticket (2 min)</a:t>
            </a:r>
            <a:endParaRPr lang="en-US" sz="1700" dirty="0"/>
          </a:p>
        </p:txBody>
      </p:sp>
      <p:sp>
        <p:nvSpPr>
          <p:cNvPr id="21" name="Text 19"/>
          <p:cNvSpPr txBox="1"/>
          <p:nvPr/>
        </p:nvSpPr>
        <p:spPr>
          <a:xfrm>
            <a:off x="6675120" y="2194560"/>
            <a:ext cx="4663440" cy="1463040"/>
          </a:xfrm>
          <a:prstGeom prst="rect">
            <a:avLst/>
          </a:prstGeom>
          <a:noFill/>
          <a:ln/>
        </p:spPr>
        <p:txBody>
          <a:bodyPr wrap="square" rtlCol="0" anchor="t"/>
          <a:lstStyle/>
          <a:p>
            <a:pPr indent="0" marL="0">
              <a:buNone/>
            </a:pPr>
            <a:r>
              <a:rPr lang="en-US" sz="1400" dirty="0">
                <a:solidFill>
                  <a:srgbClr val="E4D6F5"/>
                </a:solidFill>
                <a:latin typeface="Calibri" pitchFamily="34" charset="0"/>
                <a:ea typeface="Calibri" pitchFamily="34" charset="-122"/>
                <a:cs typeface="Calibri" pitchFamily="34" charset="-120"/>
              </a:rPr>
              <a:t>1.  A rare-disease test is 99% accurate &amp; you test +. Why isn't your risk 99%?
</a:t>
            </a:r>
            <a:endParaRPr lang="en-US" sz="1400" dirty="0"/>
          </a:p>
          <a:p>
            <a:pPr indent="0" marL="0">
              <a:buNone/>
            </a:pPr>
            <a:r>
              <a:rPr lang="en-US" sz="1400" dirty="0">
                <a:solidFill>
                  <a:srgbClr val="E4D6F5"/>
                </a:solidFill>
                <a:latin typeface="Calibri" pitchFamily="34" charset="0"/>
                <a:ea typeface="Calibri" pitchFamily="34" charset="-122"/>
                <a:cs typeface="Calibri" pitchFamily="34" charset="-120"/>
              </a:rPr>
              <a:t>2.  Muddiest point: what's still unclear?</a:t>
            </a:r>
            <a:endParaRPr lang="en-US" sz="1400" dirty="0"/>
          </a:p>
        </p:txBody>
      </p:sp>
      <p:sp>
        <p:nvSpPr>
          <p:cNvPr id="22" name="Shape 20"/>
          <p:cNvSpPr/>
          <p:nvPr/>
        </p:nvSpPr>
        <p:spPr>
          <a:xfrm>
            <a:off x="6400800" y="3886200"/>
            <a:ext cx="5212080" cy="2148840"/>
          </a:xfrm>
          <a:prstGeom prst="roundRect">
            <a:avLst>
              <a:gd name="adj" fmla="val 5957"/>
            </a:avLst>
          </a:prstGeom>
          <a:solidFill>
            <a:srgbClr val="F0ECF7"/>
          </a:solidFill>
          <a:ln w="25400">
            <a:solidFill>
              <a:srgbClr val="F4A259"/>
            </a:solidFill>
            <a:prstDash val="solid"/>
          </a:ln>
        </p:spPr>
      </p:sp>
      <p:sp>
        <p:nvSpPr>
          <p:cNvPr id="23" name="Text 21"/>
          <p:cNvSpPr txBox="1"/>
          <p:nvPr/>
        </p:nvSpPr>
        <p:spPr>
          <a:xfrm>
            <a:off x="6675120" y="4069080"/>
            <a:ext cx="4663440" cy="411480"/>
          </a:xfrm>
          <a:prstGeom prst="rect">
            <a:avLst/>
          </a:prstGeom>
          <a:noFill/>
          <a:ln/>
        </p:spPr>
        <p:txBody>
          <a:bodyPr wrap="square" rtlCol="0" anchor="ctr"/>
          <a:lstStyle/>
          <a:p>
            <a:pPr indent="0" marL="0">
              <a:buNone/>
            </a:pPr>
            <a:r>
              <a:rPr lang="en-US" sz="1700" b="1" dirty="0">
                <a:solidFill>
                  <a:srgbClr val="E76F51"/>
                </a:solidFill>
                <a:latin typeface="Calibri" pitchFamily="34" charset="0"/>
                <a:ea typeface="Calibri" pitchFamily="34" charset="-122"/>
                <a:cs typeface="Calibri" pitchFamily="34" charset="-120"/>
              </a:rPr>
              <a:t>💻 AutoCode practice</a:t>
            </a:r>
            <a:endParaRPr lang="en-US" sz="1700" dirty="0"/>
          </a:p>
        </p:txBody>
      </p:sp>
      <p:sp>
        <p:nvSpPr>
          <p:cNvPr id="24" name="Text 22"/>
          <p:cNvSpPr txBox="1"/>
          <p:nvPr/>
        </p:nvSpPr>
        <p:spPr>
          <a:xfrm>
            <a:off x="6675120" y="4526280"/>
            <a:ext cx="4663440" cy="1463040"/>
          </a:xfrm>
          <a:prstGeom prst="rect">
            <a:avLst/>
          </a:prstGeom>
          <a:noFill/>
          <a:ln/>
        </p:spPr>
        <p:txBody>
          <a:bodyPr wrap="square" rtlCol="0" anchor="t"/>
          <a:lstStyle/>
          <a:p>
            <a:pPr indent="0" marL="0">
              <a:buNone/>
            </a:pPr>
            <a:r>
              <a:rPr lang="en-US" sz="1400" dirty="0">
                <a:solidFill>
                  <a:srgbClr val="231942"/>
                </a:solidFill>
                <a:latin typeface="Calibri" pitchFamily="34" charset="0"/>
                <a:ea typeface="Calibri" pitchFamily="34" charset="-122"/>
                <a:cs typeface="Calibri" pitchFamily="34" charset="-120"/>
              </a:rPr>
              <a:t>1. Confidence intervals   2. ECDF
</a:t>
            </a:r>
            <a:endParaRPr lang="en-US" sz="1400" dirty="0"/>
          </a:p>
          <a:p>
            <a:pPr indent="0" marL="0">
              <a:buNone/>
            </a:pPr>
            <a:r>
              <a:rPr lang="en-US" sz="1400" dirty="0">
                <a:solidFill>
                  <a:srgbClr val="231942"/>
                </a:solidFill>
                <a:latin typeface="Calibri" pitchFamily="34" charset="0"/>
                <a:ea typeface="Calibri" pitchFamily="34" charset="-122"/>
                <a:cs typeface="Calibri" pitchFamily="34" charset="-120"/>
              </a:rPr>
              <a:t>3. Chi-squared test   4. Two-sample KS test
</a:t>
            </a:r>
            <a:endParaRPr lang="en-US" sz="1400" dirty="0"/>
          </a:p>
          <a:p>
            <a:pPr indent="0" marL="0">
              <a:buNone/>
            </a:pPr>
            <a:r>
              <a:rPr lang="en-US" sz="1400" i="1" dirty="0">
                <a:solidFill>
                  <a:srgbClr val="6B6480"/>
                </a:solidFill>
                <a:latin typeface="Calibri" pitchFamily="34" charset="0"/>
                <a:ea typeface="Calibri" pitchFamily="34" charset="-122"/>
                <a:cs typeface="Calibri" pitchFamily="34" charset="-120"/>
              </a:rPr>
              <a:t>Auto-checked by unit tests. The ReadMe covers anything not in the lecture — don't worry if a concept wasn't fully drilled today.</a:t>
            </a:r>
            <a:endParaRPr lang="en-US" sz="1400" dirty="0"/>
          </a:p>
        </p:txBody>
      </p:sp>
      <p:sp>
        <p:nvSpPr>
          <p:cNvPr id="25" name="Text 23"/>
          <p:cNvSpPr txBox="1"/>
          <p:nvPr/>
        </p:nvSpPr>
        <p:spPr>
          <a:xfrm>
            <a:off x="11521440" y="6446520"/>
            <a:ext cx="548640" cy="320040"/>
          </a:xfrm>
          <a:prstGeom prst="rect">
            <a:avLst/>
          </a:prstGeom>
          <a:noFill/>
          <a:ln/>
        </p:spPr>
        <p:txBody>
          <a:bodyPr wrap="square" rtlCol="0" anchor="ctr"/>
          <a:lstStyle/>
          <a:p>
            <a:pPr algn="r" indent="0" marL="0">
              <a:buNone/>
            </a:pPr>
            <a:r>
              <a:rPr lang="en-US" sz="1100" dirty="0">
                <a:solidFill>
                  <a:srgbClr val="6B6480"/>
                </a:solidFill>
                <a:latin typeface="Calibri" pitchFamily="34" charset="0"/>
                <a:ea typeface="Calibri" pitchFamily="34" charset="-122"/>
                <a:cs typeface="Calibri" pitchFamily="34" charset="-120"/>
              </a:rPr>
              <a:t>12</a:t>
            </a:r>
            <a:endParaRPr lang="en-US" sz="1100" dirty="0"/>
          </a:p>
        </p:txBody>
      </p:sp>
      <p:sp>
        <p:nvSpPr>
          <p:cNvPr id="26" name="Text 24"/>
          <p:cNvSpPr txBox="1"/>
          <p:nvPr/>
        </p:nvSpPr>
        <p:spPr>
          <a:xfrm>
            <a:off x="457200" y="6446520"/>
            <a:ext cx="5486400" cy="320040"/>
          </a:xfrm>
          <a:prstGeom prst="rect">
            <a:avLst/>
          </a:prstGeom>
          <a:noFill/>
          <a:ln/>
        </p:spPr>
        <p:txBody>
          <a:bodyPr wrap="square" rtlCol="0" anchor="ctr"/>
          <a:lstStyle/>
          <a:p>
            <a:pPr indent="0" marL="0">
              <a:buNone/>
            </a:pPr>
            <a:r>
              <a:rPr lang="en-US" sz="1100" dirty="0">
                <a:solidFill>
                  <a:srgbClr val="6B6480"/>
                </a:solidFill>
                <a:latin typeface="Calibri" pitchFamily="34" charset="0"/>
                <a:ea typeface="Calibri" pitchFamily="34" charset="-122"/>
                <a:cs typeface="Calibri" pitchFamily="34" charset="-120"/>
              </a:rPr>
              <a:t>Topic 8 · Probability &amp; Statistics in ML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2026-09-01T18:00:51Z</dcterms:created>
  <dcterms:modified xsi:type="dcterms:W3CDTF">2026-09-01T18:00:51Z</dcterms:modified>
</cp:coreProperties>
</file>