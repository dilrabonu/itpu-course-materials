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666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&amp; Match — Team Activity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play:  </a:t>
            </a:r>
            <a:r>
              <a:rPr lang="en-US" sz="1500" dirty="0">
                <a:solidFill>
                  <a:srgbClr val="E4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every card into the zone your team thinks is correct. Argue the tricky ones — that is where the learning happens. Reveal the answer key only after your team commits.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026F7C"/>
          </a:solidFill>
          <a:ln w="12700">
            <a:solidFill>
              <a:srgbClr val="4FB3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4434840"/>
            <a:ext cx="234086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Symptom → Diagnosis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44348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026F7C"/>
          </a:solidFill>
          <a:ln w="12700">
            <a:solidFill>
              <a:srgbClr val="4FB3A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4434840"/>
            <a:ext cx="234086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High Bias vs High Variance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44348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026F7C"/>
          </a:solidFill>
          <a:ln w="12700">
            <a:solidFill>
              <a:srgbClr val="4FB3A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44768" y="4434840"/>
            <a:ext cx="234086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Interpretable vs Needs SHAP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78240" y="443484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026F7C"/>
          </a:solidFill>
          <a:ln w="12700">
            <a:solidFill>
              <a:srgbClr val="4FB3A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87968" y="4434840"/>
            <a:ext cx="234086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Parameters vs Hyperparameters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give each group a copy of this file, or one slide per breakout room.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→ Diagnosis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each symptom card up into Overfitting, Underfitting, or Good fit.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E5484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01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memorizes training data, fails on new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3E63D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462272" y="15087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1801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simple, misses the pattern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93024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2E9E5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330184" y="15087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1801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to unseen data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cards — drag these up: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93776" y="39776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train accuracy,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test accuracy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75688" y="39776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112264" y="39776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 AND 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low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94176" y="39776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730752" y="39776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wild, wiggly curve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every point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12664" y="39776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349240" y="39776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that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trend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31152" y="39776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967728" y="39776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92%, test 90%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(small gap)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49640" y="39776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586216" y="39776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on training data,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on new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168128" y="39776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204704" y="39776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everywhere,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training set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20624" y="4800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 vs High Variance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sort. Which side does each statement describe?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3E63D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 (underfitting side)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E5484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 (overfitting side)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cards — drag into a column: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D7F0DE"/>
          </a:solidFill>
          <a:ln w="12700">
            <a:solidFill>
              <a:srgbClr val="5FA777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3776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75688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D7F0DE"/>
          </a:solidFill>
          <a:ln w="12700">
            <a:solidFill>
              <a:srgbClr val="5FA777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112264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strong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assumptions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94176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D7F0DE"/>
          </a:solidFill>
          <a:ln w="12700">
            <a:solidFill>
              <a:srgbClr val="5FA777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730752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even 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12664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D7F0DE"/>
          </a:solidFill>
          <a:ln w="12700">
            <a:solidFill>
              <a:srgbClr val="5FA777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49240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31152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D7F0DE"/>
          </a:solidFill>
          <a:ln w="12700">
            <a:solidFill>
              <a:srgbClr val="5FA777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967728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sensitive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 changes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49640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D7F0DE"/>
          </a:solidFill>
          <a:ln w="12700">
            <a:solidFill>
              <a:srgbClr val="5FA777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586216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gap between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error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168128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D7F0DE"/>
          </a:solidFill>
          <a:ln w="12700">
            <a:solidFill>
              <a:srgbClr val="5FA777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204704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 noise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set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by Design vs Needs SHAP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model. Can you read it directly, or do you need a tool like SHAP to explain it?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2E9E5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BY DESIGN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013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read the logic directly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8250D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4652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SHAP  (model-agnostic)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8013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 to read directly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 — drag into a column: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856232" cy="566928"/>
          </a:xfrm>
          <a:prstGeom prst="roundRect">
            <a:avLst>
              <a:gd name="adj" fmla="val 9677"/>
            </a:avLst>
          </a:prstGeom>
          <a:solidFill>
            <a:srgbClr val="D6E4FF"/>
          </a:solidFill>
          <a:ln w="12700">
            <a:solidFill>
              <a:srgbClr val="5B8DEF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" y="420624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59152" y="4206240"/>
            <a:ext cx="1856232" cy="566928"/>
          </a:xfrm>
          <a:prstGeom prst="roundRect">
            <a:avLst>
              <a:gd name="adj" fmla="val 9677"/>
            </a:avLst>
          </a:prstGeom>
          <a:solidFill>
            <a:srgbClr val="D6E4FF"/>
          </a:solidFill>
          <a:ln w="12700">
            <a:solidFill>
              <a:srgbClr val="5B8DEF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395728" y="420624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(depth 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61104" y="4206240"/>
            <a:ext cx="1856232" cy="566928"/>
          </a:xfrm>
          <a:prstGeom prst="roundRect">
            <a:avLst>
              <a:gd name="adj" fmla="val 9677"/>
            </a:avLst>
          </a:prstGeom>
          <a:solidFill>
            <a:srgbClr val="D6E4FF"/>
          </a:solidFill>
          <a:ln w="12700">
            <a:solidFill>
              <a:srgbClr val="5B8DEF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297680" y="420624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rule: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income &gt; 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4206240"/>
            <a:ext cx="1856232" cy="566928"/>
          </a:xfrm>
          <a:prstGeom prst="roundRect">
            <a:avLst>
              <a:gd name="adj" fmla="val 9677"/>
            </a:avLst>
          </a:prstGeom>
          <a:solidFill>
            <a:srgbClr val="D6E4FF"/>
          </a:solidFill>
          <a:ln w="12700">
            <a:solidFill>
              <a:srgbClr val="5B8DEF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199632" y="420624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 trees)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4206240"/>
            <a:ext cx="1856232" cy="566928"/>
          </a:xfrm>
          <a:prstGeom prst="roundRect">
            <a:avLst>
              <a:gd name="adj" fmla="val 9677"/>
            </a:avLst>
          </a:prstGeom>
          <a:solidFill>
            <a:srgbClr val="D6E4FF"/>
          </a:solidFill>
          <a:ln w="12700">
            <a:solidFill>
              <a:srgbClr val="5B8DEF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01584" y="420624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66960" y="4206240"/>
            <a:ext cx="1856232" cy="566928"/>
          </a:xfrm>
          <a:prstGeom prst="roundRect">
            <a:avLst>
              <a:gd name="adj" fmla="val 9677"/>
            </a:avLst>
          </a:prstGeom>
          <a:solidFill>
            <a:srgbClr val="D6E4FF"/>
          </a:solidFill>
          <a:ln w="12700">
            <a:solidFill>
              <a:srgbClr val="5B8DEF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003536" y="420624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i="1" dirty="0">
              <a:solidFill>
                <a:srgbClr val="6B76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vs Hyperparameters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sort. Is it LEARNED by the model during training, or SET by you before training?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2E9E5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013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by the model during training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E8933A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4652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8013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you before training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— drag into a column: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(the slope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weight)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75688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112264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(the intercept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bias term)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94176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730752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inside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12664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49240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31152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67728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epochs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49640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586216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(max_depth)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168128" y="420624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6C7"/>
          </a:solidFill>
          <a:ln w="12700">
            <a:solidFill>
              <a:srgbClr val="E3C700"/>
            </a:solidFill>
            <a:prstDash val="solid"/>
          </a:ln>
          <a:effectLst>
            <a:outerShdw blurRad="38100" dist="12700" dir="5400000" algn="bl" rotWithShape="0">
              <a:srgbClr val="9AA0A6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204704" y="4206240"/>
            <a:ext cx="14996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forest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439</Words>
  <Application>Microsoft Office PowerPoint</Application>
  <PresentationFormat>Widescreen</PresentationFormat>
  <Paragraphs>102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Dilrabo Khidirova</cp:lastModifiedBy>
  <cp:revision>2</cp:revision>
  <dcterms:created xsi:type="dcterms:W3CDTF">2026-09-09T15:08:57Z</dcterms:created>
  <dcterms:modified xsi:type="dcterms:W3CDTF">2026-09-09T15:16:41Z</dcterms:modified>
</cp:coreProperties>
</file>