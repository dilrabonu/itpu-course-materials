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topics, one 90-minute arc: first how a model learns and how we read it, then how we evaluate it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Topics 3 and 4 flow together: learn &amp; interpret a model, then evaluate it rigorously.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Outcomes: describe training; explain over/underfitting; interpret models with SHAP.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pipeline, then the A→B→C loop. Training = adjust parameters to minimise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Live: press Train step, watch loss fall. Crank the learning rate to show divergence.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and the code are the same four steps. Feature scaling keeps it 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 score is vanity; test score is truth. The gap = overfitting.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complexity underfit→good→overfit; test-error U-curve marks the sweet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Restaurant bill = splitting the prediction fairly. Read: which features, direction,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class green/red before each drag. Then show the real beeswarm in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Outcomes: describe CV techniques; compute classification &amp; regression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average over folds is what you report — not one lucky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Engaging Q: time-dependent? imbalanced? grouped? Ask before revealing each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pitfall. Show the expanding window; validation is always after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Precision protects against false alarms; recall against misses. F1 needs both high.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place: self-driving car brake? → recall. This trade-off is the exam favourite.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RMSE if big errors matter; MAE if outliers shouldn't dominate; R² for variance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rooms code the blanks; self-check; then AutoCode unit tests grade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by asking students to state each line. Exit ticket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C2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103120"/>
            <a:ext cx="6858000" cy="68580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91840"/>
            <a:ext cx="5486400" cy="5486400"/>
          </a:xfrm>
          <a:prstGeom prst="ellipse">
            <a:avLst/>
          </a:prstGeom>
          <a:solidFill>
            <a:srgbClr val="263852">
              <a:alpha val="18000"/>
            </a:srgbClr>
          </a:solidFill>
          <a:ln/>
        </p:spPr>
      </p:sp>
      <p:pic>
        <p:nvPicPr>
          <p:cNvPr id="4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3136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MACHINE LEARNING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237744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Evaluation &amp; Model Evaluation Strategies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— Training, Overfitting &amp; Interpretability    •    Topic 4 — Cross-Validation &amp; Metrics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41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2nd-year CS / IT  ·  Online live (MS Teams)  ·  Lecturer: Dilrabo Khidirova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— two topics, one story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47088"/>
            <a:ext cx="603504" cy="603504"/>
          </a:xfrm>
          <a:prstGeom prst="ellipse">
            <a:avLst/>
          </a:prstGeom>
          <a:solidFill>
            <a:srgbClr val="39C2D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175564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involves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213969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→ loss → adjust → repeat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47088"/>
            <a:ext cx="603504" cy="603504"/>
          </a:xfrm>
          <a:prstGeom prst="ellipse">
            <a:avLst/>
          </a:prstGeom>
          <a:solidFill>
            <a:srgbClr val="D35D4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8470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&amp; bias-variance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78040" y="213969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generalization problem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401568"/>
            <a:ext cx="603504" cy="603504"/>
          </a:xfrm>
          <a:prstGeom prst="ellipse">
            <a:avLst/>
          </a:prstGeom>
          <a:solidFill>
            <a:srgbClr val="8A7CBB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015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33101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&amp; SHAP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36941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the model predict that?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401568"/>
            <a:ext cx="603504" cy="603504"/>
          </a:xfrm>
          <a:prstGeom prst="ellipse">
            <a:avLst/>
          </a:prstGeom>
          <a:solidFill>
            <a:srgbClr val="008AC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4015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78040" y="33101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8040" y="36941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every part of the data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956048"/>
            <a:ext cx="603504" cy="603504"/>
          </a:xfrm>
          <a:prstGeom prst="ellipse">
            <a:avLst/>
          </a:prstGeom>
          <a:solidFill>
            <a:srgbClr val="CEDB56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95604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554480" y="48646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54480" y="52486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&amp; regression scores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4956048"/>
            <a:ext cx="603504" cy="603504"/>
          </a:xfrm>
          <a:prstGeom prst="ellipse">
            <a:avLst/>
          </a:prstGeom>
          <a:solidFill>
            <a:srgbClr val="263852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495604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78040" y="486460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lab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78040" y="52486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it in NumPy (AutoCode)</a:t>
            </a:r>
            <a:endParaRPr lang="en-US" sz="1200" dirty="0"/>
          </a:p>
        </p:txBody>
      </p:sp>
      <p:pic>
        <p:nvPicPr>
          <p:cNvPr id="3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8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Evaluation &amp; Interpretation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model learns from data — and how we understand what it learned.</a:t>
            </a:r>
            <a:endParaRPr lang="en-US" sz="1700" dirty="0"/>
          </a:p>
        </p:txBody>
      </p:sp>
      <p:pic>
        <p:nvPicPr>
          <p:cNvPr id="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35040"/>
            <a:ext cx="1005840" cy="2304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 model involves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52728"/>
            <a:ext cx="11210544" cy="44439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ml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297680"/>
          </a:xfrm>
          <a:prstGeom prst="rect">
            <a:avLst/>
          </a:prstGeom>
        </p:spPr>
      </p:pic>
      <p:pic>
        <p:nvPicPr>
          <p:cNvPr id="8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DISTINCTION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vs hyperparameters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EAF6F9"/>
          </a:solidFill>
          <a:ln w="19050">
            <a:solidFill>
              <a:srgbClr val="39C2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90195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by the model during training.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 </a:t>
            </a:r>
            <a:pPr indent="0" marL="0">
              <a:buNone/>
            </a:pPr>
            <a:r>
              <a:rPr lang="en-US" sz="13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(slope), b (intercept), neural-net weights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FFF7E6"/>
          </a:solidFill>
          <a:ln w="19050">
            <a:solidFill>
              <a:srgbClr val="D35D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40507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YOU before training.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 </a:t>
            </a:r>
            <a:pPr indent="0" marL="0">
              <a:buNone/>
            </a:pPr>
            <a:r>
              <a:rPr lang="en-US" sz="13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rate, number of epochs, tree depth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70448" y="1389888"/>
            <a:ext cx="5815584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15" name="Image 0" descr="deckimg/w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463040"/>
            <a:ext cx="5669280" cy="36576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943600" y="52120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Watch a Model Train — the loss shrinks as w, b adjust; the slider is the learning rate.</a:t>
            </a:r>
            <a:endParaRPr lang="en-US" sz="1100" dirty="0"/>
          </a:p>
        </p:txBody>
      </p:sp>
      <p:pic>
        <p:nvPicPr>
          <p:cNvPr id="17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IN CODE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training loop — ~10 lines of NumPy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589520" cy="4206240"/>
          </a:xfrm>
          <a:prstGeom prst="roundRect">
            <a:avLst>
              <a:gd name="adj" fmla="val 1739"/>
            </a:avLst>
          </a:prstGeom>
          <a:solidFill>
            <a:srgbClr val="0B122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54480"/>
            <a:ext cx="72237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model:  price = w * area + b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w, b = 0.0, 0.0          # parameters (start random)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 = 0.1                 # hyperparameter (you set)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F2B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step in range(300):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   = (w*area_s + b) - price      # A. predict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grad_w = np.mean(2 * err * area_s)  # B. measure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grad_b = np.mean(2 * err)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 -= lr * grad_w                    # C. adjust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 -= lr * grad_b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loss 7731  -&gt;  0.85   (the line now fits)
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412480" y="1371600"/>
            <a:ext cx="3200400" cy="4206240"/>
          </a:xfrm>
          <a:prstGeom prst="roundRect">
            <a:avLst>
              <a:gd name="adj" fmla="val 28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0" y="15544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the loop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0" y="201168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008A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predict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732520" y="23957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current w, 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95360" y="288036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D35D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32520" y="2971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measure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32520" y="32644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(gradient)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95360" y="374904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CEDB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38404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ED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adjust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732520" y="413308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 w, b down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595360" y="461772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39C2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7091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loss is small</a:t>
            </a:r>
            <a:endParaRPr lang="en-US" sz="1100" dirty="0"/>
          </a:p>
        </p:txBody>
      </p:sp>
      <p:pic>
        <p:nvPicPr>
          <p:cNvPr id="22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1 (CONT.)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judge on UNSEEN data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BECEA"/>
          </a:solidFill>
          <a:ln w="12700">
            <a:solidFill>
              <a:srgbClr val="D35D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mistake: a model with 99% accuracy on the data it trained on — that looks great but proves nothing.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7589520" cy="3017520"/>
          </a:xfrm>
          <a:prstGeom prst="roundRect">
            <a:avLst>
              <a:gd name="adj" fmla="val 2424"/>
            </a:avLst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43200"/>
            <a:ext cx="72237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B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X_test, y_train, y_test = train_test_split(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X, y, test_size=0.3)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F2B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model.fit(X_train, y_train)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train_acc = accuracy(y_train, model.predict(X_train))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test_acc  = accuracy(y_test,  model.predict(X_test))
</a:t>
            </a:r>
            <a:pPr indent="0" marL="0">
              <a:buNone/>
            </a:pPr>
            <a:r>
              <a:rPr lang="en-US" sz="1300" dirty="0">
                <a:solidFill>
                  <a:srgbClr val="D6E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Training accuracy: 100%
</a:t>
            </a:r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accuracy:      84%   &lt;- the GAP = overfitting
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0" y="2560320"/>
            <a:ext cx="3200400" cy="3017520"/>
          </a:xfrm>
          <a:prstGeom prst="roundRect">
            <a:avLst>
              <a:gd name="adj" fmla="val 3030"/>
            </a:avLst>
          </a:prstGeom>
          <a:solidFill>
            <a:srgbClr val="EAF6F9"/>
          </a:solidFill>
          <a:ln w="15875">
            <a:solidFill>
              <a:srgbClr val="39C2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0" y="2743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the signal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0" y="320040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difference between training and test scores means the model memorised instead of learning the pattern.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your early warning of overfitting.</a:t>
            </a:r>
            <a:endParaRPr lang="en-US" sz="1300" dirty="0"/>
          </a:p>
        </p:txBody>
      </p:sp>
      <p:pic>
        <p:nvPicPr>
          <p:cNvPr id="13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Overfitting, underfitting &amp; the bias–variance trade-off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52728"/>
            <a:ext cx="7187184" cy="4306824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b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40880" cy="4160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63840" y="1417320"/>
            <a:ext cx="3749040" cy="11430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9050">
            <a:solidFill>
              <a:srgbClr val="008A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0" y="152704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0" y="19202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simple — high bias — misses the pattern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863840" y="2743200"/>
            <a:ext cx="3749040" cy="11430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9050">
            <a:solidFill>
              <a:srgbClr val="CEDB5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0" y="285292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D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0467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true pattern — generalizes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863840" y="4069080"/>
            <a:ext cx="3749040" cy="11430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9050">
            <a:solidFill>
              <a:srgbClr val="D35D4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0" y="417880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046720" y="4572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complex — high variance — chases noise</a:t>
            </a:r>
            <a:endParaRPr lang="en-US" sz="1250" dirty="0"/>
          </a:p>
        </p:txBody>
      </p:sp>
      <p:pic>
        <p:nvPicPr>
          <p:cNvPr id="17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— why did the model predict that?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98448"/>
            <a:ext cx="7461504" cy="4261104"/>
          </a:xfrm>
          <a:prstGeom prst="roundRect">
            <a:avLst>
              <a:gd name="adj" fmla="val 128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shap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38160" y="1417320"/>
            <a:ext cx="3474720" cy="4023360"/>
          </a:xfrm>
          <a:prstGeom prst="roundRect">
            <a:avLst>
              <a:gd name="adj" fmla="val 2632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21040" y="1554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7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321040" y="19659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models are readable by design (linear reg, shallow tree). Complex ones aren't.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321040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7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321040" y="33375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a prediction into each feature's fair share — how much it pushed the answer up or down from the average.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321040" y="4892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Model-agnostic: explains ANY model.</a:t>
            </a:r>
            <a:endParaRPr lang="en-US" sz="1200" dirty="0"/>
          </a:p>
        </p:txBody>
      </p:sp>
      <p:pic>
        <p:nvPicPr>
          <p:cNvPr id="14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IN PRACTICE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SHAP — push-bars &amp; the beeswarm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98448"/>
            <a:ext cx="6912864" cy="4261104"/>
          </a:xfrm>
          <a:prstGeom prst="roundRect">
            <a:avLst>
              <a:gd name="adj" fmla="val 128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shap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417320"/>
            <a:ext cx="4023360" cy="4023360"/>
          </a:xfrm>
          <a:prstGeom prst="roundRect">
            <a:avLst>
              <a:gd name="adj" fmla="val 2273"/>
            </a:avLst>
          </a:prstGeom>
          <a:solidFill>
            <a:srgbClr val="EAF6F9"/>
          </a:solidFill>
          <a:ln w="15875">
            <a:solidFill>
              <a:srgbClr val="39C2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any SHAP plot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18120" y="2103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Which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18120" y="23957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longest bars = features that matter most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81812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Direction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818120" y="33101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pushes up, red pulls down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81812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Size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818120" y="422452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from the average baseline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818120" y="4892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a feature → its bar grows and the prediction updates. SHAP made tangible.</a:t>
            </a:r>
            <a:endParaRPr lang="en-US" sz="1200" dirty="0"/>
          </a:p>
        </p:txBody>
      </p:sp>
      <p:pic>
        <p:nvPicPr>
          <p:cNvPr id="17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638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EDB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ED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Strategies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7EE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lucky split to a rigorous, systematic score.</a:t>
            </a:r>
            <a:endParaRPr lang="en-US" sz="1700" dirty="0"/>
          </a:p>
        </p:txBody>
      </p:sp>
      <p:pic>
        <p:nvPicPr>
          <p:cNvPr id="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35040"/>
            <a:ext cx="1005840" cy="2304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cross-validation beats a single split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BECEA"/>
          </a:solidFill>
          <a:ln w="19050">
            <a:solidFill>
              <a:srgbClr val="D35D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split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ONE score. It depends on which points happened to land in the test set — lucky or unlucky.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unreliable, high variance in the estimate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EAF6F9"/>
          </a:solidFill>
          <a:ln w="19050">
            <a:solidFill>
              <a:srgbClr val="39C2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cross-validation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K folds. Each fold validates once while the rest train. Average the K scores.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3108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scores: </a:t>
            </a:r>
            <a:pPr indent="0" marL="0">
              <a:buNone/>
            </a:pPr>
            <a:r>
              <a:rPr lang="en-US" sz="1300" b="1" dirty="0">
                <a:solidFill>
                  <a:srgbClr val="263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[0.85, 0.90, 0.85, 0.75, 0.78]  →  avg 0.83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4846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every point is validated once → reliable</a:t>
            </a:r>
            <a:endParaRPr lang="en-US" sz="1300" dirty="0"/>
          </a:p>
        </p:txBody>
      </p:sp>
      <p:pic>
        <p:nvPicPr>
          <p:cNvPr id="15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1 (CONT.)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strategies — match the split to your data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52728"/>
            <a:ext cx="11210544" cy="4718304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cvf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572000"/>
          </a:xfrm>
          <a:prstGeom prst="rect">
            <a:avLst/>
          </a:prstGeom>
        </p:spPr>
      </p:pic>
      <p:pic>
        <p:nvPicPr>
          <p:cNvPr id="8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PEOPLE GET WRONG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— never shuffle time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5488" y="1298448"/>
            <a:ext cx="7370064" cy="4261104"/>
          </a:xfrm>
          <a:prstGeom prst="roundRect">
            <a:avLst>
              <a:gd name="adj" fmla="val 1288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0" descr="deckimg/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141732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FBECEA"/>
          </a:solidFill>
          <a:ln w="15875">
            <a:solidFill>
              <a:srgbClr val="D35D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carries the signal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138160" y="201168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train on the PAST and validate on the FUTURE. The training window grows forward.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38160" y="310896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Shuffling a time-series lets the model peek at the future to predict the past — a silent, fatal bug.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38160" y="46634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prices, demand, sensors, any time-ordered data.</a:t>
            </a:r>
            <a:endParaRPr lang="en-US" sz="1200" dirty="0"/>
          </a:p>
        </p:txBody>
      </p:sp>
      <p:pic>
        <p:nvPicPr>
          <p:cNvPr id="13" name="Image 1" descr="deckimg/itp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metrics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81328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017520" y="1572768"/>
            <a:ext cx="3108960" cy="502920"/>
          </a:xfrm>
          <a:prstGeom prst="roundRect">
            <a:avLst>
              <a:gd name="adj" fmla="val 9091"/>
            </a:avLst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57276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(TP+TN) / all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148132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correctness — weak on imbalanced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532888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017520" y="2624328"/>
            <a:ext cx="3108960" cy="502920"/>
          </a:xfrm>
          <a:prstGeom prst="roundRect">
            <a:avLst>
              <a:gd name="adj" fmla="val 9091"/>
            </a:avLst>
          </a:prstGeom>
          <a:solidFill>
            <a:srgbClr val="0B1220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262432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(TP+FP)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53288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say positive, how often right?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84448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017520" y="3675888"/>
            <a:ext cx="3108960" cy="502920"/>
          </a:xfrm>
          <a:prstGeom prst="roundRect">
            <a:avLst>
              <a:gd name="adj" fmla="val 9091"/>
            </a:avLst>
          </a:prstGeom>
          <a:solidFill>
            <a:srgbClr val="0B1220"/>
          </a:solidFill>
          <a:ln/>
        </p:spPr>
      </p:sp>
      <p:sp>
        <p:nvSpPr>
          <p:cNvPr id="19" name="Text 17"/>
          <p:cNvSpPr/>
          <p:nvPr/>
        </p:nvSpPr>
        <p:spPr>
          <a:xfrm>
            <a:off x="3108960" y="367588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(TP+FN)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58444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real positives, how many caught?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636008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017520" y="4727448"/>
            <a:ext cx="3108960" cy="502920"/>
          </a:xfrm>
          <a:prstGeom prst="roundRect">
            <a:avLst>
              <a:gd name="adj" fmla="val 9091"/>
            </a:avLst>
          </a:prstGeom>
          <a:solidFill>
            <a:srgbClr val="0B1220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72744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2·P·R / (P+R)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636008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balancing precision &amp; recall</a:t>
            </a:r>
            <a:endParaRPr lang="en-US" sz="1300" dirty="0"/>
          </a:p>
        </p:txBody>
      </p:sp>
      <p:pic>
        <p:nvPicPr>
          <p:cNvPr id="2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vs recall — it depends on the cost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6F8FB"/>
          </a:solidFill>
          <a:ln w="19050">
            <a:solidFill>
              <a:srgbClr val="D35D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D35D4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630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matters most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35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MISS is dangerous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screening, fraud detection, security threats — better a false alarm than a missed case.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6F8FB"/>
          </a:solidFill>
          <a:ln w="19050">
            <a:solidFill>
              <a:srgbClr val="008A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1463040"/>
            <a:ext cx="5394960" cy="822960"/>
          </a:xfrm>
          <a:prstGeom prst="roundRect">
            <a:avLst>
              <a:gd name="adj" fmla="val 13333"/>
            </a:avLst>
          </a:prstGeom>
          <a:solidFill>
            <a:srgbClr val="008AC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4630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matters most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4652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FALSE ALARM is costly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301752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filter, ad targeting, recommending expensive action — better to stay silent than cry wolf.</a:t>
            </a:r>
            <a:endParaRPr lang="en-US" sz="1400" dirty="0"/>
          </a:p>
        </p:txBody>
      </p:sp>
      <p:pic>
        <p:nvPicPr>
          <p:cNvPr id="1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metrics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9903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51760" y="147218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47218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mean((y - ŷ)²)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1399032"/>
            <a:ext cx="4937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squared error — punishes big misses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6771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51760" y="234086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3408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√MSE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37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units as the target — most reported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13639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51760" y="320954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0" y="32095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mean(|y - ŷ|)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3136392"/>
            <a:ext cx="4937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outliers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00507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651760" y="407822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407822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mean(|(y-ŷ)/y|)·100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4005072"/>
            <a:ext cx="4937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as a % — easy to explain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80060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87375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651760" y="4946904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0" y="494690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E3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SSres/SStot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92240" y="4873752"/>
            <a:ext cx="4937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variation explained (1 = perfect)</a:t>
            </a:r>
            <a:endParaRPr lang="en-US" sz="1300" dirty="0"/>
          </a:p>
        </p:txBody>
      </p:sp>
      <p:pic>
        <p:nvPicPr>
          <p:cNvPr id="31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F8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27432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1945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lab — implement the metrics (AutoCode)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6385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notebook continues from Topic 3. NumPy only — the same functions AutoCode's unit tests will check.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6F8FB"/>
          </a:solidFill>
          <a:ln w="19050">
            <a:solidFill>
              <a:srgbClr val="008A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68880"/>
            <a:ext cx="3520440" cy="640080"/>
          </a:xfrm>
          <a:prstGeom prst="roundRect">
            <a:avLst>
              <a:gd name="adj" fmla="val 17143"/>
            </a:avLst>
          </a:prstGeom>
          <a:solidFill>
            <a:srgbClr val="008AC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metrics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703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precision · recall · F1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51960" y="2468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6F8FB"/>
          </a:solidFill>
          <a:ln w="19050">
            <a:solidFill>
              <a:srgbClr val="CEDB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2468880"/>
            <a:ext cx="3520440" cy="640080"/>
          </a:xfrm>
          <a:prstGeom prst="roundRect">
            <a:avLst>
              <a:gd name="adj" fmla="val 17143"/>
            </a:avLst>
          </a:prstGeom>
          <a:solidFill>
            <a:srgbClr val="CEDB56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24688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80560" y="32461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metrics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3703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· RMSE · MAE · MAPE · R²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55280" y="2468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6F8FB"/>
          </a:solidFill>
          <a:ln w="19050">
            <a:solidFill>
              <a:srgbClr val="D35D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2468880"/>
            <a:ext cx="3520440" cy="640080"/>
          </a:xfrm>
          <a:prstGeom prst="roundRect">
            <a:avLst>
              <a:gd name="adj" fmla="val 17143"/>
            </a:avLst>
          </a:prstGeom>
          <a:solidFill>
            <a:srgbClr val="D35D47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24688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183880" y="32461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183880" y="370332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&amp; time-series index splits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AF6F9"/>
          </a:solidFill>
          <a:ln w="12700">
            <a:solidFill>
              <a:srgbClr val="39C2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983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exercise: broken/blank starter code → run a self-check → open the hidden solution. Then submit to AutoCode.</a:t>
            </a:r>
            <a:endParaRPr lang="en-US" sz="1300" dirty="0"/>
          </a:p>
        </p:txBody>
      </p:sp>
      <p:pic>
        <p:nvPicPr>
          <p:cNvPr id="25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382512"/>
            <a:ext cx="822960" cy="188366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463040" y="638251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Evaluation &amp; Strategies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43000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8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9C2D7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904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173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adjust parameters to minimise loss; you set the hyperparameters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167128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judge on unseen data; mind the train–test gap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916936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9900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916936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Bias–variance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underfit = high bias, overfit = high variance; aim for the sweet spot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666744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66674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simple models directly; use SHAP for the rest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4897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416552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average over folds; match the strategy to the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7772400" cy="640080"/>
          </a:xfrm>
          <a:prstGeom prst="roundRect">
            <a:avLst>
              <a:gd name="adj" fmla="val 8571"/>
            </a:avLst>
          </a:prstGeom>
          <a:solidFill>
            <a:srgbClr val="31465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239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16636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 </a:t>
            </a:r>
            <a:pPr indent="0" marL="0">
              <a:buNone/>
            </a:pPr>
            <a:r>
              <a:rPr lang="en-US" sz="12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precision vs recall by cost; RMSE/MAE/R² for regression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595360" y="1417320"/>
            <a:ext cx="3017520" cy="3931920"/>
          </a:xfrm>
          <a:prstGeom prst="roundRect">
            <a:avLst>
              <a:gd name="adj" fmla="val 3030"/>
            </a:avLst>
          </a:prstGeom>
          <a:solidFill>
            <a:srgbClr val="39C2D7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78240" y="2057400"/>
            <a:ext cx="26517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8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a model and explain what it learned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8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spot overfitting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8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evaluate properly with CV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08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pick the right metric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5989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000" dirty="0"/>
          </a:p>
        </p:txBody>
      </p:sp>
      <p:pic>
        <p:nvPicPr>
          <p:cNvPr id="26" name="Image 0" descr="deckimg/itp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989320"/>
            <a:ext cx="1280160" cy="2935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IT Park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ITPU</dc:creator>
  <cp:lastModifiedBy>ITPU</cp:lastModifiedBy>
  <cp:revision>1</cp:revision>
  <dcterms:created xsi:type="dcterms:W3CDTF">2026-08-27T12:33:49Z</dcterms:created>
  <dcterms:modified xsi:type="dcterms:W3CDTF">2026-08-27T12:33:49Z</dcterms:modified>
</cp:coreProperties>
</file>