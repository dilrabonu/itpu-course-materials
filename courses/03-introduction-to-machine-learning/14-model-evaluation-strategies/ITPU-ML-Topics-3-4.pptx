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88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topics, one 90-minute arc: first how a model learns and how we read it, then how we evaluate it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Topics 3 and 4 flow together: learn &amp; interpret a model, then evaluate it rigorously.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Outcomes: describe training; explain over/underfitting; interpret models with SHAP.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pipeline, then the A→B→C loop. Training = adjust parameters to minimise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press Train step, watch loss fall. Crank the learning rate to show divergence.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and the code are the same four steps. Feature scaling keeps it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score is vanity; test score is truth. The gap =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complexity underfit→good→overfit; test-error U-curve marks the sweet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 bill = splitting the prediction fairly. Read: which features, direction,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class green/red before each drag. Then show the real beeswarm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Outcomes: describe CV techniques; compute classification &amp; regression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average over folds is what you report — not one lucky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Engaging Q: time-dependent? imbalanced? grouped? Ask before revealing each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pitfall. Show the expanding window; validation is always after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protects against false alarms; recall against misses. F1 needs both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place: self-driving car brake? → recall. This trade-off is the exam favourite.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if big errors matter; MAE if outliers shouldn't dominate; R² for variance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rooms code the blanks; self-check; then AutoCode unit tests grade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by asking students to state each line. Exit ticket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03120"/>
            <a:ext cx="6858000" cy="6858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263852">
              <a:alpha val="18000"/>
            </a:srgbClr>
          </a:solidFill>
          <a:ln/>
        </p:spPr>
      </p:sp>
      <p:pic>
        <p:nvPicPr>
          <p:cNvPr id="4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1600" cy="3136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3774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Evaluation &amp; Model Evaluation Strategies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Training, Overfitting &amp; Interpretability    •    Topic 4 — Cross-Validation &amp; Metrics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Dilrabo Khidirova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— two topics, one story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755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training involves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1396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loss → adjust → repeat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47088"/>
            <a:ext cx="603504" cy="603504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8470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bias-variance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21396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generalization problem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401568"/>
            <a:ext cx="603504" cy="603504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015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3310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SHAP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6941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model predict that?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0175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401568"/>
            <a:ext cx="603504" cy="603504"/>
          </a:xfrm>
          <a:prstGeom prst="ellipse">
            <a:avLst/>
          </a:prstGeom>
          <a:solidFill>
            <a:srgbClr val="008AC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4015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178040" y="3310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6941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every part of the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956048"/>
            <a:ext cx="603504" cy="603504"/>
          </a:xfrm>
          <a:prstGeom prst="ellipse">
            <a:avLst/>
          </a:prstGeom>
          <a:solidFill>
            <a:srgbClr val="CEDB5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956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54480" y="48646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54480" y="52486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 scores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572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956048"/>
            <a:ext cx="603504" cy="603504"/>
          </a:xfrm>
          <a:prstGeom prst="ellipse">
            <a:avLst/>
          </a:prstGeom>
          <a:solidFill>
            <a:srgbClr val="26385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956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178040" y="48646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lab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78040" y="52486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it in NumPy (AutoCode)</a:t>
            </a:r>
            <a:endParaRPr lang="en-US" sz="1200" dirty="0"/>
          </a:p>
        </p:txBody>
      </p:sp>
      <p:pic>
        <p:nvPicPr>
          <p:cNvPr id="36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Evaluation &amp; Interpretation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 learns from data — and how we understand what it learned.</a:t>
            </a:r>
            <a:endParaRPr lang="en-US" sz="1700" dirty="0"/>
          </a:p>
        </p:txBody>
      </p:sp>
      <p:pic>
        <p:nvPicPr>
          <p:cNvPr id="6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0"/>
            <a:ext cx="1005840" cy="230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training a model involves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252728"/>
            <a:ext cx="11210544" cy="444398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deckimg/ml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64240" cy="4297680"/>
          </a:xfrm>
          <a:prstGeom prst="rect">
            <a:avLst/>
          </a:prstGeom>
        </p:spPr>
      </p:pic>
      <p:pic>
        <p:nvPicPr>
          <p:cNvPr id="8" name="Image 1" descr="deck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DISTINCTION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hyperparameters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EAF6F9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019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by the model during training.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r>
              <a:rPr lang="en-US" sz="13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(slope), b (intercept), neural-net weights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19050">
            <a:solidFill>
              <a:srgbClr val="D35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050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YOU before training.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4348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r>
              <a:rPr lang="en-US" sz="13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number of epochs, tree depth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70448" y="1389888"/>
            <a:ext cx="5815584" cy="3803904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5" name="Image 0" descr="deckimg/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5669280" cy="3657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43600" y="5212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Watch a Model Train — the loss shrinks as w, b adjust; the slider is the learning rate.</a:t>
            </a:r>
            <a:endParaRPr lang="en-US" sz="1100" dirty="0"/>
          </a:p>
        </p:txBody>
      </p:sp>
      <p:pic>
        <p:nvPicPr>
          <p:cNvPr id="17" name="Image 1" descr="deck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IN CODE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loop — ~10 lines of NumPy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589520" cy="420624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7223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model:  price = w * area + b
w, b = 0.0, 0.0          # parameters (start random)
lr = 0.1                 # hyperparameter (you set)
</a:t>
            </a:r>
            <a:r>
              <a:rPr lang="en-US" sz="13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F2B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range(300):
</a:t>
            </a: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   = (w*area_s + b) - price      # A. predict
    grad_w = np.mean(2 * err * area_s)  # B. measure
</a:t>
            </a:r>
            <a:r>
              <a:rPr lang="en-US" sz="13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grad_b = np.mean(2 * err)
</a:t>
            </a: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-= lr * grad_w                    # C. adjust
</a:t>
            </a:r>
            <a:r>
              <a:rPr lang="en-US" sz="13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-= lr * grad_b
</a:t>
            </a: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loss 7731  -&gt;  0.85   (the line now fits)
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37160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the loop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0" y="201168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8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predict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3252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current w, 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95360" y="288036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D35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measure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2520" y="3264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(gradient)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374904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CEDB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D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adjust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32520" y="4133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w, b down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95360" y="461772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39C2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4709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5001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loss is small</a:t>
            </a:r>
            <a:endParaRPr lang="en-US" sz="1100" dirty="0"/>
          </a:p>
        </p:txBody>
      </p:sp>
      <p:pic>
        <p:nvPicPr>
          <p:cNvPr id="22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 (CONT.)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judge on UNSEEN data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mistake: a model with 99% accuracy on the data it trained on — that looks great but proves nothing.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7589520" cy="3017520"/>
          </a:xfrm>
          <a:prstGeom prst="roundRect">
            <a:avLst>
              <a:gd name="adj" fmla="val 2424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7223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B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
</a:t>
            </a:r>
            <a:r>
              <a:rPr lang="en-US" sz="13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y, test_size=0.3)
</a:t>
            </a:r>
            <a:r>
              <a:rPr lang="en-US" sz="1300" dirty="0">
                <a:solidFill>
                  <a:srgbClr val="F2B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
</a:t>
            </a:r>
            <a:r>
              <a:rPr lang="en-US" sz="13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train_acc = accuracy(y_train, model.predict(X_train))
test_acc  = accuracy(y_test,  model.predict(X_test))
</a:t>
            </a: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Training accuracy: 100%
# Test accuracy:      84%   &lt;- the GAP = overfitting
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2560320"/>
            <a:ext cx="3200400" cy="3017520"/>
          </a:xfrm>
          <a:prstGeom prst="roundRect">
            <a:avLst>
              <a:gd name="adj" fmla="val 3030"/>
            </a:avLst>
          </a:prstGeom>
          <a:solidFill>
            <a:srgbClr val="EAF6F9"/>
          </a:solidFill>
          <a:ln w="15875">
            <a:solidFill>
              <a:srgbClr val="39C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signal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0" y="32004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difference between training and test scores means the model memorised instead of learning the pattern.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your early warning of overfitting.</a:t>
            </a:r>
            <a:endParaRPr lang="en-US" sz="1300" dirty="0"/>
          </a:p>
        </p:txBody>
      </p:sp>
      <p:pic>
        <p:nvPicPr>
          <p:cNvPr id="13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Overfitting, underfitting &amp; the bias–variance trade-off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252728"/>
            <a:ext cx="718718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deckimg/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04088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141732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9050">
            <a:solidFill>
              <a:srgbClr val="008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15270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1920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 — high bias — misses the pattern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274320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9050">
            <a:solidFill>
              <a:srgbClr val="CEDB5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2852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ED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true pattern — generalizes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863840" y="406908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9050">
            <a:solidFill>
              <a:srgbClr val="D35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4178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0" y="4572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 — high variance — chases noise</a:t>
            </a:r>
            <a:endParaRPr lang="en-US" sz="1250" dirty="0"/>
          </a:p>
        </p:txBody>
      </p:sp>
      <p:pic>
        <p:nvPicPr>
          <p:cNvPr id="17" name="Image 1" descr="deck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— why did the model predict that?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7461504" cy="4261104"/>
          </a:xfrm>
          <a:prstGeom prst="roundRect">
            <a:avLst>
              <a:gd name="adj" fmla="val 1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deckimg/shap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3152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38160" y="141732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21040" y="1965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are readable by design (linear reg, shallow tree). Complex ones aren't.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321040" y="2971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21040" y="3337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prediction into each feature's fair share — how much it pushed the answer up or down from the average.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21040" y="4892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explains ANY model.</a:t>
            </a:r>
            <a:endParaRPr lang="en-US" sz="1200" dirty="0"/>
          </a:p>
        </p:txBody>
      </p:sp>
      <p:pic>
        <p:nvPicPr>
          <p:cNvPr id="14" name="Image 1" descr="deck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IN 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SHAP — push-bars &amp; the beeswarm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6912864" cy="4261104"/>
          </a:xfrm>
          <a:prstGeom prst="roundRect">
            <a:avLst>
              <a:gd name="adj" fmla="val 1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deckimg/sha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76656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41732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EAF6F9"/>
          </a:solidFill>
          <a:ln w="15875">
            <a:solidFill>
              <a:srgbClr val="39C2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any SHAP plot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Which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23957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bars = features that matter most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1812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Direction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3310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pushes up, red pulls down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1812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Size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8120" y="42245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from the average baseline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18120" y="4892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feature → its bar grows and the prediction updates. SHAP made tangible.</a:t>
            </a:r>
            <a:endParaRPr lang="en-US" sz="1200" dirty="0"/>
          </a:p>
        </p:txBody>
      </p:sp>
      <p:pic>
        <p:nvPicPr>
          <p:cNvPr id="17" name="Image 1" descr="deck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3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EDB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ED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Strategies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7E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lucky split to a rigorous, systematic score.</a:t>
            </a:r>
            <a:endParaRPr lang="en-US" sz="1700" dirty="0"/>
          </a:p>
        </p:txBody>
      </p:sp>
      <p:pic>
        <p:nvPicPr>
          <p:cNvPr id="6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0"/>
            <a:ext cx="1005840" cy="2304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cross-validation beats a single split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BECEA"/>
          </a:solidFill>
          <a:ln w="19050">
            <a:solidFill>
              <a:srgbClr val="D35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ONE score. It depends on which points happened to land in the test set — lucky or unlucky.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846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unreliable, high variance in the estimate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AF6F9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K folds. Each fold validates once while the rest train. Average the K scores.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</a:t>
            </a:r>
            <a:r>
              <a:rPr lang="en-US" sz="1300" b="1" dirty="0">
                <a:solidFill>
                  <a:srgbClr val="263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[0.85, 0.90, 0.85, 0.75, 0.78]  →  avg 0.83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point is validated once → reliable</a:t>
            </a:r>
            <a:endParaRPr lang="en-US" sz="1300" dirty="0"/>
          </a:p>
        </p:txBody>
      </p:sp>
      <p:pic>
        <p:nvPicPr>
          <p:cNvPr id="15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 (CONT.)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strategies — match the split to your data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252728"/>
            <a:ext cx="1121054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deckimg/cvfo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64240" cy="4572000"/>
          </a:xfrm>
          <a:prstGeom prst="rect">
            <a:avLst/>
          </a:prstGeom>
        </p:spPr>
      </p:pic>
      <p:pic>
        <p:nvPicPr>
          <p:cNvPr id="8" name="Image 1" descr="deck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PEOPLE GET WRONG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— never shuffle time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7370064" cy="4261104"/>
          </a:xfrm>
          <a:prstGeom prst="roundRect">
            <a:avLst>
              <a:gd name="adj" fmla="val 1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deckimg/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22376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41732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BECEA"/>
          </a:solidFill>
          <a:ln w="15875">
            <a:solidFill>
              <a:srgbClr val="D35D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carries the signal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38160" y="2011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train on the PAST and validate on the FUTURE. The training window grows forward.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38160" y="31089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a time-series lets the model peek at the future to predict the past — a silent, fatal bug.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4663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prices, demand, sensors, any time-ordered data.</a:t>
            </a:r>
            <a:endParaRPr lang="en-US" sz="1200" dirty="0"/>
          </a:p>
        </p:txBody>
      </p:sp>
      <p:pic>
        <p:nvPicPr>
          <p:cNvPr id="13" name="Image 1" descr="deck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metrics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8132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17520" y="1572768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727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(TP+TN) / 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8132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 — weak on imbalanced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3288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017520" y="2624328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26243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53288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say positive, how often right?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8444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017520" y="3675888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36758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58444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real positives, how many caught?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3600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017520" y="4727448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47274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2·P·R / (P+R)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63600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balancing precision &amp; recall</a:t>
            </a:r>
            <a:endParaRPr lang="en-US" sz="1300" dirty="0"/>
          </a:p>
        </p:txBody>
      </p:sp>
      <p:pic>
        <p:nvPicPr>
          <p:cNvPr id="26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METRIC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— it depends on the cost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6F8FB"/>
          </a:solidFill>
          <a:ln w="19050">
            <a:solidFill>
              <a:srgbClr val="D35D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D35D4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matters most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MISS is dangerous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screening, fraud detection, security threats — better a false alarm than a missed case.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6F8FB"/>
          </a:solidFill>
          <a:ln w="19050">
            <a:solidFill>
              <a:srgbClr val="008A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630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008AC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463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matters most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FALSE ALARM is costly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filter, ad targeting, recommending expensive action — better to stay silent than cry wolf.</a:t>
            </a:r>
            <a:endParaRPr lang="en-US" sz="1400" dirty="0"/>
          </a:p>
        </p:txBody>
      </p:sp>
      <p:pic>
        <p:nvPicPr>
          <p:cNvPr id="16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9903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1760" y="147218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4721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mean((y - ŷ)²)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39903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squared error — punishes big misses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6771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51760" y="234086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3408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√MSE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26771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as the target — most reported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3639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1760" y="320954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2095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mean(|y - ŷ|)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13639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0507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51760" y="407822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407822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mean(|(y-ŷ)/y|)·100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00507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as a % — easy to explain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87375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51760" y="494690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0" y="49469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SSres/SStot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487375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variation explained (1 = perfect)</a:t>
            </a:r>
            <a:endParaRPr lang="en-US" sz="1300" dirty="0"/>
          </a:p>
        </p:txBody>
      </p:sp>
      <p:pic>
        <p:nvPicPr>
          <p:cNvPr id="31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lab — implement the metrics (AutoCode)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6385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continues from Topic 3. NumPy only — the same functions AutoCode's unit tests will check.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9050">
            <a:solidFill>
              <a:srgbClr val="008A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008AC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metrics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24688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9050">
            <a:solidFill>
              <a:srgbClr val="CEDB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4688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CEDB56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468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3246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703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· RMSE · MAE · MAPE · R²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24688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9050">
            <a:solidFill>
              <a:srgbClr val="D35D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4688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D35D47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468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83880" y="3246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83880" y="3703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&amp; time-series index splits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AF6F9"/>
          </a:solidFill>
          <a:ln w="12700">
            <a:solidFill>
              <a:srgbClr val="39C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exercise: broken/blank starter code → run a self-check → open the hidden solution. Then submit to AutoCode.</a:t>
            </a:r>
            <a:endParaRPr lang="en-US" sz="1300" dirty="0"/>
          </a:p>
        </p:txBody>
      </p:sp>
      <p:pic>
        <p:nvPicPr>
          <p:cNvPr id="25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63040" y="63825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&amp; Strategies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3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39C2D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772400" cy="640080"/>
          </a:xfrm>
          <a:prstGeom prst="roundRect">
            <a:avLst>
              <a:gd name="adj" fmla="val 8571"/>
            </a:avLst>
          </a:prstGeom>
          <a:solidFill>
            <a:srgbClr val="31465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</a:t>
            </a: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adjust parameters to minimise loss; you set the hyperparameters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7772400" cy="640080"/>
          </a:xfrm>
          <a:prstGeom prst="roundRect">
            <a:avLst>
              <a:gd name="adj" fmla="val 8571"/>
            </a:avLst>
          </a:prstGeom>
          <a:solidFill>
            <a:srgbClr val="31465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6712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 </a:t>
            </a: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judge on unseen data; mind the train–test gap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7772400" cy="640080"/>
          </a:xfrm>
          <a:prstGeom prst="roundRect">
            <a:avLst>
              <a:gd name="adj" fmla="val 8571"/>
            </a:avLst>
          </a:prstGeom>
          <a:solidFill>
            <a:srgbClr val="31465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916936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  </a:t>
            </a: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underfit = high bias, overfit = high variance; aim for the sweet spot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7772400" cy="640080"/>
          </a:xfrm>
          <a:prstGeom prst="roundRect">
            <a:avLst>
              <a:gd name="adj" fmla="val 8571"/>
            </a:avLst>
          </a:prstGeom>
          <a:solidFill>
            <a:srgbClr val="31465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39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66674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 </a:t>
            </a: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 simple models directly; use SHAP for the rest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7772400" cy="640080"/>
          </a:xfrm>
          <a:prstGeom prst="roundRect">
            <a:avLst>
              <a:gd name="adj" fmla="val 8571"/>
            </a:avLst>
          </a:prstGeom>
          <a:solidFill>
            <a:srgbClr val="3146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41655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 </a:t>
            </a: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average over folds; match the strategy to the data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7772400" cy="640080"/>
          </a:xfrm>
          <a:prstGeom prst="roundRect">
            <a:avLst>
              <a:gd name="adj" fmla="val 8571"/>
            </a:avLst>
          </a:prstGeom>
          <a:solidFill>
            <a:srgbClr val="31465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166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</a:t>
            </a: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precision vs recall by cost; RMSE/MAE/R² for regression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95360" y="1417320"/>
            <a:ext cx="3017520" cy="3931920"/>
          </a:xfrm>
          <a:prstGeom prst="roundRect">
            <a:avLst>
              <a:gd name="adj" fmla="val 3030"/>
            </a:avLst>
          </a:prstGeom>
          <a:solidFill>
            <a:srgbClr val="39C2D7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0" y="205740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8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a model and explain what it learned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8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spot overfitting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8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properly with CV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8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 the right metric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pic>
        <p:nvPicPr>
          <p:cNvPr id="26" name="Image 0" descr="deck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989320"/>
            <a:ext cx="1280160" cy="2935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1732</Words>
  <Application>Microsoft Office PowerPoint</Application>
  <PresentationFormat>Widescreen</PresentationFormat>
  <Paragraphs>245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 Park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ITPU</dc:creator>
  <cp:lastModifiedBy>Dilrabo Khidirova</cp:lastModifiedBy>
  <cp:revision>2</cp:revision>
  <dcterms:created xsi:type="dcterms:W3CDTF">2026-08-27T12:33:49Z</dcterms:created>
  <dcterms:modified xsi:type="dcterms:W3CDTF">2026-09-10T06:46:41Z</dcterms:modified>
</cp:coreProperties>
</file>