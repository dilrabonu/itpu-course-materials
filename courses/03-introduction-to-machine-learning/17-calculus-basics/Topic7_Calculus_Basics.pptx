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Frame the session: you've read the theory online — today we test what stuck, fix what didn't, and apply it. The ONE thing to walk away with: gradient descent = walking downhill on a loss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5 phases in 30 seconds. Emphasize: this is flipped — minimal lecturing, maximum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Mentimeter word cloud. Read the room aloud. If you see 'scary/hard/confusing' — acknowledge it and promise it'll feel mechanical by the end. 3 min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Kahoot/Mentimeter 6-question quiz. After EACH question show the distribution. Any question &gt;40% wrong = flag it, spend 20 sec. Then confidence self-rating. Overlay confidence vs accuracy: high-confidence-but-wrong is your teaching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gradient_descent_simulator.html. Use f(x)=(x-3)^2. Click 'One Step' a few times so they SEE the slope flatten as it nears the minimum. Emphasize the minus sign: gradient points up, we go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simulator, keep x0 fixed and sweep the learning rate slider: 0.05, 0.3, 1.1. Let them watch it crawl, converge, then explode. This sets up the breakout where groups get different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most-confused slide in the whole topic. Optionally open derivative_family_explorer.html to click through each. Key line: gradient = a vector of partials; Jacobian = a matrix for vector→vector; Hessian = second-order, tells min vs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setup. Everyone can compute 2(x-3). The point is to descend, not solve.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rooms with different learning rates. Drop the Miro/Excalidraw board link + student handout in chat. 7 min in breakout. Circulate between rooms. Room 4 (α=1.1) will diverge — that's intentional and the highlight of the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each room drop their trajectory on the shared board. Narrate the pattern. The BIG idea they discovered themselves: learning rate is the single most important hyperparameter to get right. Bridge: your AutoCode gradient-descent exercise is this exact loop, generalized to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Q&amp;A: which ML algorithms do you know that use optimization? (linear/logistic regression, neural nets, SVMs...). Then point to the three AutoCode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exit ticket via Forms/Mentimeter — collect both the conceptual answer and muddiest point (feeds your next session). Recap the 4 takeaways. Point them to AutoCode. Thank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2F6F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FF6B4A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SESSION · INTRO TO ML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 Basics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that teaches machines to learn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06240" y="4114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4114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&amp; gradients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0" y="41148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0" y="4114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live session  ·  Flipped format: diagnose → repair → apply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· 60 minutes · You've already done the reading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566160"/>
          </a:xfrm>
          <a:prstGeom prst="roundRect">
            <a:avLst>
              <a:gd name="adj" fmla="val 6140"/>
            </a:avLst>
          </a:prstGeom>
          <a:solidFill>
            <a:srgbClr val="EAF1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2084832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7592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34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42900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40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+ mood check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98064" y="1828800"/>
            <a:ext cx="2084832" cy="3566160"/>
          </a:xfrm>
          <a:prstGeom prst="roundRect">
            <a:avLst>
              <a:gd name="adj" fmla="val 6140"/>
            </a:avLst>
          </a:prstGeom>
          <a:solidFill>
            <a:srgbClr val="EAF1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084832"/>
            <a:ext cx="566928" cy="56692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701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2834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342900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3840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quiz — find the gaps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7488" y="1828800"/>
            <a:ext cx="2084832" cy="3566160"/>
          </a:xfrm>
          <a:prstGeom prst="roundRect">
            <a:avLst>
              <a:gd name="adj" fmla="val 6140"/>
            </a:avLst>
          </a:prstGeom>
          <a:solidFill>
            <a:srgbClr val="EAF1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084832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157216" y="2834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hard parts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57216" y="342900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84648" y="3840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what you missed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96912" y="1828800"/>
            <a:ext cx="2084832" cy="3566160"/>
          </a:xfrm>
          <a:prstGeom prst="roundRect">
            <a:avLst>
              <a:gd name="adj" fmla="val 6140"/>
            </a:avLst>
          </a:prstGeom>
          <a:solidFill>
            <a:srgbClr val="EAF1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5864" y="2084832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55864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834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42900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3840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ball downhill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46336" y="1828800"/>
            <a:ext cx="2084832" cy="3566160"/>
          </a:xfrm>
          <a:prstGeom prst="roundRect">
            <a:avLst>
              <a:gd name="adj" fmla="val 6140"/>
            </a:avLst>
          </a:prstGeom>
          <a:solidFill>
            <a:srgbClr val="EAF1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05288" y="2084832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0528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656064" y="2834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656064" y="342900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83496" y="3840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+ practice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822960" cy="8229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5453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813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word: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920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feel about calculus in machine learning?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1097280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Drop your word in the Mentimeter word cloud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76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 this:  </a:t>
            </a:r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wrong answers. This tells me the room's mood — and by the end of today, the scary words should feel mechanical instead.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Diagnostic: let's find the gaps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6-question live quiz — ranked &amp; timed. The wrong answers ARE the map of what we fix next.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11096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28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828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624328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5420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at a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337560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2552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255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of partials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050792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9684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39684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matrix, vector→vector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681728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764024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681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46817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curvature, 2nd order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394960"/>
            <a:ext cx="6583680" cy="566928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5477256"/>
            <a:ext cx="402336" cy="40233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5394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5394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 / max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9520" y="1828800"/>
            <a:ext cx="4023360" cy="4261104"/>
          </a:xfrm>
          <a:prstGeom prst="roundRect">
            <a:avLst>
              <a:gd name="adj" fmla="val 3182"/>
            </a:avLst>
          </a:prstGeom>
          <a:solidFill>
            <a:srgbClr val="0F2C4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86384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ladder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260604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builds on the one below it.
</a:t>
            </a:r>
            <a:pPr indent="0" marL="0">
              <a:buNone/>
            </a:pPr>
            <a:r>
              <a:rPr lang="en-US" sz="1500" b="1" dirty="0">
                <a:solidFill>
                  <a:srgbClr val="FF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zone:  </a:t>
            </a:r>
            <a:pPr indent="0" marL="0">
              <a:buNone/>
            </a:pPr>
            <a:r>
              <a:rPr lang="en-US" sz="15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+ wrong answer. That's exactly what we explain next.
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confidence 1–5 on each after the quiz.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#1 — The gradient is a compass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means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∇f points in the direction of steepest ASCENT — uphill.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to go downhill (minimize loss), we step in the OPPOSITE direction:
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0F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9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 ←  x  −  α · ∇f(x)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</a:t>
            </a:r>
            <a:pPr indent="0" marL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learning rate (how big a step)
</a:t>
            </a:r>
            <a:pPr indent="0" marL="0">
              <a:buNone/>
            </a:pPr>
            <a:r>
              <a:rPr lang="en-US" sz="14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</a:t>
            </a:r>
            <a:pPr indent="0" marL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minus is why we go DOWN, not up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0F2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LIVE DEMO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194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Simulator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2880360"/>
            <a:ext cx="44805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310896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tangent line's slope at a point.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through 2–3 positions.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“which way is downhill here?”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let the ball roll.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#2 — The learning-rate trap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one number changed. This is the #1 thing that breaks training.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🐌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small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600200" y="36118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3611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0.05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Crawls. Correct direction, but painfully slow — wastes compute.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25400">
            <a:solidFill>
              <a:srgbClr val="12B8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✅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just right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3611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fast descent straight to the minimum. The goal.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46720" y="192024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254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💥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large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006840" y="36118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06840" y="3611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1.1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3434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and explodes — loss goes to infinity. Diverges.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#3 — Which derivative when?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measure change. The difference is how many inputs and outputs the function has.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60320" cy="5029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60320" cy="5029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2194560" cy="5029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657600" cy="5029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10972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551176"/>
            <a:ext cx="310896" cy="3108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23317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331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→ 1 out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3317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f′(x)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3317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a curve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081528"/>
            <a:ext cx="10972800" cy="749808"/>
          </a:xfrm>
          <a:prstGeom prst="rect">
            <a:avLst/>
          </a:prstGeom>
          <a:solidFill>
            <a:srgbClr val="EAF1F8"/>
          </a:solidFill>
          <a:ln w="6350">
            <a:solidFill>
              <a:srgbClr val="D9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300984"/>
            <a:ext cx="310896" cy="310896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308152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0815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 → 1 out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08152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∂f/∂x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0815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others frozen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831336"/>
            <a:ext cx="10972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050792"/>
            <a:ext cx="310896" cy="3108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34440" y="383133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38313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 → 1 out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38313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∇f (vector)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38313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partials stacked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4581144"/>
            <a:ext cx="10972800" cy="749808"/>
          </a:xfrm>
          <a:prstGeom prst="rect">
            <a:avLst/>
          </a:prstGeom>
          <a:solidFill>
            <a:srgbClr val="EAF1F8"/>
          </a:solidFill>
          <a:ln w="6350">
            <a:solidFill>
              <a:srgbClr val="D9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800600"/>
            <a:ext cx="310896" cy="3108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234440" y="458114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200400" y="45811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→ many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458114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 (matrix)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5811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vector-valued functions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" y="5330952"/>
            <a:ext cx="10972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3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550408"/>
            <a:ext cx="310896" cy="31089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234440" y="53309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3200400" y="53309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760720" y="5330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(matrix)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53309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2nd-order, min vs max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572000" cy="4572000"/>
          </a:xfrm>
          <a:prstGeom prst="ellipse">
            <a:avLst/>
          </a:prstGeom>
          <a:solidFill>
            <a:srgbClr val="FF6B4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93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Roll the ball downhill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DO gradient descent by hand — then discover the learning-rate lesson yourselves.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9496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2F6F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71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(x − 3)²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f′(x) = 2(x − 3)
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minimum at x = 3 — NOT by solving it, but by stepping downhill.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3-step loop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83680" y="269748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697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at your current 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3721608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7216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 x ← x − α · gradient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4745736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74573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plot each new point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3 iterations. Plot your trail on the shared board.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rooms — your mission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63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The twist:  </a:t>
            </a:r>
            <a:pPr indent="0" marL="0">
              <a:buNone/>
            </a:pPr>
            <a:r>
              <a:rPr lang="en-US" sz="16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gets a DIFFERENT learning rate. When we regroup, we'll see who converged, who wobbled, and who exploded — and figure out why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C4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x₀ = 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12B8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C4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86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x₀ = 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C4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0.9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886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x₀ = 8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06840" y="27432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254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337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C4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1.1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886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x₀ = 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shared board (link in chat):  </a:t>
            </a:r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compute f′(x)=2(x−3) at your x   2) update x ← x − α·f′(x)   3) do 3 steps   4) plot your trail.
</a:t>
            </a:r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minutes. Pick one person to report back.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just happened?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ran the SAME loop. Only α changed. That single number decided everything.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0253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82880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slowly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28800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answer, many steps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02666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266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0.5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8529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fast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52928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50792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50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0.9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3877056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Wobbled / zig-zag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877056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Bounces across the valley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901184"/>
            <a:ext cx="10972800" cy="896112"/>
          </a:xfrm>
          <a:prstGeom prst="roundRect">
            <a:avLst>
              <a:gd name="adj" fmla="val 10204"/>
            </a:avLst>
          </a:prstGeom>
          <a:solidFill>
            <a:srgbClr val="EAF1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07492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074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1.1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90118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💥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901184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to infinity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972800" cy="91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 room to real ML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toy you just ran is exactly how models train — just with millions of parameters.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48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60604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(x−3)² bowl becomes a model's error over all its weights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48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60604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update rule x ← x − α·∇f, now over a whole weight vector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6052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60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57200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loss surfaces are bumpy — GD can get stuck in a valley that isn't the deepest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60520"/>
            <a:ext cx="777240" cy="7772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160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&amp; friends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57200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/ mini-batch GD add randomness to escape and to scale to big data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48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&amp; exit ticket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86400" cy="448056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things to remember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31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points uphill — we step the opposite way to minimize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3273552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278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x − α·∇f  is the whole engine of training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169664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239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α makes or breaks it: too big explodes, too small crawls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5065776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0200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loss surfaces have local minima — SGD helps escape them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0F2C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Exit ticket (2 min)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240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do we step in the NEGATIVE gradient direction?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Muddiest point: what's still unclear?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200"/>
            <a:ext cx="5212080" cy="2148840"/>
          </a:xfrm>
          <a:prstGeom prst="roundRect">
            <a:avLst>
              <a:gd name="adj" fmla="val 5957"/>
            </a:avLst>
          </a:prstGeom>
          <a:solidFill>
            <a:srgbClr val="EAF1F8"/>
          </a:solidFill>
          <a:ln w="25400">
            <a:solidFill>
              <a:srgbClr val="FF6B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4069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AutoCode practice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Derivatives, partial derivatives &amp; gradients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Gradient descent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Mini-batch gradient descent
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Auto-checked by unit tests. ReadMe covers anything not in the lecture.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· Calculus Basics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2026-09-01T17:40:21Z</dcterms:created>
  <dcterms:modified xsi:type="dcterms:W3CDTF">2026-09-01T17:40:21Z</dcterms:modified>
</cp:coreProperties>
</file>