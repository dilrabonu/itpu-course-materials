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49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answer two big questions: how does a machine actually LEARN (calculus), and how does it deal with not being sure (probability &amp; statistics). Ask everyone to take out their phones and open menti.com - we will vote many times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Two parts, lots of voting. Tell them the MENTI and ACTIVITY tags so they know when to get active.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cloud grow. Typical words: data, patterns, improve, mistakes, training. Pick 'improve' or 'mistakes' and say: exactly - a model learns by making mistakes and reducing them step by step. Today we see the maths of 'reducing mistakes'.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Calculus is the study of change. In ML we care about one question: if I change a model setting a little, how does the error change?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time. Ask: 'You are blindfolded on a mountain and must reach the valley. What do you do?' Let 2-3 students answer. Answer: feel which way the ground slopes and step downhill, again and again. That is exactly gradient descent - and calculus is the tool that 'feels the slope'.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branches. Differential = how fast something changes. Integral = how much accumulates. Training uses differential, so that's our focus. Integrals come back in Topic 8 because probability is area under a curve.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Everyday example: the speedometer. Position changes over time; the derivative of position is speed. Point at the three coloured tangents: down, flat, up. Key sentence: 'the derivative tells us which direction makes the error smaller'. Example: f(x)=x^2-2x+1, derivative 2x-2, at x=3 slope is 4 -&gt; going up, so move left.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zero. At the bottom the ground is flat. That is why a training algorithm knows it has arrived: the slope becomes (almost) zero.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 score depends on study hours AND sleep hours. The partial derivative with respect to sleep: sleep one more hour, keep study the same, how does the score change? Notice sleep helps, then too much sleep hurts - the slope changes sign. Math: f(x,y)=x^2+y^2, df/dx=2x, df/dy=2y.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shows the error landscape from above: rings are equal-error lines, the star is the minimum. At the dot, the red arrow is the gradient - uphill. The blue arrow is minus gradient - downhill, straight toward the star. Link to Topic 6: the gradient is a VECTOR.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Each one is a bigger version of the previous. The gradient is highlighted because it drives training. Jacobian: for functions with several outputs, like a neural-network layer. Hessian: second derivatives, it measures curvature. Keep Jacobian and Hessian light - name them, one sentence each.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gradient says flat; the Hessian says what KIND of flat. Bowl = minimum, dome = maximum, the third shape is flat but not a valley. Link to Topic 6: 'positive definite' Hessian means bowl. Example: f=x^2+y^2 has Hessian [[2,0],[0,2]] - positive -&gt; a bowl -&gt; minimum at (0,0).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the Hessian - it measures curvature.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Optimization means searching for the best value. The loss curve measures how wrong the model is. Unconstrained: the star, where the slope is zero. Constrained: if a rule forbids part of the space (grey), the best ALLOWED point is the red dot. Lagrange multipliers solve that - optional, just mention.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formula is the most important line in ML training. Read it slowly. The minus is 'go downhill', the gradient is 'which way is uphill', the learning rate is 'how big a step'. Three-step loop.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step 0: steep, so a big jump. Steps get smaller automatically because the gradient gets smaller near the bottom. Nobody tells it to slow down - the maths does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 minutes. Students compute by hand. Step 1: grad=6, x_new=3-1.5=1.5. Step 2: grad=3, x_new=0.75. Step 3: grad=1.5, x_new=0.375. Pattern: x halves each step and approaches 0, the minimum.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Celebrate the fastest pair. Emphasise: steps get smaller on their own because the gradient shrinks.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Goldilocks. Tiny steps: you arrive... next week. Huge steps: you jump from one side of the valley to the other and never land. In our activity, what would happen with lr = 1.0? x_new = x - 2x = -x: it bounces 3, -3, 3 forever!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x_new = x - 5*2x = -9x. From 3: -27, 243... it explodes.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the blindfolded hiker reaches a small hollow, feels flat ground and sits down - but the real valley is over the next hill. That's a local minimum. Ask: how could the hiker escape? (take random steps, carry momentum...). That leads to SGD.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paths. Full batch walks carefully. SGD staggers like a tired person but gets there fast, and the wobble can shake it out of a local dip. Mini-batch is the compromise everyone uses. This is exactly practice exercise 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linear regression, logistic regression, neural networks, deep learning, SVM, matrix factorization, LLMs. Say: nearly every modern model - even ChatGPT-style models - is trained with (mini-batch) gradient descent.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One-line summary: training = rolling downhill to the lowest error. Stretch break of 30 seconds before Part 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gear. After learning, a model must deal with uncertainty: noisy data, unknown future.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does 70% chance of rain mean? Collect answers. Then: ML models output probabilities all the time. Key distinction: probability goes from model to data (predict), statistics goes from data back to model (infer). ML uses both.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from the die example to the email example. Stress: probabilities of all outcomes add up to 1 - that's why softmax outputs sum to 1.</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on the picture. 'Given' means: shrink your world to only the ringed emails. There are 50 rings, 30 of them red: 30/50 = 60%. Compare with P(spam) overall = 40%. Seeing the word 'free' raised our belief - that's conditional probability. Independence: two coin flips - the first tells nothing about the second.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reveal yet. Most students pick 99% or 90%. Show the result bars, then go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with them: 10 red, 50 lime. Out of 60 positives, only 10 are sick. Formula: 0.99*0.01 / (0.99*0.01 + 0.05*0.99) = 0.167. ML lesson: with rare classes (fraud, disease) a 'positive' is often a false alarm. Bayes = start with a prior, add evidence, get an updated belief.</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the gallery with a real example per shape. Top row we count, bottom row we measure. Mention Multinomial (like Bernoulli with many categories - classifying digits 0-9) and Geometric (how many tries until the first success).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in pairs, then run six quick Menti quiz questions. Answers on next slide.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give the memory trick at the bottom.</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value: you never roll 3.5, but the long-run average is 3.5. Two archers with the same average but different spread - variance measures spread. Covariance: bigger house, higher price - they move together. PCA uses the covariance matrix to find directions of biggest spread.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coin flips - early the average jumps around, later it settles at 0.5. Middle: very skewed data. Right: take averages of 30 values, many times - a bell appears. That's the magic of the CLT and why the normal curve is everywhere.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Room of 9 teachers earning about 1200. A CEO walks in. The average salary jumps to 3060 - does anyone earn that? No. The median stays 1200. Mode = most common value. Descriptive statistics describe the data you have.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Courtroom: we assume innocent (the null) until the evidence is too surprising. The p-value measures how surprising. Red tails = rare results if innocent. Land in the tail -&gt; reject the null. ML example: model B scored 1% higher - real improvement or luck? A test answers that.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vertical line is an interval from a different sample. 19 of 20 catch the true mean; the red one missed. That's what 95% means - about the method, not one interval. Practice exercise 1 asks them to compute these.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FALSE - the most common misunderstanding in science. p = 0.03 means: IF the null were true, results this extreme would appear only 3% of the time.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should we ban ice cream to stop drownings? Laughter. The hidden cause is summer heat. ML models find patterns, not reasons.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correlation - hidden cause: bigger fires need more firefighters AND cause more damage. 2) causation - randomised experiments can show cause. 3) correlation - wealth drives both.</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study of exercise habits done only at the gym. The answer is way off, not because of maths, but because of WHO we asked. ML version: a face-recognition model trained mostly on one group performs badly on others. Representative data matters more than big data.</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every concept to a real ML task. Calibration: a well-calibrated model that says 90% is right about 90% of the time. Then preview the practice: ECDF = fraction of data below each value; chi-squared = are two categories related; KS = do two samples come from the same distribution.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summary: ML is managing uncertainty with numbers.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these as 5 Menti Quiz questions (20 s each). Answers: 1 uphill, 2 overshoot, 3 3.5, 4 Poisson, 5 median. Show the leaderboard.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calculus finds the weights, probability defines what good means, statistics tells us if we can trust the result.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few answers aloud. Use the 'still confusing' answers to plan the start of the practice session.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Remind them the practice is auto-checked by unit tests in AutoCode.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9C2D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828800" cy="548640"/>
          </a:xfrm>
          <a:prstGeom prst="rect">
            <a:avLst/>
          </a:prstGeom>
          <a:noFill/>
          <a:ln/>
        </p:spPr>
        <p:txBody>
          <a:bodyPr wrap="square" lIns="0" tIns="0" rIns="0" bIns="0" rtlCol="0" anchor="ctr"/>
          <a:lstStyle/>
          <a:p>
            <a:pPr marL="0" indent="0">
              <a:buNone/>
            </a:pPr>
            <a:r>
              <a:rPr lang="en-US" sz="2400" b="1" dirty="0">
                <a:solidFill>
                  <a:srgbClr val="FFFFFF"/>
                </a:solidFill>
                <a:latin typeface="Montserrat" pitchFamily="34" charset="0"/>
                <a:ea typeface="Montserrat" pitchFamily="34" charset="-122"/>
                <a:cs typeface="Montserrat" pitchFamily="34" charset="-120"/>
              </a:rPr>
              <a:t>iTPU</a:t>
            </a:r>
            <a:endParaRPr lang="en-US" sz="2400" dirty="0"/>
          </a:p>
        </p:txBody>
      </p:sp>
      <p:sp>
        <p:nvSpPr>
          <p:cNvPr id="3" name="Text 1"/>
          <p:cNvSpPr txBox="1"/>
          <p:nvPr/>
        </p:nvSpPr>
        <p:spPr>
          <a:xfrm>
            <a:off x="731520" y="1828800"/>
            <a:ext cx="10698480" cy="822960"/>
          </a:xfrm>
          <a:prstGeom prst="rect">
            <a:avLst/>
          </a:prstGeom>
          <a:noFill/>
          <a:ln/>
        </p:spPr>
        <p:txBody>
          <a:bodyPr wrap="square" lIns="0" tIns="0" rIns="0" bIns="0" rtlCol="0" anchor="ctr"/>
          <a:lstStyle/>
          <a:p>
            <a:pPr marL="0" indent="0">
              <a:buNone/>
            </a:pPr>
            <a:r>
              <a:rPr lang="en-US" sz="4800" b="1" dirty="0">
                <a:solidFill>
                  <a:srgbClr val="FFFFFF"/>
                </a:solidFill>
                <a:latin typeface="Montserrat" pitchFamily="34" charset="0"/>
                <a:ea typeface="Montserrat" pitchFamily="34" charset="-122"/>
                <a:cs typeface="Montserrat" pitchFamily="34" charset="-120"/>
              </a:rPr>
              <a:t>How Machines Learn</a:t>
            </a:r>
            <a:endParaRPr lang="en-US" sz="4800" dirty="0"/>
          </a:p>
        </p:txBody>
      </p:sp>
      <p:sp>
        <p:nvSpPr>
          <p:cNvPr id="4" name="Text 2"/>
          <p:cNvSpPr txBox="1"/>
          <p:nvPr/>
        </p:nvSpPr>
        <p:spPr>
          <a:xfrm>
            <a:off x="731520" y="2651760"/>
            <a:ext cx="10698480" cy="822960"/>
          </a:xfrm>
          <a:prstGeom prst="rect">
            <a:avLst/>
          </a:prstGeom>
          <a:noFill/>
          <a:ln/>
        </p:spPr>
        <p:txBody>
          <a:bodyPr wrap="square" lIns="0" tIns="0" rIns="0" bIns="0" rtlCol="0" anchor="ctr"/>
          <a:lstStyle/>
          <a:p>
            <a:pPr marL="0" indent="0">
              <a:buNone/>
            </a:pPr>
            <a:r>
              <a:rPr lang="en-US" sz="4000" b="1" dirty="0">
                <a:solidFill>
                  <a:srgbClr val="FFFFFF"/>
                </a:solidFill>
                <a:latin typeface="Montserrat" pitchFamily="34" charset="0"/>
                <a:ea typeface="Montserrat" pitchFamily="34" charset="-122"/>
                <a:cs typeface="Montserrat" pitchFamily="34" charset="-120"/>
              </a:rPr>
              <a:t>&amp; How They Handle Uncertainty</a:t>
            </a:r>
            <a:endParaRPr lang="en-US" sz="4000" dirty="0"/>
          </a:p>
        </p:txBody>
      </p:sp>
      <p:sp>
        <p:nvSpPr>
          <p:cNvPr id="5" name="Text 3"/>
          <p:cNvSpPr txBox="1"/>
          <p:nvPr/>
        </p:nvSpPr>
        <p:spPr>
          <a:xfrm>
            <a:off x="777240" y="3703320"/>
            <a:ext cx="10515600" cy="502920"/>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Topic 7: Calculus Basics   |   Topic 8: Probability &amp; Statistics in ML</a:t>
            </a:r>
            <a:endParaRPr lang="en-US" sz="2100" dirty="0"/>
          </a:p>
        </p:txBody>
      </p:sp>
      <p:sp>
        <p:nvSpPr>
          <p:cNvPr id="6" name="Text 4"/>
          <p:cNvSpPr txBox="1"/>
          <p:nvPr/>
        </p:nvSpPr>
        <p:spPr>
          <a:xfrm>
            <a:off x="777240" y="4297680"/>
            <a:ext cx="10058400" cy="457200"/>
          </a:xfrm>
          <a:prstGeom prst="rect">
            <a:avLst/>
          </a:prstGeom>
          <a:noFill/>
          <a:ln/>
        </p:spPr>
        <p:txBody>
          <a:bodyPr wrap="square" lIns="0" tIns="0" rIns="0" bIns="0" rtlCol="0" anchor="ctr"/>
          <a:lstStyle/>
          <a:p>
            <a:pPr marL="0" indent="0">
              <a:buNone/>
            </a:pP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Agenda</a:t>
            </a:r>
            <a:endParaRPr lang="en-US" sz="1400" dirty="0"/>
          </a:p>
        </p:txBody>
      </p:sp>
      <p:sp>
        <p:nvSpPr>
          <p:cNvPr id="4" name="Text 2"/>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Today's journey - 90 minutes</a:t>
            </a:r>
            <a:endParaRPr lang="en-US" sz="2500" dirty="0"/>
          </a:p>
        </p:txBody>
      </p:sp>
      <p:sp>
        <p:nvSpPr>
          <p:cNvPr id="5" name="Shape 3"/>
          <p:cNvSpPr/>
          <p:nvPr/>
        </p:nvSpPr>
        <p:spPr>
          <a:xfrm>
            <a:off x="457200" y="1874520"/>
            <a:ext cx="11247120" cy="914400"/>
          </a:xfrm>
          <a:prstGeom prst="rect">
            <a:avLst/>
          </a:prstGeom>
          <a:solidFill>
            <a:srgbClr val="FFFFFF"/>
          </a:solidFill>
          <a:ln w="12700">
            <a:solidFill>
              <a:srgbClr val="F6F6F6"/>
            </a:solidFill>
            <a:prstDash val="solid"/>
          </a:ln>
        </p:spPr>
      </p:sp>
      <p:sp>
        <p:nvSpPr>
          <p:cNvPr id="6" name="Shape 4"/>
          <p:cNvSpPr/>
          <p:nvPr/>
        </p:nvSpPr>
        <p:spPr>
          <a:xfrm>
            <a:off x="457200" y="1874520"/>
            <a:ext cx="1463040" cy="914400"/>
          </a:xfrm>
          <a:prstGeom prst="rect">
            <a:avLst/>
          </a:prstGeom>
          <a:solidFill>
            <a:srgbClr val="39C2D7"/>
          </a:solidFill>
          <a:ln/>
        </p:spPr>
      </p:sp>
      <p:sp>
        <p:nvSpPr>
          <p:cNvPr id="7" name="Text 5"/>
          <p:cNvSpPr txBox="1"/>
          <p:nvPr/>
        </p:nvSpPr>
        <p:spPr>
          <a:xfrm>
            <a:off x="457200" y="1874520"/>
            <a:ext cx="146304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0-5</a:t>
            </a:r>
            <a:endParaRPr lang="en-US" sz="1500" dirty="0"/>
          </a:p>
          <a:p>
            <a:pPr marL="0" indent="0" algn="ctr">
              <a:buNone/>
            </a:pPr>
            <a:r>
              <a:rPr lang="en-US" sz="1500" b="1" dirty="0">
                <a:solidFill>
                  <a:srgbClr val="FFFFFF"/>
                </a:solidFill>
                <a:latin typeface="Montserrat" pitchFamily="34" charset="0"/>
                <a:ea typeface="Montserrat" pitchFamily="34" charset="-122"/>
                <a:cs typeface="Montserrat" pitchFamily="34" charset="-120"/>
              </a:rPr>
              <a:t>min</a:t>
            </a:r>
            <a:endParaRPr lang="en-US" sz="1500" dirty="0"/>
          </a:p>
        </p:txBody>
      </p:sp>
      <p:sp>
        <p:nvSpPr>
          <p:cNvPr id="8" name="Text 6"/>
          <p:cNvSpPr txBox="1"/>
          <p:nvPr/>
        </p:nvSpPr>
        <p:spPr>
          <a:xfrm>
            <a:off x="2148840" y="1874520"/>
            <a:ext cx="3566160" cy="914400"/>
          </a:xfrm>
          <a:prstGeom prst="rect">
            <a:avLst/>
          </a:prstGeom>
          <a:noFill/>
          <a:ln/>
        </p:spPr>
        <p:txBody>
          <a:bodyPr wrap="square" lIns="0" tIns="0" rIns="0" bIns="0" rtlCol="0" anchor="ctr"/>
          <a:lstStyle/>
          <a:p>
            <a:pPr marL="0" indent="0">
              <a:buNone/>
            </a:pPr>
            <a:r>
              <a:rPr lang="en-US" sz="1800" b="1" dirty="0">
                <a:solidFill>
                  <a:srgbClr val="222222"/>
                </a:solidFill>
                <a:latin typeface="Montserrat" pitchFamily="34" charset="0"/>
                <a:ea typeface="Montserrat" pitchFamily="34" charset="-122"/>
                <a:cs typeface="Montserrat" pitchFamily="34" charset="-120"/>
              </a:rPr>
              <a:t>Warm-up</a:t>
            </a:r>
            <a:endParaRPr lang="en-US" sz="1800" dirty="0"/>
          </a:p>
        </p:txBody>
      </p:sp>
      <p:sp>
        <p:nvSpPr>
          <p:cNvPr id="9" name="Text 7"/>
          <p:cNvSpPr txBox="1"/>
          <p:nvPr/>
        </p:nvSpPr>
        <p:spPr>
          <a:xfrm>
            <a:off x="5760720" y="1874520"/>
            <a:ext cx="5760720" cy="914400"/>
          </a:xfrm>
          <a:prstGeom prst="rect">
            <a:avLst/>
          </a:prstGeom>
          <a:noFill/>
          <a:ln/>
        </p:spPr>
        <p:txBody>
          <a:bodyPr wrap="square" lIns="0" tIns="0" rIns="0" bIns="0" rtlCol="0" anchor="ctr"/>
          <a:lstStyle/>
          <a:p>
            <a:pPr marL="0" indent="0">
              <a:buNone/>
            </a:pPr>
            <a:r>
              <a:rPr lang="en-US" sz="1500" dirty="0">
                <a:solidFill>
                  <a:srgbClr val="464547"/>
                </a:solidFill>
                <a:latin typeface="Calibri" pitchFamily="34" charset="0"/>
                <a:ea typeface="Calibri" pitchFamily="34" charset="-122"/>
                <a:cs typeface="Calibri" pitchFamily="34" charset="-120"/>
              </a:rPr>
              <a:t>Menti word cloud</a:t>
            </a:r>
            <a:endParaRPr lang="en-US" sz="1500" dirty="0"/>
          </a:p>
        </p:txBody>
      </p:sp>
      <p:sp>
        <p:nvSpPr>
          <p:cNvPr id="10" name="Shape 8"/>
          <p:cNvSpPr/>
          <p:nvPr/>
        </p:nvSpPr>
        <p:spPr>
          <a:xfrm>
            <a:off x="457200" y="2926080"/>
            <a:ext cx="11247120" cy="914400"/>
          </a:xfrm>
          <a:prstGeom prst="rect">
            <a:avLst/>
          </a:prstGeom>
          <a:solidFill>
            <a:srgbClr val="F6F6F6"/>
          </a:solidFill>
          <a:ln w="12700">
            <a:solidFill>
              <a:srgbClr val="F6F6F6"/>
            </a:solidFill>
            <a:prstDash val="solid"/>
          </a:ln>
        </p:spPr>
      </p:sp>
      <p:sp>
        <p:nvSpPr>
          <p:cNvPr id="11" name="Shape 9"/>
          <p:cNvSpPr/>
          <p:nvPr/>
        </p:nvSpPr>
        <p:spPr>
          <a:xfrm>
            <a:off x="457200" y="2926080"/>
            <a:ext cx="1463040" cy="914400"/>
          </a:xfrm>
          <a:prstGeom prst="rect">
            <a:avLst/>
          </a:prstGeom>
          <a:solidFill>
            <a:srgbClr val="39C2D7"/>
          </a:solidFill>
          <a:ln/>
        </p:spPr>
      </p:sp>
      <p:sp>
        <p:nvSpPr>
          <p:cNvPr id="12" name="Text 10"/>
          <p:cNvSpPr txBox="1"/>
          <p:nvPr/>
        </p:nvSpPr>
        <p:spPr>
          <a:xfrm>
            <a:off x="457200" y="2926080"/>
            <a:ext cx="146304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5-47</a:t>
            </a:r>
            <a:endParaRPr lang="en-US" sz="1500" dirty="0"/>
          </a:p>
          <a:p>
            <a:pPr marL="0" indent="0" algn="ctr">
              <a:buNone/>
            </a:pPr>
            <a:r>
              <a:rPr lang="en-US" sz="1500" b="1" dirty="0">
                <a:solidFill>
                  <a:srgbClr val="FFFFFF"/>
                </a:solidFill>
                <a:latin typeface="Montserrat" pitchFamily="34" charset="0"/>
                <a:ea typeface="Montserrat" pitchFamily="34" charset="-122"/>
                <a:cs typeface="Montserrat" pitchFamily="34" charset="-120"/>
              </a:rPr>
              <a:t>min</a:t>
            </a:r>
            <a:endParaRPr lang="en-US" sz="1500" dirty="0"/>
          </a:p>
        </p:txBody>
      </p:sp>
      <p:sp>
        <p:nvSpPr>
          <p:cNvPr id="13" name="Text 11"/>
          <p:cNvSpPr txBox="1"/>
          <p:nvPr/>
        </p:nvSpPr>
        <p:spPr>
          <a:xfrm>
            <a:off x="2148840" y="2926080"/>
            <a:ext cx="3566160" cy="914400"/>
          </a:xfrm>
          <a:prstGeom prst="rect">
            <a:avLst/>
          </a:prstGeom>
          <a:noFill/>
          <a:ln/>
        </p:spPr>
        <p:txBody>
          <a:bodyPr wrap="square" lIns="0" tIns="0" rIns="0" bIns="0" rtlCol="0" anchor="ctr"/>
          <a:lstStyle/>
          <a:p>
            <a:pPr marL="0" indent="0">
              <a:buNone/>
            </a:pPr>
            <a:r>
              <a:rPr lang="en-US" sz="1800" b="1" dirty="0">
                <a:solidFill>
                  <a:srgbClr val="222222"/>
                </a:solidFill>
                <a:latin typeface="Montserrat" pitchFamily="34" charset="0"/>
                <a:ea typeface="Montserrat" pitchFamily="34" charset="-122"/>
                <a:cs typeface="Montserrat" pitchFamily="34" charset="-120"/>
              </a:rPr>
              <a:t>PART 1  Calculus</a:t>
            </a:r>
            <a:endParaRPr lang="en-US" sz="1800" dirty="0"/>
          </a:p>
        </p:txBody>
      </p:sp>
      <p:sp>
        <p:nvSpPr>
          <p:cNvPr id="14" name="Text 12"/>
          <p:cNvSpPr txBox="1"/>
          <p:nvPr/>
        </p:nvSpPr>
        <p:spPr>
          <a:xfrm>
            <a:off x="5760720" y="2926080"/>
            <a:ext cx="5760720" cy="914400"/>
          </a:xfrm>
          <a:prstGeom prst="rect">
            <a:avLst/>
          </a:prstGeom>
          <a:noFill/>
          <a:ln/>
        </p:spPr>
        <p:txBody>
          <a:bodyPr wrap="square" lIns="0" tIns="0" rIns="0" bIns="0" rtlCol="0" anchor="ctr"/>
          <a:lstStyle/>
          <a:p>
            <a:pPr marL="0" indent="0">
              <a:buNone/>
            </a:pPr>
            <a:r>
              <a:rPr lang="en-US" sz="1500" dirty="0">
                <a:solidFill>
                  <a:srgbClr val="464547"/>
                </a:solidFill>
                <a:latin typeface="Calibri" pitchFamily="34" charset="0"/>
                <a:ea typeface="Calibri" pitchFamily="34" charset="-122"/>
                <a:cs typeface="Calibri" pitchFamily="34" charset="-120"/>
              </a:rPr>
              <a:t>derivative, gradient, optimization, gradient descent + 'Be the algorithm'</a:t>
            </a:r>
            <a:endParaRPr lang="en-US" sz="1500" dirty="0"/>
          </a:p>
        </p:txBody>
      </p:sp>
      <p:sp>
        <p:nvSpPr>
          <p:cNvPr id="15" name="Shape 13"/>
          <p:cNvSpPr/>
          <p:nvPr/>
        </p:nvSpPr>
        <p:spPr>
          <a:xfrm>
            <a:off x="457200" y="3977640"/>
            <a:ext cx="11247120" cy="914400"/>
          </a:xfrm>
          <a:prstGeom prst="rect">
            <a:avLst/>
          </a:prstGeom>
          <a:solidFill>
            <a:srgbClr val="F6F6F6"/>
          </a:solidFill>
          <a:ln w="12700">
            <a:solidFill>
              <a:srgbClr val="F6F6F6"/>
            </a:solidFill>
            <a:prstDash val="solid"/>
          </a:ln>
        </p:spPr>
      </p:sp>
      <p:sp>
        <p:nvSpPr>
          <p:cNvPr id="16" name="Shape 14"/>
          <p:cNvSpPr/>
          <p:nvPr/>
        </p:nvSpPr>
        <p:spPr>
          <a:xfrm>
            <a:off x="457200" y="3977640"/>
            <a:ext cx="1463040" cy="914400"/>
          </a:xfrm>
          <a:prstGeom prst="rect">
            <a:avLst/>
          </a:prstGeom>
          <a:solidFill>
            <a:srgbClr val="39C2D7"/>
          </a:solidFill>
          <a:ln/>
        </p:spPr>
      </p:sp>
      <p:sp>
        <p:nvSpPr>
          <p:cNvPr id="17" name="Text 15"/>
          <p:cNvSpPr txBox="1"/>
          <p:nvPr/>
        </p:nvSpPr>
        <p:spPr>
          <a:xfrm>
            <a:off x="457200" y="3977640"/>
            <a:ext cx="146304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47-85</a:t>
            </a:r>
            <a:endParaRPr lang="en-US" sz="1500" dirty="0"/>
          </a:p>
          <a:p>
            <a:pPr marL="0" indent="0" algn="ctr">
              <a:buNone/>
            </a:pPr>
            <a:r>
              <a:rPr lang="en-US" sz="1500" b="1" dirty="0">
                <a:solidFill>
                  <a:srgbClr val="FFFFFF"/>
                </a:solidFill>
                <a:latin typeface="Montserrat" pitchFamily="34" charset="0"/>
                <a:ea typeface="Montserrat" pitchFamily="34" charset="-122"/>
                <a:cs typeface="Montserrat" pitchFamily="34" charset="-120"/>
              </a:rPr>
              <a:t>min</a:t>
            </a:r>
            <a:endParaRPr lang="en-US" sz="1500" dirty="0"/>
          </a:p>
        </p:txBody>
      </p:sp>
      <p:sp>
        <p:nvSpPr>
          <p:cNvPr id="18" name="Text 16"/>
          <p:cNvSpPr txBox="1"/>
          <p:nvPr/>
        </p:nvSpPr>
        <p:spPr>
          <a:xfrm>
            <a:off x="2148840" y="3977640"/>
            <a:ext cx="3566160" cy="914400"/>
          </a:xfrm>
          <a:prstGeom prst="rect">
            <a:avLst/>
          </a:prstGeom>
          <a:noFill/>
          <a:ln/>
        </p:spPr>
        <p:txBody>
          <a:bodyPr wrap="square" lIns="0" tIns="0" rIns="0" bIns="0" rtlCol="0" anchor="ctr"/>
          <a:lstStyle/>
          <a:p>
            <a:pPr marL="0" indent="0">
              <a:buNone/>
            </a:pPr>
            <a:r>
              <a:rPr lang="en-US" sz="1800" b="1" dirty="0">
                <a:solidFill>
                  <a:srgbClr val="222222"/>
                </a:solidFill>
                <a:latin typeface="Montserrat" pitchFamily="34" charset="0"/>
                <a:ea typeface="Montserrat" pitchFamily="34" charset="-122"/>
                <a:cs typeface="Montserrat" pitchFamily="34" charset="-120"/>
              </a:rPr>
              <a:t>PART 2  Probability &amp; Stats</a:t>
            </a:r>
            <a:endParaRPr lang="en-US" sz="1800" dirty="0"/>
          </a:p>
        </p:txBody>
      </p:sp>
      <p:sp>
        <p:nvSpPr>
          <p:cNvPr id="19" name="Text 17"/>
          <p:cNvSpPr txBox="1"/>
          <p:nvPr/>
        </p:nvSpPr>
        <p:spPr>
          <a:xfrm>
            <a:off x="5760720" y="3977640"/>
            <a:ext cx="5760720" cy="914400"/>
          </a:xfrm>
          <a:prstGeom prst="rect">
            <a:avLst/>
          </a:prstGeom>
          <a:noFill/>
          <a:ln/>
        </p:spPr>
        <p:txBody>
          <a:bodyPr wrap="square" lIns="0" tIns="0" rIns="0" bIns="0" rtlCol="0" anchor="ctr"/>
          <a:lstStyle/>
          <a:p>
            <a:pPr marL="0" indent="0">
              <a:buNone/>
            </a:pPr>
            <a:r>
              <a:rPr lang="en-US" sz="1500" dirty="0">
                <a:solidFill>
                  <a:srgbClr val="464547"/>
                </a:solidFill>
                <a:latin typeface="Calibri" pitchFamily="34" charset="0"/>
                <a:ea typeface="Calibri" pitchFamily="34" charset="-122"/>
                <a:cs typeface="Calibri" pitchFamily="34" charset="-120"/>
              </a:rPr>
              <a:t>Bayes, distributions, LLN/CLT, testing, correlation + 'Name that distribution'</a:t>
            </a:r>
            <a:endParaRPr lang="en-US" sz="1500" dirty="0"/>
          </a:p>
        </p:txBody>
      </p:sp>
      <p:sp>
        <p:nvSpPr>
          <p:cNvPr id="20" name="Shape 18"/>
          <p:cNvSpPr/>
          <p:nvPr/>
        </p:nvSpPr>
        <p:spPr>
          <a:xfrm>
            <a:off x="457200" y="5029200"/>
            <a:ext cx="11247120" cy="914400"/>
          </a:xfrm>
          <a:prstGeom prst="rect">
            <a:avLst/>
          </a:prstGeom>
          <a:solidFill>
            <a:srgbClr val="FFFFFF"/>
          </a:solidFill>
          <a:ln w="12700">
            <a:solidFill>
              <a:srgbClr val="F6F6F6"/>
            </a:solidFill>
            <a:prstDash val="solid"/>
          </a:ln>
        </p:spPr>
      </p:sp>
      <p:sp>
        <p:nvSpPr>
          <p:cNvPr id="21" name="Shape 19"/>
          <p:cNvSpPr/>
          <p:nvPr/>
        </p:nvSpPr>
        <p:spPr>
          <a:xfrm>
            <a:off x="457200" y="5029200"/>
            <a:ext cx="1463040" cy="914400"/>
          </a:xfrm>
          <a:prstGeom prst="rect">
            <a:avLst/>
          </a:prstGeom>
          <a:solidFill>
            <a:srgbClr val="39C2D7"/>
          </a:solidFill>
          <a:ln/>
        </p:spPr>
      </p:sp>
      <p:sp>
        <p:nvSpPr>
          <p:cNvPr id="22" name="Text 20"/>
          <p:cNvSpPr txBox="1"/>
          <p:nvPr/>
        </p:nvSpPr>
        <p:spPr>
          <a:xfrm>
            <a:off x="457200" y="5029200"/>
            <a:ext cx="146304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85-90</a:t>
            </a:r>
            <a:endParaRPr lang="en-US" sz="1500" dirty="0"/>
          </a:p>
          <a:p>
            <a:pPr marL="0" indent="0" algn="ctr">
              <a:buNone/>
            </a:pPr>
            <a:r>
              <a:rPr lang="en-US" sz="1500" b="1" dirty="0">
                <a:solidFill>
                  <a:srgbClr val="FFFFFF"/>
                </a:solidFill>
                <a:latin typeface="Montserrat" pitchFamily="34" charset="0"/>
                <a:ea typeface="Montserrat" pitchFamily="34" charset="-122"/>
                <a:cs typeface="Montserrat" pitchFamily="34" charset="-120"/>
              </a:rPr>
              <a:t>min</a:t>
            </a:r>
            <a:endParaRPr lang="en-US" sz="1500" dirty="0"/>
          </a:p>
        </p:txBody>
      </p:sp>
      <p:sp>
        <p:nvSpPr>
          <p:cNvPr id="23" name="Text 21"/>
          <p:cNvSpPr txBox="1"/>
          <p:nvPr/>
        </p:nvSpPr>
        <p:spPr>
          <a:xfrm>
            <a:off x="2148840" y="5029200"/>
            <a:ext cx="3566160" cy="914400"/>
          </a:xfrm>
          <a:prstGeom prst="rect">
            <a:avLst/>
          </a:prstGeom>
          <a:noFill/>
          <a:ln/>
        </p:spPr>
        <p:txBody>
          <a:bodyPr wrap="square" lIns="0" tIns="0" rIns="0" bIns="0" rtlCol="0" anchor="ctr"/>
          <a:lstStyle/>
          <a:p>
            <a:pPr marL="0" indent="0">
              <a:buNone/>
            </a:pPr>
            <a:r>
              <a:rPr lang="en-US" sz="1800" b="1" dirty="0">
                <a:solidFill>
                  <a:srgbClr val="222222"/>
                </a:solidFill>
                <a:latin typeface="Montserrat" pitchFamily="34" charset="0"/>
                <a:ea typeface="Montserrat" pitchFamily="34" charset="-122"/>
                <a:cs typeface="Montserrat" pitchFamily="34" charset="-120"/>
              </a:rPr>
              <a:t>Wrap-up</a:t>
            </a:r>
            <a:endParaRPr lang="en-US" sz="1800" dirty="0"/>
          </a:p>
        </p:txBody>
      </p:sp>
      <p:sp>
        <p:nvSpPr>
          <p:cNvPr id="24" name="Text 22"/>
          <p:cNvSpPr txBox="1"/>
          <p:nvPr/>
        </p:nvSpPr>
        <p:spPr>
          <a:xfrm>
            <a:off x="5760720" y="5029200"/>
            <a:ext cx="5760720" cy="914400"/>
          </a:xfrm>
          <a:prstGeom prst="rect">
            <a:avLst/>
          </a:prstGeom>
          <a:noFill/>
          <a:ln/>
        </p:spPr>
        <p:txBody>
          <a:bodyPr wrap="square" lIns="0" tIns="0" rIns="0" bIns="0" rtlCol="0" anchor="ctr"/>
          <a:lstStyle/>
          <a:p>
            <a:pPr marL="0" indent="0">
              <a:buNone/>
            </a:pPr>
            <a:r>
              <a:rPr lang="en-US" sz="1500" dirty="0">
                <a:solidFill>
                  <a:srgbClr val="464547"/>
                </a:solidFill>
                <a:latin typeface="Calibri" pitchFamily="34" charset="0"/>
                <a:ea typeface="Calibri" pitchFamily="34" charset="-122"/>
                <a:cs typeface="Calibri" pitchFamily="34" charset="-120"/>
              </a:rPr>
              <a:t>Menti final challenge + exit ticket</a:t>
            </a:r>
            <a:endParaRPr lang="en-US" sz="1500" dirty="0"/>
          </a:p>
        </p:txBody>
      </p:sp>
      <p:sp>
        <p:nvSpPr>
          <p:cNvPr id="25" name="Text 23"/>
          <p:cNvSpPr txBox="1"/>
          <p:nvPr/>
        </p:nvSpPr>
        <p:spPr>
          <a:xfrm>
            <a:off x="457200" y="5989320"/>
            <a:ext cx="11247120" cy="320040"/>
          </a:xfrm>
          <a:prstGeom prst="rect">
            <a:avLst/>
          </a:prstGeom>
          <a:noFill/>
          <a:ln/>
        </p:spPr>
        <p:txBody>
          <a:bodyPr wrap="square" lIns="0" tIns="0" rIns="0" bIns="0" rtlCol="0" anchor="ctr"/>
          <a:lstStyle/>
          <a:p>
            <a:pPr marL="0" indent="0">
              <a:buNone/>
            </a:pPr>
            <a:r>
              <a:rPr lang="en-US" sz="1400" i="1" dirty="0">
                <a:solidFill>
                  <a:srgbClr val="39C2D7"/>
                </a:solidFill>
                <a:latin typeface="Calibri" pitchFamily="34" charset="0"/>
                <a:ea typeface="Calibri" pitchFamily="34" charset="-122"/>
                <a:cs typeface="Calibri" pitchFamily="34" charset="-120"/>
              </a:rPr>
              <a:t>Look for these tags:   MENTI = vote on your phone     ACTIVITY = work with a partner</a:t>
            </a:r>
            <a:endParaRPr lang="en-US" sz="1400" dirty="0"/>
          </a:p>
        </p:txBody>
      </p:sp>
      <p:sp>
        <p:nvSpPr>
          <p:cNvPr id="26" name="Text 24"/>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7" name="Text 25"/>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Calculus &amp; Probability in ML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3657600" cy="502920"/>
          </a:xfrm>
          <a:prstGeom prst="rect">
            <a:avLst/>
          </a:prstGeom>
          <a:solidFill>
            <a:srgbClr val="FFFFFF"/>
          </a:solidFill>
          <a:ln/>
        </p:spPr>
      </p:sp>
      <p:sp>
        <p:nvSpPr>
          <p:cNvPr id="3" name="Text 1"/>
          <p:cNvSpPr txBox="1"/>
          <p:nvPr/>
        </p:nvSpPr>
        <p:spPr>
          <a:xfrm>
            <a:off x="457200" y="411480"/>
            <a:ext cx="3657600"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Word cloud</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FFFFFF"/>
                </a:solidFill>
                <a:latin typeface="Calibri" pitchFamily="34" charset="0"/>
                <a:ea typeface="Calibri" pitchFamily="34" charset="-122"/>
                <a:cs typeface="Calibri" pitchFamily="34" charset="-120"/>
              </a:rPr>
              <a:t>~3 min</a:t>
            </a:r>
            <a:endParaRPr lang="en-US" sz="1300" dirty="0"/>
          </a:p>
        </p:txBody>
      </p:sp>
      <p:sp>
        <p:nvSpPr>
          <p:cNvPr id="5" name="Shape 3"/>
          <p:cNvSpPr/>
          <p:nvPr/>
        </p:nvSpPr>
        <p:spPr>
          <a:xfrm>
            <a:off x="7818120" y="1051560"/>
            <a:ext cx="3931920" cy="502920"/>
          </a:xfrm>
          <a:prstGeom prst="rect">
            <a:avLst/>
          </a:prstGeom>
          <a:solidFill>
            <a:srgbClr val="FFFFFF"/>
          </a:solidFill>
          <a:ln/>
        </p:spPr>
      </p:sp>
      <p:sp>
        <p:nvSpPr>
          <p:cNvPr id="6" name="Text 4"/>
          <p:cNvSpPr txBox="1"/>
          <p:nvPr/>
        </p:nvSpPr>
        <p:spPr>
          <a:xfrm>
            <a:off x="7818120" y="1051560"/>
            <a:ext cx="3931920" cy="502920"/>
          </a:xfrm>
          <a:prstGeom prst="rect">
            <a:avLst/>
          </a:prstGeom>
          <a:noFill/>
          <a:ln/>
        </p:spPr>
        <p:txBody>
          <a:bodyPr wrap="square" lIns="0" tIns="0" rIns="0" bIns="0" rtlCol="0" anchor="ctr"/>
          <a:lstStyle/>
          <a:p>
            <a:pPr marL="0" indent="0" algn="ctr">
              <a:buNone/>
            </a:pPr>
            <a:r>
              <a:rPr lang="en-US" sz="1300" b="1" dirty="0">
                <a:solidFill>
                  <a:srgbClr val="39C2D7"/>
                </a:solidFill>
                <a:latin typeface="Montserrat" pitchFamily="34" charset="0"/>
                <a:ea typeface="Montserrat" pitchFamily="34" charset="-122"/>
                <a:cs typeface="Montserrat" pitchFamily="34" charset="-120"/>
              </a:rPr>
              <a:t>menti.com   code:  ____ ____</a:t>
            </a:r>
            <a:endParaRPr lang="en-US" sz="1300" dirty="0"/>
          </a:p>
        </p:txBody>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700" b="1" dirty="0">
                <a:solidFill>
                  <a:srgbClr val="FFFFFF"/>
                </a:solidFill>
                <a:latin typeface="Montserrat" pitchFamily="34" charset="0"/>
                <a:ea typeface="Montserrat" pitchFamily="34" charset="-122"/>
                <a:cs typeface="Montserrat" pitchFamily="34" charset="-120"/>
              </a:rPr>
              <a:t>In ONE word: what does it mean for a machine to 'learn'?</a:t>
            </a:r>
            <a:endParaRPr lang="en-US" sz="2700" dirty="0"/>
          </a:p>
        </p:txBody>
      </p:sp>
      <p:sp>
        <p:nvSpPr>
          <p:cNvPr id="8" name="Shape 6"/>
          <p:cNvSpPr/>
          <p:nvPr/>
        </p:nvSpPr>
        <p:spPr>
          <a:xfrm>
            <a:off x="822960" y="3108960"/>
            <a:ext cx="10515600" cy="2651760"/>
          </a:xfrm>
          <a:prstGeom prst="rect">
            <a:avLst/>
          </a:prstGeom>
          <a:solidFill>
            <a:srgbClr val="FFFFFF">
              <a:alpha val="20000"/>
            </a:srgbClr>
          </a:solidFill>
          <a:ln w="25400">
            <a:solidFill>
              <a:srgbClr val="FFFFFF"/>
            </a:solidFill>
            <a:prstDash val="dash"/>
          </a:ln>
        </p:spPr>
      </p:sp>
      <p:sp>
        <p:nvSpPr>
          <p:cNvPr id="9" name="Text 7"/>
          <p:cNvSpPr txBox="1"/>
          <p:nvPr/>
        </p:nvSpPr>
        <p:spPr>
          <a:xfrm>
            <a:off x="822960" y="3108960"/>
            <a:ext cx="10515600" cy="265176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Live answers appear here on Menti</a:t>
            </a:r>
            <a:endParaRPr lang="en-US" sz="2200" dirty="0"/>
          </a:p>
        </p:txBody>
      </p:sp>
      <p:sp>
        <p:nvSpPr>
          <p:cNvPr id="10" name="Text 8"/>
          <p:cNvSpPr txBox="1"/>
          <p:nvPr/>
        </p:nvSpPr>
        <p:spPr>
          <a:xfrm>
            <a:off x="640080" y="5897880"/>
            <a:ext cx="100584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Type 1-2 words on menti.com  -  watch the cloud grow!</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9C2D7"/>
        </a:solidFill>
        <a:effectLst/>
      </p:bgPr>
    </p:bg>
    <p:spTree>
      <p:nvGrpSpPr>
        <p:cNvPr id="1" name=""/>
        <p:cNvGrpSpPr/>
        <p:nvPr/>
      </p:nvGrpSpPr>
      <p:grpSpPr>
        <a:xfrm>
          <a:off x="0" y="0"/>
          <a:ext cx="0" cy="0"/>
          <a:chOff x="0" y="0"/>
          <a:chExt cx="0" cy="0"/>
        </a:xfrm>
      </p:grpSpPr>
      <p:sp>
        <p:nvSpPr>
          <p:cNvPr id="2" name="Text 0"/>
          <p:cNvSpPr txBox="1"/>
          <p:nvPr/>
        </p:nvSpPr>
        <p:spPr>
          <a:xfrm>
            <a:off x="731520" y="2011680"/>
            <a:ext cx="10058400" cy="640080"/>
          </a:xfrm>
          <a:prstGeom prst="rect">
            <a:avLst/>
          </a:prstGeom>
          <a:noFill/>
          <a:ln/>
        </p:spPr>
        <p:txBody>
          <a:bodyPr wrap="square" lIns="0" tIns="0" rIns="0" bIns="0" rtlCol="0" anchor="ctr"/>
          <a:lstStyle/>
          <a:p>
            <a:pPr marL="0" indent="0">
              <a:buNone/>
            </a:pPr>
            <a:r>
              <a:rPr lang="en-US" sz="2600" b="1" dirty="0">
                <a:solidFill>
                  <a:srgbClr val="FFFFFF"/>
                </a:solidFill>
                <a:latin typeface="Montserrat" pitchFamily="34" charset="0"/>
                <a:ea typeface="Montserrat" pitchFamily="34" charset="-122"/>
                <a:cs typeface="Montserrat" pitchFamily="34" charset="-120"/>
              </a:rPr>
              <a:t>PART 1</a:t>
            </a:r>
            <a:endParaRPr lang="en-US" sz="2600" dirty="0"/>
          </a:p>
        </p:txBody>
      </p:sp>
      <p:sp>
        <p:nvSpPr>
          <p:cNvPr id="3" name="Text 1"/>
          <p:cNvSpPr txBox="1"/>
          <p:nvPr/>
        </p:nvSpPr>
        <p:spPr>
          <a:xfrm>
            <a:off x="731520" y="2697480"/>
            <a:ext cx="10698480" cy="914400"/>
          </a:xfrm>
          <a:prstGeom prst="rect">
            <a:avLst/>
          </a:prstGeom>
          <a:noFill/>
          <a:ln/>
        </p:spPr>
        <p:txBody>
          <a:bodyPr wrap="square" lIns="0" tIns="0" rIns="0" bIns="0" rtlCol="0" anchor="ctr"/>
          <a:lstStyle/>
          <a:p>
            <a:pPr marL="0" indent="0">
              <a:buNone/>
            </a:pPr>
            <a:r>
              <a:rPr lang="en-US" sz="4600" b="1" dirty="0">
                <a:solidFill>
                  <a:srgbClr val="FFFFFF"/>
                </a:solidFill>
                <a:latin typeface="Montserrat" pitchFamily="34" charset="0"/>
                <a:ea typeface="Montserrat" pitchFamily="34" charset="-122"/>
                <a:cs typeface="Montserrat" pitchFamily="34" charset="-120"/>
              </a:rPr>
              <a:t>Calculus - how a model learns</a:t>
            </a:r>
            <a:endParaRPr lang="en-US" sz="4600" dirty="0"/>
          </a:p>
        </p:txBody>
      </p:sp>
      <p:sp>
        <p:nvSpPr>
          <p:cNvPr id="4" name="Text 2"/>
          <p:cNvSpPr txBox="1"/>
          <p:nvPr/>
        </p:nvSpPr>
        <p:spPr>
          <a:xfrm>
            <a:off x="749808" y="3749040"/>
            <a:ext cx="10058400" cy="5486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Learning = reducing error, one small step at a time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The hook</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You are blindfolded on a mountain...</a:t>
            </a:r>
            <a:endParaRPr lang="en-US" sz="2500" dirty="0"/>
          </a:p>
        </p:txBody>
      </p:sp>
      <p:pic>
        <p:nvPicPr>
          <p:cNvPr id="6" name="Image 0" descr="/home/claude/d78/hook_mountain.png"/>
          <p:cNvPicPr>
            <a:picLocks noChangeAspect="1"/>
          </p:cNvPicPr>
          <p:nvPr/>
        </p:nvPicPr>
        <p:blipFill>
          <a:blip r:embed="rId3"/>
          <a:stretch>
            <a:fillRect/>
          </a:stretch>
        </p:blipFill>
        <p:spPr>
          <a:xfrm>
            <a:off x="411480" y="1914378"/>
            <a:ext cx="7315200" cy="4126523"/>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Goal: reach the valley (lowest point)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You can't see - but you can feel the slope under your feet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Feel slope -&gt; step downhill -&gt; repeat</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the mountain is the ERROR; your position is the model's WEIGHTS. Training = walking down.</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487168" cy="502920"/>
          </a:xfrm>
          <a:prstGeom prst="rect">
            <a:avLst/>
          </a:prstGeom>
          <a:solidFill>
            <a:srgbClr val="39C2D7"/>
          </a:solidFill>
          <a:ln/>
        </p:spPr>
      </p:sp>
      <p:sp>
        <p:nvSpPr>
          <p:cNvPr id="3" name="Text 1"/>
          <p:cNvSpPr txBox="1"/>
          <p:nvPr/>
        </p:nvSpPr>
        <p:spPr>
          <a:xfrm>
            <a:off x="457200" y="411480"/>
            <a:ext cx="2487168"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Two branches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Calculus = the study of change</a:t>
            </a:r>
            <a:endParaRPr lang="en-US" sz="2500" dirty="0"/>
          </a:p>
        </p:txBody>
      </p:sp>
      <p:pic>
        <p:nvPicPr>
          <p:cNvPr id="6" name="Image 0" descr="/home/claude/d78/branches.png"/>
          <p:cNvPicPr>
            <a:picLocks noChangeAspect="1"/>
          </p:cNvPicPr>
          <p:nvPr/>
        </p:nvPicPr>
        <p:blipFill>
          <a:blip r:embed="rId3"/>
          <a:stretch>
            <a:fillRect/>
          </a:stretch>
        </p:blipFill>
        <p:spPr>
          <a:xfrm>
            <a:off x="2110274" y="1691640"/>
            <a:ext cx="7940971"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DIFFERENTIAL: rates of change (slopes)     |     INTEGRAL: accumulation (areas)     |     Today = differential -&gt; it trains models</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integrals return in probability (area under a curve = probability).</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94560" cy="502920"/>
          </a:xfrm>
          <a:prstGeom prst="rect">
            <a:avLst/>
          </a:prstGeom>
          <a:solidFill>
            <a:srgbClr val="39C2D7"/>
          </a:solidFill>
          <a:ln/>
        </p:spPr>
      </p:sp>
      <p:sp>
        <p:nvSpPr>
          <p:cNvPr id="3" name="Text 1"/>
          <p:cNvSpPr txBox="1"/>
          <p:nvPr/>
        </p:nvSpPr>
        <p:spPr>
          <a:xfrm>
            <a:off x="457200" y="411480"/>
            <a:ext cx="21945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Derivative</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Derivative = the slope at a point</a:t>
            </a:r>
            <a:endParaRPr lang="en-US" sz="2500" dirty="0"/>
          </a:p>
        </p:txBody>
      </p:sp>
      <p:pic>
        <p:nvPicPr>
          <p:cNvPr id="6" name="Image 0" descr="/home/claude/d78/derivative.png"/>
          <p:cNvPicPr>
            <a:picLocks noChangeAspect="1"/>
          </p:cNvPicPr>
          <p:nvPr/>
        </p:nvPicPr>
        <p:blipFill>
          <a:blip r:embed="rId3"/>
          <a:stretch>
            <a:fillRect/>
          </a:stretch>
        </p:blipFill>
        <p:spPr>
          <a:xfrm>
            <a:off x="411480" y="2055055"/>
            <a:ext cx="7315200" cy="3845169"/>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Tells how fast the output changes if we nudge the input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Negative slope -&gt; going down</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Zero slope -&gt; flat (a valley or a peak)</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Positive slope -&gt; going up</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input = a weight, output = the error. The derivative says which way to move the weight.</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2779776" cy="502920"/>
          </a:xfrm>
          <a:prstGeom prst="rect">
            <a:avLst/>
          </a:prstGeom>
          <a:solidFill>
            <a:srgbClr val="FFFFFF"/>
          </a:solidFill>
          <a:ln/>
        </p:spPr>
      </p:sp>
      <p:sp>
        <p:nvSpPr>
          <p:cNvPr id="3" name="Text 1"/>
          <p:cNvSpPr txBox="1"/>
          <p:nvPr/>
        </p:nvSpPr>
        <p:spPr>
          <a:xfrm>
            <a:off x="457200" y="411480"/>
            <a:ext cx="2779776"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Quiz</a:t>
            </a:r>
            <a:endParaRPr lang="en-US" sz="1400" dirty="0"/>
          </a:p>
        </p:txBody>
      </p:sp>
      <p:sp>
        <p:nvSpPr>
          <p:cNvPr id="4" name="Text 2"/>
          <p:cNvSpPr txBox="1"/>
          <p:nvPr/>
        </p:nvSpPr>
        <p:spPr>
          <a:xfrm>
            <a:off x="10134600" y="466344"/>
            <a:ext cx="1600200" cy="411480"/>
          </a:xfrm>
          <a:prstGeom prst="rect">
            <a:avLst/>
          </a:prstGeom>
          <a:noFill/>
          <a:ln/>
        </p:spPr>
        <p:txBody>
          <a:bodyPr wrap="square" lIns="0" tIns="0" rIns="0" bIns="0" rtlCol="0" anchor="ctr"/>
          <a:lstStyle/>
          <a:p>
            <a:pPr marL="0" indent="0" algn="r">
              <a:buNone/>
            </a:pPr>
            <a:endParaRPr lang="en-US" sz="1300" dirty="0"/>
          </a:p>
        </p:txBody>
      </p:sp>
      <p:sp>
        <p:nvSpPr>
          <p:cNvPr id="5" name="Shape 3"/>
          <p:cNvSpPr/>
          <p:nvPr/>
        </p:nvSpPr>
        <p:spPr>
          <a:xfrm>
            <a:off x="7818120" y="1051560"/>
            <a:ext cx="3931920" cy="502920"/>
          </a:xfrm>
          <a:prstGeom prst="rect">
            <a:avLst/>
          </a:prstGeom>
          <a:solidFill>
            <a:srgbClr val="FFFFFF"/>
          </a:solidFill>
          <a:ln/>
        </p:spPr>
      </p:sp>
      <p:sp>
        <p:nvSpPr>
          <p:cNvPr id="6" name="Text 4"/>
          <p:cNvSpPr txBox="1"/>
          <p:nvPr/>
        </p:nvSpPr>
        <p:spPr>
          <a:xfrm>
            <a:off x="7818120" y="1051560"/>
            <a:ext cx="3931920" cy="502920"/>
          </a:xfrm>
          <a:prstGeom prst="rect">
            <a:avLst/>
          </a:prstGeom>
          <a:noFill/>
          <a:ln/>
        </p:spPr>
        <p:txBody>
          <a:bodyPr wrap="square" lIns="0" tIns="0" rIns="0" bIns="0" rtlCol="0" anchor="ctr"/>
          <a:lstStyle/>
          <a:p>
            <a:pPr marL="0" indent="0" algn="ctr">
              <a:buNone/>
            </a:pPr>
            <a:endParaRPr lang="en-US" sz="1300" dirty="0"/>
          </a:p>
        </p:txBody>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400" b="1" dirty="0">
                <a:solidFill>
                  <a:srgbClr val="FFFFFF"/>
                </a:solidFill>
                <a:latin typeface="Montserrat" pitchFamily="34" charset="0"/>
                <a:ea typeface="Montserrat" pitchFamily="34" charset="-122"/>
                <a:cs typeface="Montserrat" pitchFamily="34" charset="-120"/>
              </a:rPr>
              <a:t>A ball rests at the very bottom of a valley. What is the derivative (slope) there?</a:t>
            </a:r>
            <a:endParaRPr lang="en-US" sz="2400" dirty="0"/>
          </a:p>
        </p:txBody>
      </p:sp>
      <p:sp>
        <p:nvSpPr>
          <p:cNvPr id="8" name="Shape 6"/>
          <p:cNvSpPr/>
          <p:nvPr/>
        </p:nvSpPr>
        <p:spPr>
          <a:xfrm>
            <a:off x="822960" y="3108960"/>
            <a:ext cx="10515600" cy="621792"/>
          </a:xfrm>
          <a:prstGeom prst="rect">
            <a:avLst/>
          </a:prstGeom>
          <a:solidFill>
            <a:srgbClr val="FFFFFF"/>
          </a:solidFill>
          <a:ln/>
        </p:spPr>
      </p:sp>
      <p:sp>
        <p:nvSpPr>
          <p:cNvPr id="9" name="Text 7"/>
          <p:cNvSpPr txBox="1"/>
          <p:nvPr/>
        </p:nvSpPr>
        <p:spPr>
          <a:xfrm>
            <a:off x="1097280" y="3108960"/>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A)  Positive</a:t>
            </a:r>
            <a:endParaRPr lang="en-US" sz="1900" dirty="0"/>
          </a:p>
        </p:txBody>
      </p:sp>
      <p:sp>
        <p:nvSpPr>
          <p:cNvPr id="10" name="Shape 8"/>
          <p:cNvSpPr/>
          <p:nvPr/>
        </p:nvSpPr>
        <p:spPr>
          <a:xfrm>
            <a:off x="822960" y="3858768"/>
            <a:ext cx="10515600" cy="621792"/>
          </a:xfrm>
          <a:prstGeom prst="rect">
            <a:avLst/>
          </a:prstGeom>
          <a:solidFill>
            <a:srgbClr val="FFFFFF"/>
          </a:solidFill>
          <a:ln/>
        </p:spPr>
      </p:sp>
      <p:sp>
        <p:nvSpPr>
          <p:cNvPr id="11" name="Text 9"/>
          <p:cNvSpPr txBox="1"/>
          <p:nvPr/>
        </p:nvSpPr>
        <p:spPr>
          <a:xfrm>
            <a:off x="1097280" y="3858768"/>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B)  Zero</a:t>
            </a:r>
            <a:endParaRPr lang="en-US" sz="1900" dirty="0"/>
          </a:p>
        </p:txBody>
      </p:sp>
      <p:sp>
        <p:nvSpPr>
          <p:cNvPr id="12" name="Shape 10"/>
          <p:cNvSpPr/>
          <p:nvPr/>
        </p:nvSpPr>
        <p:spPr>
          <a:xfrm>
            <a:off x="822960" y="4608576"/>
            <a:ext cx="10515600" cy="621792"/>
          </a:xfrm>
          <a:prstGeom prst="rect">
            <a:avLst/>
          </a:prstGeom>
          <a:solidFill>
            <a:srgbClr val="FFFFFF"/>
          </a:solidFill>
          <a:ln/>
        </p:spPr>
      </p:sp>
      <p:sp>
        <p:nvSpPr>
          <p:cNvPr id="13" name="Text 11"/>
          <p:cNvSpPr txBox="1"/>
          <p:nvPr/>
        </p:nvSpPr>
        <p:spPr>
          <a:xfrm>
            <a:off x="1097280" y="4608576"/>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C)  Negative</a:t>
            </a:r>
            <a:endParaRPr lang="en-US" sz="1900" dirty="0"/>
          </a:p>
        </p:txBody>
      </p:sp>
      <p:sp>
        <p:nvSpPr>
          <p:cNvPr id="14" name="Shape 12"/>
          <p:cNvSpPr/>
          <p:nvPr/>
        </p:nvSpPr>
        <p:spPr>
          <a:xfrm>
            <a:off x="822960" y="5358384"/>
            <a:ext cx="10515600" cy="621792"/>
          </a:xfrm>
          <a:prstGeom prst="rect">
            <a:avLst/>
          </a:prstGeom>
          <a:solidFill>
            <a:srgbClr val="FFFFFF"/>
          </a:solidFill>
          <a:ln/>
        </p:spPr>
      </p:sp>
      <p:sp>
        <p:nvSpPr>
          <p:cNvPr id="15" name="Text 13"/>
          <p:cNvSpPr txBox="1"/>
          <p:nvPr/>
        </p:nvSpPr>
        <p:spPr>
          <a:xfrm>
            <a:off x="1097280" y="5358384"/>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D)  Infinite</a:t>
            </a:r>
            <a:endParaRPr lang="en-US" sz="1900" dirty="0"/>
          </a:p>
        </p:txBody>
      </p:sp>
      <p:sp>
        <p:nvSpPr>
          <p:cNvPr id="16" name="Text 14"/>
          <p:cNvSpPr txBox="1"/>
          <p:nvPr/>
        </p:nvSpPr>
        <p:spPr>
          <a:xfrm>
            <a:off x="640080" y="6153912"/>
            <a:ext cx="10058400" cy="365760"/>
          </a:xfrm>
          <a:prstGeom prst="rect">
            <a:avLst/>
          </a:prstGeom>
          <a:noFill/>
          <a:ln/>
        </p:spPr>
        <p:txBody>
          <a:bodyPr wrap="square" lIns="0" tIns="0" rIns="0" bIns="0" rtlCol="0" anchor="ctr"/>
          <a:lstStyle/>
          <a:p>
            <a:pPr marL="0" indent="0">
              <a:buNone/>
            </a:pP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3364992" cy="502920"/>
          </a:xfrm>
          <a:prstGeom prst="rect">
            <a:avLst/>
          </a:prstGeom>
          <a:solidFill>
            <a:srgbClr val="39C2D7"/>
          </a:solidFill>
          <a:ln/>
        </p:spPr>
      </p:sp>
      <p:sp>
        <p:nvSpPr>
          <p:cNvPr id="3" name="Text 1"/>
          <p:cNvSpPr txBox="1"/>
          <p:nvPr/>
        </p:nvSpPr>
        <p:spPr>
          <a:xfrm>
            <a:off x="457200" y="411480"/>
            <a:ext cx="336499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Partial derivative</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Partial derivative = change ONE thing at a time</a:t>
            </a:r>
            <a:endParaRPr lang="en-US" sz="2500" dirty="0"/>
          </a:p>
        </p:txBody>
      </p:sp>
      <p:pic>
        <p:nvPicPr>
          <p:cNvPr id="6" name="Image 0" descr="/home/claude/d78/partial.png"/>
          <p:cNvPicPr>
            <a:picLocks noChangeAspect="1"/>
          </p:cNvPicPr>
          <p:nvPr/>
        </p:nvPicPr>
        <p:blipFill>
          <a:blip r:embed="rId3"/>
          <a:stretch>
            <a:fillRect/>
          </a:stretch>
        </p:blipFill>
        <p:spPr>
          <a:xfrm>
            <a:off x="2091115" y="1691640"/>
            <a:ext cx="7979289"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Many inputs? Nudge only one, freeze the others     |     'How does my score change if I sleep 1 more hour - same study time?'     |     One partial derivative per input</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a model has thousands of weights - we need each weight's own effect on the error.</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Gradient</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Gradient = all partial derivatives in one arrow</a:t>
            </a:r>
            <a:endParaRPr lang="en-US" sz="2500" dirty="0"/>
          </a:p>
        </p:txBody>
      </p:sp>
      <p:pic>
        <p:nvPicPr>
          <p:cNvPr id="6" name="Image 0" descr="/home/claude/d78/gradient.png"/>
          <p:cNvPicPr>
            <a:picLocks noChangeAspect="1"/>
          </p:cNvPicPr>
          <p:nvPr/>
        </p:nvPicPr>
        <p:blipFill>
          <a:blip r:embed="rId3"/>
          <a:stretch>
            <a:fillRect/>
          </a:stretch>
        </p:blipFill>
        <p:spPr>
          <a:xfrm>
            <a:off x="1744789" y="1737360"/>
            <a:ext cx="4648581" cy="4480560"/>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Gradient = [df/dx, df/dy, ...] - a vector</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It points in the steepest UPHILL direction</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Minus gradient = steepest DOWNHILL</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f(x,y)=x^2+y^2 at (2,1): gradient = [4, 2]</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we step in the minus-gradient direction to reduce the loss.</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94560" cy="502920"/>
          </a:xfrm>
          <a:prstGeom prst="rect">
            <a:avLst/>
          </a:prstGeom>
          <a:solidFill>
            <a:srgbClr val="39C2D7"/>
          </a:solidFill>
          <a:ln/>
        </p:spPr>
      </p:sp>
      <p:sp>
        <p:nvSpPr>
          <p:cNvPr id="3" name="Text 1"/>
          <p:cNvSpPr txBox="1"/>
          <p:nvPr/>
        </p:nvSpPr>
        <p:spPr>
          <a:xfrm>
            <a:off x="457200" y="411480"/>
            <a:ext cx="21945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The family</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The derivative family - from simple to big</a:t>
            </a:r>
            <a:endParaRPr lang="en-US" sz="2500" dirty="0"/>
          </a:p>
        </p:txBody>
      </p:sp>
      <p:sp>
        <p:nvSpPr>
          <p:cNvPr id="6" name="Shape 4"/>
          <p:cNvSpPr/>
          <p:nvPr/>
        </p:nvSpPr>
        <p:spPr>
          <a:xfrm>
            <a:off x="457200" y="1828800"/>
            <a:ext cx="2066544" cy="3931920"/>
          </a:xfrm>
          <a:prstGeom prst="rect">
            <a:avLst/>
          </a:prstGeom>
          <a:solidFill>
            <a:srgbClr val="F6F6F6"/>
          </a:solidFill>
          <a:ln/>
        </p:spPr>
      </p:sp>
      <p:sp>
        <p:nvSpPr>
          <p:cNvPr id="7" name="Shape 5"/>
          <p:cNvSpPr/>
          <p:nvPr/>
        </p:nvSpPr>
        <p:spPr>
          <a:xfrm>
            <a:off x="457200" y="1828800"/>
            <a:ext cx="2066544" cy="82296"/>
          </a:xfrm>
          <a:prstGeom prst="rect">
            <a:avLst/>
          </a:prstGeom>
          <a:solidFill>
            <a:srgbClr val="39C2D7"/>
          </a:solidFill>
          <a:ln/>
        </p:spPr>
      </p:sp>
      <p:sp>
        <p:nvSpPr>
          <p:cNvPr id="8" name="Text 6"/>
          <p:cNvSpPr txBox="1"/>
          <p:nvPr/>
        </p:nvSpPr>
        <p:spPr>
          <a:xfrm>
            <a:off x="640080" y="2029968"/>
            <a:ext cx="1700784"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Derivative</a:t>
            </a:r>
            <a:endParaRPr lang="en-US" sz="1600" dirty="0"/>
          </a:p>
        </p:txBody>
      </p:sp>
      <p:sp>
        <p:nvSpPr>
          <p:cNvPr id="9" name="Text 7"/>
          <p:cNvSpPr txBox="1"/>
          <p:nvPr/>
        </p:nvSpPr>
        <p:spPr>
          <a:xfrm>
            <a:off x="640080" y="2606040"/>
            <a:ext cx="1700784" cy="3017520"/>
          </a:xfrm>
          <a:prstGeom prst="rect">
            <a:avLst/>
          </a:prstGeom>
          <a:noFill/>
          <a:ln/>
        </p:spPr>
        <p:txBody>
          <a:bodyPr wrap="square" lIns="0" tIns="0" rIns="0" bIns="0" rtlCol="0" anchor="t"/>
          <a:lstStyle/>
          <a:p>
            <a:pPr marL="0" indent="0">
              <a:buNone/>
            </a:pPr>
            <a:r>
              <a:rPr lang="en-US" sz="1400" dirty="0">
                <a:solidFill>
                  <a:srgbClr val="222222"/>
                </a:solidFill>
                <a:latin typeface="Calibri" pitchFamily="34" charset="0"/>
                <a:ea typeface="Calibri" pitchFamily="34" charset="-122"/>
                <a:cs typeface="Calibri" pitchFamily="34" charset="-120"/>
              </a:rPr>
              <a:t>1 input, 1 output</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result: a NUMBER</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'slope of a curve'</a:t>
            </a:r>
            <a:endParaRPr lang="en-US" sz="1400" dirty="0"/>
          </a:p>
        </p:txBody>
      </p:sp>
      <p:sp>
        <p:nvSpPr>
          <p:cNvPr id="10" name="Shape 8"/>
          <p:cNvSpPr/>
          <p:nvPr/>
        </p:nvSpPr>
        <p:spPr>
          <a:xfrm>
            <a:off x="2752344" y="1828800"/>
            <a:ext cx="2066544" cy="3931920"/>
          </a:xfrm>
          <a:prstGeom prst="rect">
            <a:avLst/>
          </a:prstGeom>
          <a:solidFill>
            <a:srgbClr val="F6F6F6"/>
          </a:solidFill>
          <a:ln/>
        </p:spPr>
      </p:sp>
      <p:sp>
        <p:nvSpPr>
          <p:cNvPr id="11" name="Shape 9"/>
          <p:cNvSpPr/>
          <p:nvPr/>
        </p:nvSpPr>
        <p:spPr>
          <a:xfrm>
            <a:off x="2752344" y="1828800"/>
            <a:ext cx="2066544" cy="82296"/>
          </a:xfrm>
          <a:prstGeom prst="rect">
            <a:avLst/>
          </a:prstGeom>
          <a:solidFill>
            <a:srgbClr val="39C2D7"/>
          </a:solidFill>
          <a:ln/>
        </p:spPr>
      </p:sp>
      <p:sp>
        <p:nvSpPr>
          <p:cNvPr id="12" name="Text 10"/>
          <p:cNvSpPr txBox="1"/>
          <p:nvPr/>
        </p:nvSpPr>
        <p:spPr>
          <a:xfrm>
            <a:off x="2935224" y="2029968"/>
            <a:ext cx="1700784"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Partial</a:t>
            </a:r>
            <a:endParaRPr lang="en-US" sz="1600" dirty="0"/>
          </a:p>
        </p:txBody>
      </p:sp>
      <p:sp>
        <p:nvSpPr>
          <p:cNvPr id="13" name="Text 11"/>
          <p:cNvSpPr txBox="1"/>
          <p:nvPr/>
        </p:nvSpPr>
        <p:spPr>
          <a:xfrm>
            <a:off x="2935224" y="2606040"/>
            <a:ext cx="1700784" cy="3017520"/>
          </a:xfrm>
          <a:prstGeom prst="rect">
            <a:avLst/>
          </a:prstGeom>
          <a:noFill/>
          <a:ln/>
        </p:spPr>
        <p:txBody>
          <a:bodyPr wrap="square" lIns="0" tIns="0" rIns="0" bIns="0" rtlCol="0" anchor="t"/>
          <a:lstStyle/>
          <a:p>
            <a:pPr marL="0" indent="0">
              <a:buNone/>
            </a:pPr>
            <a:r>
              <a:rPr lang="en-US" sz="1400" dirty="0">
                <a:solidFill>
                  <a:srgbClr val="222222"/>
                </a:solidFill>
                <a:latin typeface="Calibri" pitchFamily="34" charset="0"/>
                <a:ea typeface="Calibri" pitchFamily="34" charset="-122"/>
                <a:cs typeface="Calibri" pitchFamily="34" charset="-120"/>
              </a:rPr>
              <a:t>many inputs</a:t>
            </a: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change ONE</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result: a NUMBER</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'slope in one direction'</a:t>
            </a:r>
            <a:endParaRPr lang="en-US" sz="1400" dirty="0"/>
          </a:p>
        </p:txBody>
      </p:sp>
      <p:sp>
        <p:nvSpPr>
          <p:cNvPr id="14" name="Shape 12"/>
          <p:cNvSpPr/>
          <p:nvPr/>
        </p:nvSpPr>
        <p:spPr>
          <a:xfrm>
            <a:off x="5047488" y="1828800"/>
            <a:ext cx="2066544" cy="3931920"/>
          </a:xfrm>
          <a:prstGeom prst="rect">
            <a:avLst/>
          </a:prstGeom>
          <a:solidFill>
            <a:srgbClr val="39C2D7"/>
          </a:solidFill>
          <a:ln/>
        </p:spPr>
      </p:sp>
      <p:sp>
        <p:nvSpPr>
          <p:cNvPr id="15" name="Shape 13"/>
          <p:cNvSpPr/>
          <p:nvPr/>
        </p:nvSpPr>
        <p:spPr>
          <a:xfrm>
            <a:off x="5047488" y="1828800"/>
            <a:ext cx="2066544" cy="82296"/>
          </a:xfrm>
          <a:prstGeom prst="rect">
            <a:avLst/>
          </a:prstGeom>
          <a:solidFill>
            <a:srgbClr val="39C2D7"/>
          </a:solidFill>
          <a:ln/>
        </p:spPr>
      </p:sp>
      <p:sp>
        <p:nvSpPr>
          <p:cNvPr id="16" name="Text 14"/>
          <p:cNvSpPr txBox="1"/>
          <p:nvPr/>
        </p:nvSpPr>
        <p:spPr>
          <a:xfrm>
            <a:off x="5230368" y="2029968"/>
            <a:ext cx="1700784" cy="502920"/>
          </a:xfrm>
          <a:prstGeom prst="rect">
            <a:avLst/>
          </a:prstGeom>
          <a:noFill/>
          <a:ln/>
        </p:spPr>
        <p:txBody>
          <a:bodyPr wrap="square" lIns="0" tIns="0" rIns="0" bIns="0" rtlCol="0" anchor="ctr"/>
          <a:lstStyle/>
          <a:p>
            <a:pPr marL="0" indent="0">
              <a:buNone/>
            </a:pPr>
            <a:r>
              <a:rPr lang="en-US" sz="1600" b="1" dirty="0">
                <a:solidFill>
                  <a:srgbClr val="FFFFFF"/>
                </a:solidFill>
                <a:latin typeface="Montserrat" pitchFamily="34" charset="0"/>
                <a:ea typeface="Montserrat" pitchFamily="34" charset="-122"/>
                <a:cs typeface="Montserrat" pitchFamily="34" charset="-120"/>
              </a:rPr>
              <a:t>Gradient</a:t>
            </a:r>
            <a:endParaRPr lang="en-US" sz="1600" dirty="0"/>
          </a:p>
        </p:txBody>
      </p:sp>
      <p:sp>
        <p:nvSpPr>
          <p:cNvPr id="17" name="Text 15"/>
          <p:cNvSpPr txBox="1"/>
          <p:nvPr/>
        </p:nvSpPr>
        <p:spPr>
          <a:xfrm>
            <a:off x="5230368" y="2606040"/>
            <a:ext cx="1700784" cy="3017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many inputs, 1 output</a:t>
            </a:r>
            <a:endParaRPr lang="en-US" sz="1400" dirty="0"/>
          </a:p>
          <a:p>
            <a:pPr marL="0" indent="0">
              <a:buNone/>
            </a:pP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result: a VECTOR</a:t>
            </a:r>
            <a:endParaRPr lang="en-US" sz="1400" dirty="0"/>
          </a:p>
          <a:p>
            <a:pPr marL="0" indent="0">
              <a:buNone/>
            </a:pP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'the uphill arrow'  (the star of ML!)</a:t>
            </a:r>
            <a:endParaRPr lang="en-US" sz="1400" dirty="0"/>
          </a:p>
        </p:txBody>
      </p:sp>
      <p:sp>
        <p:nvSpPr>
          <p:cNvPr id="18" name="Shape 16"/>
          <p:cNvSpPr/>
          <p:nvPr/>
        </p:nvSpPr>
        <p:spPr>
          <a:xfrm>
            <a:off x="7342632" y="1828800"/>
            <a:ext cx="2066544" cy="3931920"/>
          </a:xfrm>
          <a:prstGeom prst="rect">
            <a:avLst/>
          </a:prstGeom>
          <a:solidFill>
            <a:srgbClr val="F6F6F6"/>
          </a:solidFill>
          <a:ln/>
        </p:spPr>
      </p:sp>
      <p:sp>
        <p:nvSpPr>
          <p:cNvPr id="19" name="Shape 17"/>
          <p:cNvSpPr/>
          <p:nvPr/>
        </p:nvSpPr>
        <p:spPr>
          <a:xfrm>
            <a:off x="7342632" y="1828800"/>
            <a:ext cx="2066544" cy="82296"/>
          </a:xfrm>
          <a:prstGeom prst="rect">
            <a:avLst/>
          </a:prstGeom>
          <a:solidFill>
            <a:srgbClr val="39C2D7"/>
          </a:solidFill>
          <a:ln/>
        </p:spPr>
      </p:sp>
      <p:sp>
        <p:nvSpPr>
          <p:cNvPr id="20" name="Text 18"/>
          <p:cNvSpPr txBox="1"/>
          <p:nvPr/>
        </p:nvSpPr>
        <p:spPr>
          <a:xfrm>
            <a:off x="7525512" y="2029968"/>
            <a:ext cx="1700784"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Jacobian</a:t>
            </a:r>
            <a:endParaRPr lang="en-US" sz="1600" dirty="0"/>
          </a:p>
        </p:txBody>
      </p:sp>
      <p:sp>
        <p:nvSpPr>
          <p:cNvPr id="21" name="Text 19"/>
          <p:cNvSpPr txBox="1"/>
          <p:nvPr/>
        </p:nvSpPr>
        <p:spPr>
          <a:xfrm>
            <a:off x="7525512" y="2606040"/>
            <a:ext cx="1700784" cy="3017520"/>
          </a:xfrm>
          <a:prstGeom prst="rect">
            <a:avLst/>
          </a:prstGeom>
          <a:noFill/>
          <a:ln/>
        </p:spPr>
        <p:txBody>
          <a:bodyPr wrap="square" lIns="0" tIns="0" rIns="0" bIns="0" rtlCol="0" anchor="t"/>
          <a:lstStyle/>
          <a:p>
            <a:pPr marL="0" indent="0">
              <a:buNone/>
            </a:pPr>
            <a:r>
              <a:rPr lang="en-US" sz="1400" dirty="0">
                <a:solidFill>
                  <a:srgbClr val="222222"/>
                </a:solidFill>
                <a:latin typeface="Calibri" pitchFamily="34" charset="0"/>
                <a:ea typeface="Calibri" pitchFamily="34" charset="-122"/>
                <a:cs typeface="Calibri" pitchFamily="34" charset="-120"/>
              </a:rPr>
              <a:t>many inputs, many outputs</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result: a MATRIX</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'gradient of a whole layer'</a:t>
            </a:r>
            <a:endParaRPr lang="en-US" sz="1400" dirty="0"/>
          </a:p>
        </p:txBody>
      </p:sp>
      <p:sp>
        <p:nvSpPr>
          <p:cNvPr id="22" name="Shape 20"/>
          <p:cNvSpPr/>
          <p:nvPr/>
        </p:nvSpPr>
        <p:spPr>
          <a:xfrm>
            <a:off x="9637776" y="1828800"/>
            <a:ext cx="2066544" cy="3931920"/>
          </a:xfrm>
          <a:prstGeom prst="rect">
            <a:avLst/>
          </a:prstGeom>
          <a:solidFill>
            <a:srgbClr val="F6F6F6"/>
          </a:solidFill>
          <a:ln/>
        </p:spPr>
      </p:sp>
      <p:sp>
        <p:nvSpPr>
          <p:cNvPr id="23" name="Shape 21"/>
          <p:cNvSpPr/>
          <p:nvPr/>
        </p:nvSpPr>
        <p:spPr>
          <a:xfrm>
            <a:off x="9637776" y="1828800"/>
            <a:ext cx="2066544" cy="82296"/>
          </a:xfrm>
          <a:prstGeom prst="rect">
            <a:avLst/>
          </a:prstGeom>
          <a:solidFill>
            <a:srgbClr val="39C2D7"/>
          </a:solidFill>
          <a:ln/>
        </p:spPr>
      </p:sp>
      <p:sp>
        <p:nvSpPr>
          <p:cNvPr id="24" name="Text 22"/>
          <p:cNvSpPr txBox="1"/>
          <p:nvPr/>
        </p:nvSpPr>
        <p:spPr>
          <a:xfrm>
            <a:off x="9820656" y="2029968"/>
            <a:ext cx="1700784"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Hessian</a:t>
            </a:r>
            <a:endParaRPr lang="en-US" sz="1600" dirty="0"/>
          </a:p>
        </p:txBody>
      </p:sp>
      <p:sp>
        <p:nvSpPr>
          <p:cNvPr id="25" name="Text 23"/>
          <p:cNvSpPr txBox="1"/>
          <p:nvPr/>
        </p:nvSpPr>
        <p:spPr>
          <a:xfrm>
            <a:off x="9820656" y="2606040"/>
            <a:ext cx="1700784" cy="3017520"/>
          </a:xfrm>
          <a:prstGeom prst="rect">
            <a:avLst/>
          </a:prstGeom>
          <a:noFill/>
          <a:ln/>
        </p:spPr>
        <p:txBody>
          <a:bodyPr wrap="square" lIns="0" tIns="0" rIns="0" bIns="0" rtlCol="0" anchor="t"/>
          <a:lstStyle/>
          <a:p>
            <a:pPr marL="0" indent="0">
              <a:buNone/>
            </a:pPr>
            <a:r>
              <a:rPr lang="en-US" sz="1400" dirty="0">
                <a:solidFill>
                  <a:srgbClr val="222222"/>
                </a:solidFill>
                <a:latin typeface="Calibri" pitchFamily="34" charset="0"/>
                <a:ea typeface="Calibri" pitchFamily="34" charset="-122"/>
                <a:cs typeface="Calibri" pitchFamily="34" charset="-120"/>
              </a:rPr>
              <a:t>2nd derivatives</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result: a MATRIX (symmetric)</a:t>
            </a:r>
            <a:endParaRPr lang="en-US" sz="1400" dirty="0"/>
          </a:p>
          <a:p>
            <a:pPr marL="0" indent="0">
              <a:buNone/>
            </a:pPr>
            <a:endParaRPr lang="en-US" sz="1400" dirty="0"/>
          </a:p>
          <a:p>
            <a:pPr marL="0" indent="0">
              <a:buNone/>
            </a:pPr>
            <a:r>
              <a:rPr lang="en-US" sz="1400" dirty="0">
                <a:solidFill>
                  <a:srgbClr val="222222"/>
                </a:solidFill>
                <a:latin typeface="Calibri" pitchFamily="34" charset="0"/>
                <a:ea typeface="Calibri" pitchFamily="34" charset="-122"/>
                <a:cs typeface="Calibri" pitchFamily="34" charset="-120"/>
              </a:rPr>
              <a:t>'curvature: bowl or dome?'</a:t>
            </a:r>
            <a:endParaRPr lang="en-US" sz="1400" dirty="0"/>
          </a:p>
        </p:txBody>
      </p:sp>
      <p:sp>
        <p:nvSpPr>
          <p:cNvPr id="26" name="Text 24"/>
          <p:cNvSpPr txBox="1"/>
          <p:nvPr/>
        </p:nvSpPr>
        <p:spPr>
          <a:xfrm>
            <a:off x="457200" y="5897880"/>
            <a:ext cx="11247120" cy="365760"/>
          </a:xfrm>
          <a:prstGeom prst="rect">
            <a:avLst/>
          </a:prstGeom>
          <a:noFill/>
          <a:ln/>
        </p:spPr>
        <p:txBody>
          <a:bodyPr wrap="square" lIns="0" tIns="0" rIns="0" bIns="0" rtlCol="0" anchor="ctr"/>
          <a:lstStyle/>
          <a:p>
            <a:pPr marL="0" indent="0" algn="ctr">
              <a:buNone/>
            </a:pPr>
            <a:r>
              <a:rPr lang="en-US" sz="1600" b="1" dirty="0">
                <a:solidFill>
                  <a:srgbClr val="39C2D7"/>
                </a:solidFill>
                <a:latin typeface="Montserrat" pitchFamily="34" charset="0"/>
                <a:ea typeface="Montserrat" pitchFamily="34" charset="-122"/>
                <a:cs typeface="Montserrat" pitchFamily="34" charset="-120"/>
              </a:rPr>
              <a:t>Number  -&gt;  vector  -&gt;  matrix   (Topic 6 again!)</a:t>
            </a:r>
            <a:endParaRPr lang="en-US" sz="1600" dirty="0"/>
          </a:p>
        </p:txBody>
      </p:sp>
      <p:sp>
        <p:nvSpPr>
          <p:cNvPr id="27" name="Text 25"/>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8" name="Text 26"/>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Hessian</a:t>
            </a:r>
            <a:endParaRPr lang="en-US" sz="14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Hessian = curvature: is this a valley or a hill?</a:t>
            </a:r>
            <a:endParaRPr lang="en-US" sz="2500" dirty="0"/>
          </a:p>
        </p:txBody>
      </p:sp>
      <p:pic>
        <p:nvPicPr>
          <p:cNvPr id="6" name="Image 0" descr="/home/claude/d78/curvature.png"/>
          <p:cNvPicPr>
            <a:picLocks noChangeAspect="1"/>
          </p:cNvPicPr>
          <p:nvPr/>
        </p:nvPicPr>
        <p:blipFill>
          <a:blip r:embed="rId3"/>
          <a:stretch>
            <a:fillRect/>
          </a:stretch>
        </p:blipFill>
        <p:spPr>
          <a:xfrm>
            <a:off x="924127" y="1691640"/>
            <a:ext cx="10313267"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Matrix of 2nd derivatives - always symmetric     |     Positive (bowl) -&gt; MINIMUM     |     Negative (dome) -&gt; MAXIMUM     |     Mixed -&gt; saddle: flat but not a valley</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convex (bowl-shaped) losses have one minimum - training is easy and safe.</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2779776" cy="502920"/>
          </a:xfrm>
          <a:prstGeom prst="rect">
            <a:avLst/>
          </a:prstGeom>
          <a:solidFill>
            <a:srgbClr val="FFFFFF"/>
          </a:solidFill>
          <a:ln/>
        </p:spPr>
      </p:sp>
      <p:sp>
        <p:nvSpPr>
          <p:cNvPr id="3" name="Text 1"/>
          <p:cNvSpPr txBox="1"/>
          <p:nvPr/>
        </p:nvSpPr>
        <p:spPr>
          <a:xfrm>
            <a:off x="457200" y="411480"/>
            <a:ext cx="2779776"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Quiz</a:t>
            </a:r>
            <a:endParaRPr lang="en-US" sz="1400" dirty="0"/>
          </a:p>
        </p:txBody>
      </p:sp>
      <p:sp>
        <p:nvSpPr>
          <p:cNvPr id="5" name="Shape 3"/>
          <p:cNvSpPr/>
          <p:nvPr/>
        </p:nvSpPr>
        <p:spPr>
          <a:xfrm>
            <a:off x="7818120" y="1051560"/>
            <a:ext cx="3931920" cy="502920"/>
          </a:xfrm>
          <a:prstGeom prst="rect">
            <a:avLst/>
          </a:prstGeom>
          <a:solidFill>
            <a:srgbClr val="FFFFFF"/>
          </a:solidFill>
          <a:ln/>
        </p:spPr>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400" b="1" dirty="0">
                <a:solidFill>
                  <a:srgbClr val="FFFFFF"/>
                </a:solidFill>
                <a:latin typeface="Montserrat" pitchFamily="34" charset="0"/>
                <a:ea typeface="Montserrat" pitchFamily="34" charset="-122"/>
                <a:cs typeface="Montserrat" pitchFamily="34" charset="-120"/>
              </a:rPr>
              <a:t>Which tool tells you whether a flat point is a bowl (minimum) or a dome (maximum)?</a:t>
            </a:r>
            <a:endParaRPr lang="en-US" sz="2400" dirty="0"/>
          </a:p>
        </p:txBody>
      </p:sp>
      <p:sp>
        <p:nvSpPr>
          <p:cNvPr id="8" name="Shape 6"/>
          <p:cNvSpPr/>
          <p:nvPr/>
        </p:nvSpPr>
        <p:spPr>
          <a:xfrm>
            <a:off x="822960" y="3108960"/>
            <a:ext cx="10515600" cy="621792"/>
          </a:xfrm>
          <a:prstGeom prst="rect">
            <a:avLst/>
          </a:prstGeom>
          <a:solidFill>
            <a:srgbClr val="FFFFFF"/>
          </a:solidFill>
          <a:ln/>
        </p:spPr>
      </p:sp>
      <p:sp>
        <p:nvSpPr>
          <p:cNvPr id="9" name="Text 7"/>
          <p:cNvSpPr txBox="1"/>
          <p:nvPr/>
        </p:nvSpPr>
        <p:spPr>
          <a:xfrm>
            <a:off x="1097280" y="3108960"/>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A)  Derivative</a:t>
            </a:r>
            <a:endParaRPr lang="en-US" sz="1900" dirty="0"/>
          </a:p>
        </p:txBody>
      </p:sp>
      <p:sp>
        <p:nvSpPr>
          <p:cNvPr id="10" name="Shape 8"/>
          <p:cNvSpPr/>
          <p:nvPr/>
        </p:nvSpPr>
        <p:spPr>
          <a:xfrm>
            <a:off x="822960" y="3858768"/>
            <a:ext cx="10515600" cy="621792"/>
          </a:xfrm>
          <a:prstGeom prst="rect">
            <a:avLst/>
          </a:prstGeom>
          <a:solidFill>
            <a:srgbClr val="FFFFFF"/>
          </a:solidFill>
          <a:ln/>
        </p:spPr>
      </p:sp>
      <p:sp>
        <p:nvSpPr>
          <p:cNvPr id="11" name="Text 9"/>
          <p:cNvSpPr txBox="1"/>
          <p:nvPr/>
        </p:nvSpPr>
        <p:spPr>
          <a:xfrm>
            <a:off x="1097280" y="3858768"/>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B)  Gradient</a:t>
            </a:r>
            <a:endParaRPr lang="en-US" sz="1900" dirty="0"/>
          </a:p>
        </p:txBody>
      </p:sp>
      <p:sp>
        <p:nvSpPr>
          <p:cNvPr id="12" name="Shape 10"/>
          <p:cNvSpPr/>
          <p:nvPr/>
        </p:nvSpPr>
        <p:spPr>
          <a:xfrm>
            <a:off x="822960" y="4608576"/>
            <a:ext cx="10515600" cy="621792"/>
          </a:xfrm>
          <a:prstGeom prst="rect">
            <a:avLst/>
          </a:prstGeom>
          <a:solidFill>
            <a:srgbClr val="FFFFFF"/>
          </a:solidFill>
          <a:ln/>
        </p:spPr>
      </p:sp>
      <p:sp>
        <p:nvSpPr>
          <p:cNvPr id="13" name="Text 11"/>
          <p:cNvSpPr txBox="1"/>
          <p:nvPr/>
        </p:nvSpPr>
        <p:spPr>
          <a:xfrm>
            <a:off x="1097280" y="4608576"/>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C)  Jacobian</a:t>
            </a:r>
            <a:endParaRPr lang="en-US" sz="1900" dirty="0"/>
          </a:p>
        </p:txBody>
      </p:sp>
      <p:sp>
        <p:nvSpPr>
          <p:cNvPr id="14" name="Shape 12"/>
          <p:cNvSpPr/>
          <p:nvPr/>
        </p:nvSpPr>
        <p:spPr>
          <a:xfrm>
            <a:off x="822960" y="5358384"/>
            <a:ext cx="10515600" cy="621792"/>
          </a:xfrm>
          <a:prstGeom prst="rect">
            <a:avLst/>
          </a:prstGeom>
          <a:solidFill>
            <a:srgbClr val="FFFFFF"/>
          </a:solidFill>
          <a:ln/>
        </p:spPr>
      </p:sp>
      <p:sp>
        <p:nvSpPr>
          <p:cNvPr id="15" name="Text 13"/>
          <p:cNvSpPr txBox="1"/>
          <p:nvPr/>
        </p:nvSpPr>
        <p:spPr>
          <a:xfrm>
            <a:off x="1097280" y="5358384"/>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D)  Hessian</a:t>
            </a:r>
            <a:endParaRPr lang="en-US" sz="1900" dirty="0"/>
          </a:p>
        </p:txBody>
      </p:sp>
      <p:sp>
        <p:nvSpPr>
          <p:cNvPr id="16" name="Text 14"/>
          <p:cNvSpPr txBox="1"/>
          <p:nvPr/>
        </p:nvSpPr>
        <p:spPr>
          <a:xfrm>
            <a:off x="640080" y="6153912"/>
            <a:ext cx="10058400" cy="365760"/>
          </a:xfrm>
          <a:prstGeom prst="rect">
            <a:avLst/>
          </a:prstGeom>
          <a:noFill/>
          <a:ln/>
        </p:spPr>
        <p:txBody>
          <a:bodyPr wrap="square" lIns="0" tIns="0" rIns="0" bIns="0" rtlCol="0" anchor="ctr"/>
          <a:lstStyle/>
          <a:p>
            <a:pPr marL="0" indent="0">
              <a:buNone/>
            </a:pP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487168" cy="502920"/>
          </a:xfrm>
          <a:prstGeom prst="rect">
            <a:avLst/>
          </a:prstGeom>
          <a:solidFill>
            <a:srgbClr val="39C2D7"/>
          </a:solidFill>
          <a:ln/>
        </p:spPr>
      </p:sp>
      <p:sp>
        <p:nvSpPr>
          <p:cNvPr id="3" name="Text 1"/>
          <p:cNvSpPr txBox="1"/>
          <p:nvPr/>
        </p:nvSpPr>
        <p:spPr>
          <a:xfrm>
            <a:off x="457200" y="411480"/>
            <a:ext cx="2487168"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Optimization</a:t>
            </a:r>
            <a:endParaRPr lang="en-US" sz="14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Optimization = find the lowest point</a:t>
            </a:r>
            <a:endParaRPr lang="en-US" sz="2500" dirty="0"/>
          </a:p>
        </p:txBody>
      </p:sp>
      <p:pic>
        <p:nvPicPr>
          <p:cNvPr id="6" name="Image 0" descr="/home/claude/d78/optimization.png"/>
          <p:cNvPicPr>
            <a:picLocks noChangeAspect="1"/>
          </p:cNvPicPr>
          <p:nvPr/>
        </p:nvPicPr>
        <p:blipFill>
          <a:blip r:embed="rId3"/>
          <a:stretch>
            <a:fillRect/>
          </a:stretch>
        </p:blipFill>
        <p:spPr>
          <a:xfrm>
            <a:off x="411480" y="2101948"/>
            <a:ext cx="7315200" cy="3751385"/>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Find the input that makes a function smallest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Unconstrained: set gradient = 0, check with the Hessian</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Constrained: extra rules (e.g. weight &gt; 3.2) -&gt; Lagrange multipliers</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TRAINING = OPTIMIZATION: find weights that minimise the LOSS.</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3072384" cy="502920"/>
          </a:xfrm>
          <a:prstGeom prst="rect">
            <a:avLst/>
          </a:prstGeom>
          <a:solidFill>
            <a:srgbClr val="39C2D7"/>
          </a:solidFill>
          <a:ln/>
        </p:spPr>
      </p:sp>
      <p:sp>
        <p:nvSpPr>
          <p:cNvPr id="3" name="Text 1"/>
          <p:cNvSpPr txBox="1"/>
          <p:nvPr/>
        </p:nvSpPr>
        <p:spPr>
          <a:xfrm>
            <a:off x="457200" y="411480"/>
            <a:ext cx="3072384"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Gradient descent</a:t>
            </a:r>
            <a:endParaRPr lang="en-US" sz="14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Gradient descent - the algorithm behind ML</a:t>
            </a:r>
            <a:endParaRPr lang="en-US" sz="2500" dirty="0"/>
          </a:p>
        </p:txBody>
      </p:sp>
      <p:sp>
        <p:nvSpPr>
          <p:cNvPr id="6" name="Shape 4"/>
          <p:cNvSpPr/>
          <p:nvPr/>
        </p:nvSpPr>
        <p:spPr>
          <a:xfrm>
            <a:off x="457200" y="1783080"/>
            <a:ext cx="11247120" cy="1143000"/>
          </a:xfrm>
          <a:prstGeom prst="rect">
            <a:avLst/>
          </a:prstGeom>
          <a:solidFill>
            <a:srgbClr val="39C2D7"/>
          </a:solidFill>
          <a:ln/>
        </p:spPr>
      </p:sp>
      <p:sp>
        <p:nvSpPr>
          <p:cNvPr id="7" name="Text 5"/>
          <p:cNvSpPr txBox="1"/>
          <p:nvPr/>
        </p:nvSpPr>
        <p:spPr>
          <a:xfrm>
            <a:off x="457200" y="1783080"/>
            <a:ext cx="11247120" cy="1143000"/>
          </a:xfrm>
          <a:prstGeom prst="rect">
            <a:avLst/>
          </a:prstGeom>
          <a:noFill/>
          <a:ln/>
        </p:spPr>
        <p:txBody>
          <a:bodyPr wrap="square" lIns="0" tIns="0" rIns="0" bIns="0" rtlCol="0" anchor="ctr"/>
          <a:lstStyle/>
          <a:p>
            <a:pPr marL="0" indent="0" algn="ctr">
              <a:buNone/>
            </a:pPr>
            <a:r>
              <a:rPr lang="en-US" sz="2500" b="1" dirty="0">
                <a:solidFill>
                  <a:srgbClr val="FFFFFF"/>
                </a:solidFill>
                <a:latin typeface="Montserrat" pitchFamily="34" charset="0"/>
                <a:ea typeface="Montserrat" pitchFamily="34" charset="-122"/>
                <a:cs typeface="Montserrat" pitchFamily="34" charset="-120"/>
              </a:rPr>
              <a:t>new weight  =  old weight  -  learning rate  x  gradient</a:t>
            </a:r>
            <a:endParaRPr lang="en-US" sz="2500" dirty="0"/>
          </a:p>
        </p:txBody>
      </p:sp>
      <p:sp>
        <p:nvSpPr>
          <p:cNvPr id="8" name="Shape 6"/>
          <p:cNvSpPr/>
          <p:nvPr/>
        </p:nvSpPr>
        <p:spPr>
          <a:xfrm>
            <a:off x="457200" y="3246120"/>
            <a:ext cx="3611880" cy="2377440"/>
          </a:xfrm>
          <a:prstGeom prst="rect">
            <a:avLst/>
          </a:prstGeom>
          <a:solidFill>
            <a:srgbClr val="F6F6F6"/>
          </a:solidFill>
          <a:ln/>
        </p:spPr>
      </p:sp>
      <p:sp>
        <p:nvSpPr>
          <p:cNvPr id="9" name="Shape 7"/>
          <p:cNvSpPr/>
          <p:nvPr/>
        </p:nvSpPr>
        <p:spPr>
          <a:xfrm>
            <a:off x="685800" y="3474720"/>
            <a:ext cx="731520" cy="731520"/>
          </a:xfrm>
          <a:prstGeom prst="rect">
            <a:avLst/>
          </a:prstGeom>
          <a:solidFill>
            <a:srgbClr val="39C2D7"/>
          </a:solidFill>
          <a:ln/>
        </p:spPr>
      </p:sp>
      <p:sp>
        <p:nvSpPr>
          <p:cNvPr id="10" name="Text 8"/>
          <p:cNvSpPr txBox="1"/>
          <p:nvPr/>
        </p:nvSpPr>
        <p:spPr>
          <a:xfrm>
            <a:off x="685800" y="34747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Montserrat" pitchFamily="34" charset="0"/>
                <a:ea typeface="Montserrat" pitchFamily="34" charset="-122"/>
                <a:cs typeface="Montserrat" pitchFamily="34" charset="-120"/>
              </a:rPr>
              <a:t>1</a:t>
            </a:r>
            <a:endParaRPr lang="en-US" sz="2800" dirty="0"/>
          </a:p>
        </p:txBody>
      </p:sp>
      <p:sp>
        <p:nvSpPr>
          <p:cNvPr id="11" name="Text 9"/>
          <p:cNvSpPr txBox="1"/>
          <p:nvPr/>
        </p:nvSpPr>
        <p:spPr>
          <a:xfrm>
            <a:off x="1600200" y="3474720"/>
            <a:ext cx="2286000" cy="731520"/>
          </a:xfrm>
          <a:prstGeom prst="rect">
            <a:avLst/>
          </a:prstGeom>
          <a:noFill/>
          <a:ln/>
        </p:spPr>
        <p:txBody>
          <a:bodyPr wrap="square" lIns="0" tIns="0" rIns="0" bIns="0" rtlCol="0" anchor="ctr"/>
          <a:lstStyle/>
          <a:p>
            <a:pPr marL="0" indent="0">
              <a:buNone/>
            </a:pPr>
            <a:r>
              <a:rPr lang="en-US" sz="2000" b="1" dirty="0">
                <a:solidFill>
                  <a:srgbClr val="222222"/>
                </a:solidFill>
                <a:latin typeface="Montserrat" pitchFamily="34" charset="0"/>
                <a:ea typeface="Montserrat" pitchFamily="34" charset="-122"/>
                <a:cs typeface="Montserrat" pitchFamily="34" charset="-120"/>
              </a:rPr>
              <a:t>COMPUTE</a:t>
            </a:r>
            <a:endParaRPr lang="en-US" sz="2000" dirty="0"/>
          </a:p>
        </p:txBody>
      </p:sp>
      <p:sp>
        <p:nvSpPr>
          <p:cNvPr id="12" name="Text 10"/>
          <p:cNvSpPr txBox="1"/>
          <p:nvPr/>
        </p:nvSpPr>
        <p:spPr>
          <a:xfrm>
            <a:off x="685800" y="4389120"/>
            <a:ext cx="3200400" cy="1097280"/>
          </a:xfrm>
          <a:prstGeom prst="rect">
            <a:avLst/>
          </a:prstGeom>
          <a:noFill/>
          <a:ln/>
        </p:spPr>
        <p:txBody>
          <a:bodyPr wrap="square" lIns="0" tIns="0" rIns="0" bIns="0" rtlCol="0" anchor="t"/>
          <a:lstStyle/>
          <a:p>
            <a:pPr marL="0" indent="0">
              <a:buNone/>
            </a:pPr>
            <a:r>
              <a:rPr lang="en-US" sz="1600" dirty="0">
                <a:solidFill>
                  <a:srgbClr val="464547"/>
                </a:solidFill>
                <a:latin typeface="Calibri" pitchFamily="34" charset="0"/>
                <a:ea typeface="Calibri" pitchFamily="34" charset="-122"/>
                <a:cs typeface="Calibri" pitchFamily="34" charset="-120"/>
              </a:rPr>
              <a:t>the gradient of the loss (which way is uphill?)</a:t>
            </a:r>
            <a:endParaRPr lang="en-US" sz="1600" dirty="0"/>
          </a:p>
        </p:txBody>
      </p:sp>
      <p:sp>
        <p:nvSpPr>
          <p:cNvPr id="13" name="Shape 11"/>
          <p:cNvSpPr/>
          <p:nvPr/>
        </p:nvSpPr>
        <p:spPr>
          <a:xfrm>
            <a:off x="4251960" y="3246120"/>
            <a:ext cx="3611880" cy="2377440"/>
          </a:xfrm>
          <a:prstGeom prst="rect">
            <a:avLst/>
          </a:prstGeom>
          <a:solidFill>
            <a:srgbClr val="F6F6F6"/>
          </a:solidFill>
          <a:ln/>
        </p:spPr>
      </p:sp>
      <p:sp>
        <p:nvSpPr>
          <p:cNvPr id="14" name="Shape 12"/>
          <p:cNvSpPr/>
          <p:nvPr/>
        </p:nvSpPr>
        <p:spPr>
          <a:xfrm>
            <a:off x="4480560" y="3474720"/>
            <a:ext cx="731520" cy="731520"/>
          </a:xfrm>
          <a:prstGeom prst="rect">
            <a:avLst/>
          </a:prstGeom>
          <a:solidFill>
            <a:srgbClr val="39C2D7"/>
          </a:solidFill>
          <a:ln/>
        </p:spPr>
      </p:sp>
      <p:sp>
        <p:nvSpPr>
          <p:cNvPr id="15" name="Text 13"/>
          <p:cNvSpPr txBox="1"/>
          <p:nvPr/>
        </p:nvSpPr>
        <p:spPr>
          <a:xfrm>
            <a:off x="4480560" y="34747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Montserrat" pitchFamily="34" charset="0"/>
                <a:ea typeface="Montserrat" pitchFamily="34" charset="-122"/>
                <a:cs typeface="Montserrat" pitchFamily="34" charset="-120"/>
              </a:rPr>
              <a:t>2</a:t>
            </a:r>
            <a:endParaRPr lang="en-US" sz="2800" dirty="0"/>
          </a:p>
        </p:txBody>
      </p:sp>
      <p:sp>
        <p:nvSpPr>
          <p:cNvPr id="16" name="Text 14"/>
          <p:cNvSpPr txBox="1"/>
          <p:nvPr/>
        </p:nvSpPr>
        <p:spPr>
          <a:xfrm>
            <a:off x="5394960" y="3474720"/>
            <a:ext cx="2286000" cy="731520"/>
          </a:xfrm>
          <a:prstGeom prst="rect">
            <a:avLst/>
          </a:prstGeom>
          <a:noFill/>
          <a:ln/>
        </p:spPr>
        <p:txBody>
          <a:bodyPr wrap="square" lIns="0" tIns="0" rIns="0" bIns="0" rtlCol="0" anchor="ctr"/>
          <a:lstStyle/>
          <a:p>
            <a:pPr marL="0" indent="0">
              <a:buNone/>
            </a:pPr>
            <a:r>
              <a:rPr lang="en-US" sz="2000" b="1" dirty="0">
                <a:solidFill>
                  <a:srgbClr val="222222"/>
                </a:solidFill>
                <a:latin typeface="Montserrat" pitchFamily="34" charset="0"/>
                <a:ea typeface="Montserrat" pitchFamily="34" charset="-122"/>
                <a:cs typeface="Montserrat" pitchFamily="34" charset="-120"/>
              </a:rPr>
              <a:t>STEP</a:t>
            </a:r>
            <a:endParaRPr lang="en-US" sz="2000" dirty="0"/>
          </a:p>
        </p:txBody>
      </p:sp>
      <p:sp>
        <p:nvSpPr>
          <p:cNvPr id="17" name="Text 15"/>
          <p:cNvSpPr txBox="1"/>
          <p:nvPr/>
        </p:nvSpPr>
        <p:spPr>
          <a:xfrm>
            <a:off x="4480560" y="4389120"/>
            <a:ext cx="3200400" cy="1097280"/>
          </a:xfrm>
          <a:prstGeom prst="rect">
            <a:avLst/>
          </a:prstGeom>
          <a:noFill/>
          <a:ln/>
        </p:spPr>
        <p:txBody>
          <a:bodyPr wrap="square" lIns="0" tIns="0" rIns="0" bIns="0" rtlCol="0" anchor="t"/>
          <a:lstStyle/>
          <a:p>
            <a:pPr marL="0" indent="0">
              <a:buNone/>
            </a:pPr>
            <a:r>
              <a:rPr lang="en-US" sz="1600" dirty="0">
                <a:solidFill>
                  <a:srgbClr val="464547"/>
                </a:solidFill>
                <a:latin typeface="Calibri" pitchFamily="34" charset="0"/>
                <a:ea typeface="Calibri" pitchFamily="34" charset="-122"/>
                <a:cs typeface="Calibri" pitchFamily="34" charset="-120"/>
              </a:rPr>
              <a:t>a small step the opposite way (downhill)</a:t>
            </a:r>
            <a:endParaRPr lang="en-US" sz="1600" dirty="0"/>
          </a:p>
        </p:txBody>
      </p:sp>
      <p:sp>
        <p:nvSpPr>
          <p:cNvPr id="18" name="Shape 16"/>
          <p:cNvSpPr/>
          <p:nvPr/>
        </p:nvSpPr>
        <p:spPr>
          <a:xfrm>
            <a:off x="8046720" y="3246120"/>
            <a:ext cx="3611880" cy="2377440"/>
          </a:xfrm>
          <a:prstGeom prst="rect">
            <a:avLst/>
          </a:prstGeom>
          <a:solidFill>
            <a:srgbClr val="F6F6F6"/>
          </a:solidFill>
          <a:ln/>
        </p:spPr>
      </p:sp>
      <p:sp>
        <p:nvSpPr>
          <p:cNvPr id="19" name="Shape 17"/>
          <p:cNvSpPr/>
          <p:nvPr/>
        </p:nvSpPr>
        <p:spPr>
          <a:xfrm>
            <a:off x="8275320" y="3474720"/>
            <a:ext cx="731520" cy="731520"/>
          </a:xfrm>
          <a:prstGeom prst="rect">
            <a:avLst/>
          </a:prstGeom>
          <a:solidFill>
            <a:srgbClr val="39C2D7"/>
          </a:solidFill>
          <a:ln/>
        </p:spPr>
      </p:sp>
      <p:sp>
        <p:nvSpPr>
          <p:cNvPr id="20" name="Text 18"/>
          <p:cNvSpPr txBox="1"/>
          <p:nvPr/>
        </p:nvSpPr>
        <p:spPr>
          <a:xfrm>
            <a:off x="8275320" y="34747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Montserrat" pitchFamily="34" charset="0"/>
                <a:ea typeface="Montserrat" pitchFamily="34" charset="-122"/>
                <a:cs typeface="Montserrat" pitchFamily="34" charset="-120"/>
              </a:rPr>
              <a:t>3</a:t>
            </a:r>
            <a:endParaRPr lang="en-US" sz="2800" dirty="0"/>
          </a:p>
        </p:txBody>
      </p:sp>
      <p:sp>
        <p:nvSpPr>
          <p:cNvPr id="21" name="Text 19"/>
          <p:cNvSpPr txBox="1"/>
          <p:nvPr/>
        </p:nvSpPr>
        <p:spPr>
          <a:xfrm>
            <a:off x="9189720" y="3474720"/>
            <a:ext cx="2286000" cy="731520"/>
          </a:xfrm>
          <a:prstGeom prst="rect">
            <a:avLst/>
          </a:prstGeom>
          <a:noFill/>
          <a:ln/>
        </p:spPr>
        <p:txBody>
          <a:bodyPr wrap="square" lIns="0" tIns="0" rIns="0" bIns="0" rtlCol="0" anchor="ctr"/>
          <a:lstStyle/>
          <a:p>
            <a:pPr marL="0" indent="0">
              <a:buNone/>
            </a:pPr>
            <a:r>
              <a:rPr lang="en-US" sz="2000" b="1" dirty="0">
                <a:solidFill>
                  <a:srgbClr val="222222"/>
                </a:solidFill>
                <a:latin typeface="Montserrat" pitchFamily="34" charset="0"/>
                <a:ea typeface="Montserrat" pitchFamily="34" charset="-122"/>
                <a:cs typeface="Montserrat" pitchFamily="34" charset="-120"/>
              </a:rPr>
              <a:t>REPEAT</a:t>
            </a:r>
            <a:endParaRPr lang="en-US" sz="2000" dirty="0"/>
          </a:p>
        </p:txBody>
      </p:sp>
      <p:sp>
        <p:nvSpPr>
          <p:cNvPr id="22" name="Text 20"/>
          <p:cNvSpPr txBox="1"/>
          <p:nvPr/>
        </p:nvSpPr>
        <p:spPr>
          <a:xfrm>
            <a:off x="8275320" y="4389120"/>
            <a:ext cx="3200400" cy="1097280"/>
          </a:xfrm>
          <a:prstGeom prst="rect">
            <a:avLst/>
          </a:prstGeom>
          <a:noFill/>
          <a:ln/>
        </p:spPr>
        <p:txBody>
          <a:bodyPr wrap="square" lIns="0" tIns="0" rIns="0" bIns="0" rtlCol="0" anchor="t"/>
          <a:lstStyle/>
          <a:p>
            <a:pPr marL="0" indent="0">
              <a:buNone/>
            </a:pPr>
            <a:r>
              <a:rPr lang="en-US" sz="1600" dirty="0">
                <a:solidFill>
                  <a:srgbClr val="464547"/>
                </a:solidFill>
                <a:latin typeface="Calibri" pitchFamily="34" charset="0"/>
                <a:ea typeface="Calibri" pitchFamily="34" charset="-122"/>
                <a:cs typeface="Calibri" pitchFamily="34" charset="-120"/>
              </a:rPr>
              <a:t>until the gradient is ~0 (you reached the valley)</a:t>
            </a:r>
            <a:endParaRPr lang="en-US" sz="1600" dirty="0"/>
          </a:p>
        </p:txBody>
      </p:sp>
      <p:sp>
        <p:nvSpPr>
          <p:cNvPr id="23" name="Text 21"/>
          <p:cNvSpPr txBox="1"/>
          <p:nvPr/>
        </p:nvSpPr>
        <p:spPr>
          <a:xfrm>
            <a:off x="457200" y="5852160"/>
            <a:ext cx="11247120" cy="365760"/>
          </a:xfrm>
          <a:prstGeom prst="rect">
            <a:avLst/>
          </a:prstGeom>
          <a:noFill/>
          <a:ln/>
        </p:spPr>
        <p:txBody>
          <a:bodyPr wrap="square" lIns="0" tIns="0" rIns="0" bIns="0" rtlCol="0" anchor="ctr"/>
          <a:lstStyle/>
          <a:p>
            <a:pPr marL="0" indent="0" algn="ctr">
              <a:buNone/>
            </a:pPr>
            <a:r>
              <a:rPr lang="en-US" sz="1600" i="1" dirty="0">
                <a:solidFill>
                  <a:srgbClr val="39C2D7"/>
                </a:solidFill>
                <a:latin typeface="Calibri" pitchFamily="34" charset="0"/>
                <a:ea typeface="Calibri" pitchFamily="34" charset="-122"/>
                <a:cs typeface="Calibri" pitchFamily="34" charset="-120"/>
              </a:rPr>
              <a:t>The MINUS sign = go downhill.   Learning rate = size of your step.</a:t>
            </a:r>
            <a:endParaRPr lang="en-US" sz="1600" dirty="0"/>
          </a:p>
        </p:txBody>
      </p:sp>
      <p:sp>
        <p:nvSpPr>
          <p:cNvPr id="24" name="Text 22"/>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5" name="Text 23"/>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In action</a:t>
            </a:r>
            <a:endParaRPr lang="en-US" sz="14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Watch it roll downhill</a:t>
            </a:r>
            <a:endParaRPr lang="en-US" sz="2500" dirty="0"/>
          </a:p>
        </p:txBody>
      </p:sp>
      <p:pic>
        <p:nvPicPr>
          <p:cNvPr id="6" name="Image 0" descr="/home/claude/d78/gd_steps.png"/>
          <p:cNvPicPr>
            <a:picLocks noChangeAspect="1"/>
          </p:cNvPicPr>
          <p:nvPr/>
        </p:nvPicPr>
        <p:blipFill>
          <a:blip r:embed="rId3"/>
          <a:stretch>
            <a:fillRect/>
          </a:stretch>
        </p:blipFill>
        <p:spPr>
          <a:xfrm>
            <a:off x="411480" y="2036808"/>
            <a:ext cx="7315200" cy="3881664"/>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Start anywhere (random weights)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Big slope -&gt; big steps at first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Near the bottom the slope shrinks -&gt; steps shrink</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Stops when slope ~ 0</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every neural network, regression and more is trained with this loop.</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ACTIVITY</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Be the algorithm!  (pairs, paper &amp; pen)</a:t>
            </a:r>
            <a:endParaRPr lang="en-US" sz="2500" dirty="0"/>
          </a:p>
        </p:txBody>
      </p:sp>
      <p:sp>
        <p:nvSpPr>
          <p:cNvPr id="6" name="Shape 4"/>
          <p:cNvSpPr/>
          <p:nvPr/>
        </p:nvSpPr>
        <p:spPr>
          <a:xfrm>
            <a:off x="457200" y="1783080"/>
            <a:ext cx="4754880" cy="4297680"/>
          </a:xfrm>
          <a:prstGeom prst="rect">
            <a:avLst/>
          </a:prstGeom>
          <a:solidFill>
            <a:srgbClr val="F6F6F6"/>
          </a:solidFill>
          <a:ln/>
        </p:spPr>
      </p:sp>
      <p:sp>
        <p:nvSpPr>
          <p:cNvPr id="7" name="Text 5"/>
          <p:cNvSpPr txBox="1"/>
          <p:nvPr/>
        </p:nvSpPr>
        <p:spPr>
          <a:xfrm>
            <a:off x="685800" y="1920240"/>
            <a:ext cx="4389120" cy="457200"/>
          </a:xfrm>
          <a:prstGeom prst="rect">
            <a:avLst/>
          </a:prstGeom>
          <a:noFill/>
          <a:ln/>
        </p:spPr>
        <p:txBody>
          <a:bodyPr wrap="square" lIns="0" tIns="0" rIns="0" bIns="0" rtlCol="0" anchor="ctr"/>
          <a:lstStyle/>
          <a:p>
            <a:pPr marL="0" indent="0">
              <a:buNone/>
            </a:pPr>
            <a:r>
              <a:rPr lang="en-US" sz="1900" b="1" dirty="0">
                <a:solidFill>
                  <a:srgbClr val="39C2D7"/>
                </a:solidFill>
                <a:latin typeface="Montserrat" pitchFamily="34" charset="0"/>
                <a:ea typeface="Montserrat" pitchFamily="34" charset="-122"/>
                <a:cs typeface="Montserrat" pitchFamily="34" charset="-120"/>
              </a:rPr>
              <a:t>Your mission</a:t>
            </a:r>
            <a:endParaRPr lang="en-US" sz="1900" dirty="0"/>
          </a:p>
        </p:txBody>
      </p:sp>
      <p:sp>
        <p:nvSpPr>
          <p:cNvPr id="8" name="Text 6"/>
          <p:cNvSpPr/>
          <p:nvPr/>
        </p:nvSpPr>
        <p:spPr>
          <a:xfrm>
            <a:off x="685800" y="2468880"/>
            <a:ext cx="4389120" cy="3474720"/>
          </a:xfrm>
          <a:prstGeom prst="rect">
            <a:avLst/>
          </a:prstGeom>
          <a:noFill/>
          <a:ln/>
        </p:spPr>
        <p:txBody>
          <a:bodyPr wrap="square" lIns="0" tIns="0" rIns="0" bIns="0" rtlCol="0" anchor="t"/>
          <a:lstStyle/>
          <a:p>
            <a:pPr marL="0" indent="0">
              <a:buNone/>
            </a:pPr>
            <a:r>
              <a:rPr lang="en-US" sz="1800" dirty="0">
                <a:solidFill>
                  <a:srgbClr val="222222"/>
                </a:solidFill>
                <a:latin typeface="Calibri" pitchFamily="34" charset="0"/>
                <a:ea typeface="Calibri" pitchFamily="34" charset="-122"/>
                <a:cs typeface="Calibri" pitchFamily="34" charset="-120"/>
              </a:rPr>
              <a:t>Loss:  f(x) = x²</a:t>
            </a:r>
            <a:endParaRPr lang="en-US" sz="1800" dirty="0"/>
          </a:p>
          <a:p>
            <a:pPr marL="0" indent="0">
              <a:buNone/>
            </a:pPr>
            <a:r>
              <a:rPr lang="en-US" sz="1800" dirty="0">
                <a:solidFill>
                  <a:srgbClr val="222222"/>
                </a:solidFill>
                <a:latin typeface="Calibri" pitchFamily="34" charset="0"/>
                <a:ea typeface="Calibri" pitchFamily="34" charset="-122"/>
                <a:cs typeface="Calibri" pitchFamily="34" charset="-120"/>
              </a:rPr>
              <a:t>Gradient:  2x</a:t>
            </a:r>
            <a:endParaRPr lang="en-US" sz="1800" dirty="0"/>
          </a:p>
          <a:p>
            <a:pPr marL="0" indent="0">
              <a:buNone/>
            </a:pPr>
            <a:r>
              <a:rPr lang="en-US" sz="1800" dirty="0">
                <a:solidFill>
                  <a:srgbClr val="222222"/>
                </a:solidFill>
                <a:latin typeface="Calibri" pitchFamily="34" charset="0"/>
                <a:ea typeface="Calibri" pitchFamily="34" charset="-122"/>
                <a:cs typeface="Calibri" pitchFamily="34" charset="-120"/>
              </a:rPr>
              <a:t>Start:  x = 3</a:t>
            </a:r>
            <a:endParaRPr lang="en-US" sz="1800" dirty="0"/>
          </a:p>
          <a:p>
            <a:pPr marL="0" indent="0">
              <a:buNone/>
            </a:pPr>
            <a:r>
              <a:rPr lang="en-US" sz="1800" dirty="0">
                <a:solidFill>
                  <a:srgbClr val="222222"/>
                </a:solidFill>
                <a:latin typeface="Calibri" pitchFamily="34" charset="0"/>
                <a:ea typeface="Calibri" pitchFamily="34" charset="-122"/>
                <a:cs typeface="Calibri" pitchFamily="34" charset="-120"/>
              </a:rPr>
              <a:t>Learning rate:  0.25</a:t>
            </a:r>
            <a:endParaRPr lang="en-US" sz="1800" dirty="0"/>
          </a:p>
          <a:p>
            <a:pPr marL="0" indent="0">
              <a:buNone/>
            </a:pPr>
            <a:r>
              <a:rPr lang="en-US" sz="1800" dirty="0">
                <a:solidFill>
                  <a:srgbClr val="222222"/>
                </a:solidFill>
                <a:latin typeface="Calibri" pitchFamily="34" charset="0"/>
                <a:ea typeface="Calibri" pitchFamily="34" charset="-122"/>
                <a:cs typeface="Calibri" pitchFamily="34" charset="-120"/>
              </a:rPr>
              <a:t> </a:t>
            </a:r>
            <a:endParaRPr lang="en-US" sz="1800" dirty="0"/>
          </a:p>
          <a:p>
            <a:pPr marL="0" indent="0">
              <a:buNone/>
            </a:pPr>
            <a:r>
              <a:rPr lang="en-US" sz="1800" b="1" dirty="0">
                <a:solidFill>
                  <a:srgbClr val="222222"/>
                </a:solidFill>
                <a:latin typeface="Calibri" pitchFamily="34" charset="0"/>
                <a:ea typeface="Calibri" pitchFamily="34" charset="-122"/>
                <a:cs typeface="Calibri" pitchFamily="34" charset="-120"/>
              </a:rPr>
              <a:t>Rule:  x_new = x - 0.25 × 2x</a:t>
            </a:r>
            <a:endParaRPr lang="en-US" sz="1800" dirty="0"/>
          </a:p>
          <a:p>
            <a:pPr marL="0" indent="0">
              <a:buNone/>
            </a:pPr>
            <a:r>
              <a:rPr lang="en-US" sz="1800" dirty="0">
                <a:solidFill>
                  <a:srgbClr val="222222"/>
                </a:solidFill>
                <a:latin typeface="Calibri" pitchFamily="34" charset="0"/>
                <a:ea typeface="Calibri" pitchFamily="34" charset="-122"/>
                <a:cs typeface="Calibri" pitchFamily="34" charset="-120"/>
              </a:rPr>
              <a:t> </a:t>
            </a:r>
            <a:endParaRPr lang="en-US" sz="1800" dirty="0"/>
          </a:p>
          <a:p>
            <a:pPr marL="0" indent="0">
              <a:buNone/>
            </a:pPr>
            <a:r>
              <a:rPr lang="en-US" sz="1800" i="1" dirty="0">
                <a:solidFill>
                  <a:srgbClr val="222222"/>
                </a:solidFill>
                <a:latin typeface="Calibri" pitchFamily="34" charset="0"/>
                <a:ea typeface="Calibri" pitchFamily="34" charset="-122"/>
                <a:cs typeface="Calibri" pitchFamily="34" charset="-120"/>
              </a:rPr>
              <a:t>Do 3 steps. What pattern do you see?</a:t>
            </a:r>
            <a:endParaRPr lang="en-US" sz="1800" dirty="0"/>
          </a:p>
        </p:txBody>
      </p:sp>
      <p:sp>
        <p:nvSpPr>
          <p:cNvPr id="9" name="Shape 7"/>
          <p:cNvSpPr/>
          <p:nvPr/>
        </p:nvSpPr>
        <p:spPr>
          <a:xfrm>
            <a:off x="5486400" y="1783080"/>
            <a:ext cx="1280160" cy="640080"/>
          </a:xfrm>
          <a:prstGeom prst="rect">
            <a:avLst/>
          </a:prstGeom>
          <a:solidFill>
            <a:srgbClr val="39C2D7"/>
          </a:solidFill>
          <a:ln/>
        </p:spPr>
      </p:sp>
      <p:sp>
        <p:nvSpPr>
          <p:cNvPr id="10" name="Text 8"/>
          <p:cNvSpPr txBox="1"/>
          <p:nvPr/>
        </p:nvSpPr>
        <p:spPr>
          <a:xfrm>
            <a:off x="5486400" y="1783080"/>
            <a:ext cx="128016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Step</a:t>
            </a:r>
            <a:endParaRPr lang="en-US" sz="1500" dirty="0"/>
          </a:p>
        </p:txBody>
      </p:sp>
      <p:sp>
        <p:nvSpPr>
          <p:cNvPr id="11" name="Shape 9"/>
          <p:cNvSpPr/>
          <p:nvPr/>
        </p:nvSpPr>
        <p:spPr>
          <a:xfrm>
            <a:off x="6766560" y="1783080"/>
            <a:ext cx="1417320" cy="640080"/>
          </a:xfrm>
          <a:prstGeom prst="rect">
            <a:avLst/>
          </a:prstGeom>
          <a:solidFill>
            <a:srgbClr val="39C2D7"/>
          </a:solidFill>
          <a:ln/>
        </p:spPr>
      </p:sp>
      <p:sp>
        <p:nvSpPr>
          <p:cNvPr id="12" name="Text 10"/>
          <p:cNvSpPr txBox="1"/>
          <p:nvPr/>
        </p:nvSpPr>
        <p:spPr>
          <a:xfrm>
            <a:off x="6766560" y="1783080"/>
            <a:ext cx="141732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x</a:t>
            </a:r>
            <a:endParaRPr lang="en-US" sz="1500" dirty="0"/>
          </a:p>
        </p:txBody>
      </p:sp>
      <p:sp>
        <p:nvSpPr>
          <p:cNvPr id="13" name="Shape 11"/>
          <p:cNvSpPr/>
          <p:nvPr/>
        </p:nvSpPr>
        <p:spPr>
          <a:xfrm>
            <a:off x="8183880" y="1783080"/>
            <a:ext cx="1783080" cy="640080"/>
          </a:xfrm>
          <a:prstGeom prst="rect">
            <a:avLst/>
          </a:prstGeom>
          <a:solidFill>
            <a:srgbClr val="39C2D7"/>
          </a:solidFill>
          <a:ln/>
        </p:spPr>
      </p:sp>
      <p:sp>
        <p:nvSpPr>
          <p:cNvPr id="14" name="Text 12"/>
          <p:cNvSpPr txBox="1"/>
          <p:nvPr/>
        </p:nvSpPr>
        <p:spPr>
          <a:xfrm>
            <a:off x="8183880" y="1783080"/>
            <a:ext cx="178308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gradient 2x</a:t>
            </a:r>
            <a:endParaRPr lang="en-US" sz="1500" dirty="0"/>
          </a:p>
        </p:txBody>
      </p:sp>
      <p:sp>
        <p:nvSpPr>
          <p:cNvPr id="15" name="Shape 13"/>
          <p:cNvSpPr/>
          <p:nvPr/>
        </p:nvSpPr>
        <p:spPr>
          <a:xfrm>
            <a:off x="9966960" y="1783080"/>
            <a:ext cx="1737360" cy="640080"/>
          </a:xfrm>
          <a:prstGeom prst="rect">
            <a:avLst/>
          </a:prstGeom>
          <a:solidFill>
            <a:srgbClr val="39C2D7"/>
          </a:solidFill>
          <a:ln/>
        </p:spPr>
      </p:sp>
      <p:sp>
        <p:nvSpPr>
          <p:cNvPr id="16" name="Text 14"/>
          <p:cNvSpPr txBox="1"/>
          <p:nvPr/>
        </p:nvSpPr>
        <p:spPr>
          <a:xfrm>
            <a:off x="9966960" y="1783080"/>
            <a:ext cx="173736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x_new</a:t>
            </a:r>
            <a:endParaRPr lang="en-US" sz="1500" dirty="0"/>
          </a:p>
        </p:txBody>
      </p:sp>
      <p:sp>
        <p:nvSpPr>
          <p:cNvPr id="17" name="Shape 15"/>
          <p:cNvSpPr/>
          <p:nvPr/>
        </p:nvSpPr>
        <p:spPr>
          <a:xfrm>
            <a:off x="5486400" y="2423160"/>
            <a:ext cx="1280160" cy="868680"/>
          </a:xfrm>
          <a:prstGeom prst="rect">
            <a:avLst/>
          </a:prstGeom>
          <a:solidFill>
            <a:srgbClr val="FFFFFF"/>
          </a:solidFill>
          <a:ln w="12700">
            <a:solidFill>
              <a:srgbClr val="DDDDDD"/>
            </a:solidFill>
            <a:prstDash val="solid"/>
          </a:ln>
        </p:spPr>
      </p:sp>
      <p:sp>
        <p:nvSpPr>
          <p:cNvPr id="18" name="Text 16"/>
          <p:cNvSpPr txBox="1"/>
          <p:nvPr/>
        </p:nvSpPr>
        <p:spPr>
          <a:xfrm>
            <a:off x="5486400" y="2423160"/>
            <a:ext cx="1280160" cy="868680"/>
          </a:xfrm>
          <a:prstGeom prst="rect">
            <a:avLst/>
          </a:prstGeom>
          <a:noFill/>
          <a:ln/>
        </p:spPr>
        <p:txBody>
          <a:bodyPr wrap="square" lIns="0" tIns="0" rIns="0" bIns="0" rtlCol="0" anchor="ctr"/>
          <a:lstStyle/>
          <a:p>
            <a:pPr marL="0" indent="0" algn="ctr">
              <a:buNone/>
            </a:pPr>
            <a:r>
              <a:rPr lang="en-US" sz="2000" b="1" dirty="0">
                <a:solidFill>
                  <a:srgbClr val="222222"/>
                </a:solidFill>
                <a:latin typeface="Montserrat" pitchFamily="34" charset="0"/>
                <a:ea typeface="Montserrat" pitchFamily="34" charset="-122"/>
                <a:cs typeface="Montserrat" pitchFamily="34" charset="-120"/>
              </a:rPr>
              <a:t>1</a:t>
            </a:r>
            <a:endParaRPr lang="en-US" sz="2000" dirty="0"/>
          </a:p>
        </p:txBody>
      </p:sp>
      <p:sp>
        <p:nvSpPr>
          <p:cNvPr id="19" name="Shape 17"/>
          <p:cNvSpPr/>
          <p:nvPr/>
        </p:nvSpPr>
        <p:spPr>
          <a:xfrm>
            <a:off x="6766560" y="2423160"/>
            <a:ext cx="1417320" cy="868680"/>
          </a:xfrm>
          <a:prstGeom prst="rect">
            <a:avLst/>
          </a:prstGeom>
          <a:solidFill>
            <a:srgbClr val="FFFFFF"/>
          </a:solidFill>
          <a:ln w="12700">
            <a:solidFill>
              <a:srgbClr val="DDDDDD"/>
            </a:solidFill>
            <a:prstDash val="solid"/>
          </a:ln>
        </p:spPr>
      </p:sp>
      <p:sp>
        <p:nvSpPr>
          <p:cNvPr id="20" name="Text 18"/>
          <p:cNvSpPr txBox="1"/>
          <p:nvPr/>
        </p:nvSpPr>
        <p:spPr>
          <a:xfrm>
            <a:off x="6766560" y="2423160"/>
            <a:ext cx="1417320" cy="868680"/>
          </a:xfrm>
          <a:prstGeom prst="rect">
            <a:avLst/>
          </a:prstGeom>
          <a:noFill/>
          <a:ln/>
        </p:spPr>
        <p:txBody>
          <a:bodyPr wrap="square" lIns="0" tIns="0" rIns="0" bIns="0" rtlCol="0" anchor="ctr"/>
          <a:lstStyle/>
          <a:p>
            <a:pPr marL="0" indent="0" algn="ctr">
              <a:buNone/>
            </a:pPr>
            <a:r>
              <a:rPr lang="en-US" sz="2000" b="1" dirty="0">
                <a:solidFill>
                  <a:srgbClr val="222222"/>
                </a:solidFill>
                <a:latin typeface="Montserrat" pitchFamily="34" charset="0"/>
                <a:ea typeface="Montserrat" pitchFamily="34" charset="-122"/>
                <a:cs typeface="Montserrat" pitchFamily="34" charset="-120"/>
              </a:rPr>
              <a:t>3</a:t>
            </a:r>
            <a:endParaRPr lang="en-US" sz="2000" dirty="0"/>
          </a:p>
        </p:txBody>
      </p:sp>
      <p:sp>
        <p:nvSpPr>
          <p:cNvPr id="21" name="Shape 19"/>
          <p:cNvSpPr/>
          <p:nvPr/>
        </p:nvSpPr>
        <p:spPr>
          <a:xfrm>
            <a:off x="8183880" y="2423160"/>
            <a:ext cx="1783080" cy="868680"/>
          </a:xfrm>
          <a:prstGeom prst="rect">
            <a:avLst/>
          </a:prstGeom>
          <a:solidFill>
            <a:srgbClr val="FFFFFF"/>
          </a:solidFill>
          <a:ln w="12700">
            <a:solidFill>
              <a:srgbClr val="DDDDDD"/>
            </a:solidFill>
            <a:prstDash val="solid"/>
          </a:ln>
        </p:spPr>
      </p:sp>
      <p:sp>
        <p:nvSpPr>
          <p:cNvPr id="22" name="Text 20"/>
          <p:cNvSpPr txBox="1"/>
          <p:nvPr/>
        </p:nvSpPr>
        <p:spPr>
          <a:xfrm>
            <a:off x="8183880" y="2423160"/>
            <a:ext cx="178308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23" name="Shape 21"/>
          <p:cNvSpPr/>
          <p:nvPr/>
        </p:nvSpPr>
        <p:spPr>
          <a:xfrm>
            <a:off x="9966960" y="2423160"/>
            <a:ext cx="1737360" cy="868680"/>
          </a:xfrm>
          <a:prstGeom prst="rect">
            <a:avLst/>
          </a:prstGeom>
          <a:solidFill>
            <a:srgbClr val="FFFFFF"/>
          </a:solidFill>
          <a:ln w="12700">
            <a:solidFill>
              <a:srgbClr val="DDDDDD"/>
            </a:solidFill>
            <a:prstDash val="solid"/>
          </a:ln>
        </p:spPr>
      </p:sp>
      <p:sp>
        <p:nvSpPr>
          <p:cNvPr id="24" name="Text 22"/>
          <p:cNvSpPr txBox="1"/>
          <p:nvPr/>
        </p:nvSpPr>
        <p:spPr>
          <a:xfrm>
            <a:off x="9966960" y="2423160"/>
            <a:ext cx="173736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25" name="Shape 23"/>
          <p:cNvSpPr/>
          <p:nvPr/>
        </p:nvSpPr>
        <p:spPr>
          <a:xfrm>
            <a:off x="5486400" y="3291840"/>
            <a:ext cx="1280160" cy="868680"/>
          </a:xfrm>
          <a:prstGeom prst="rect">
            <a:avLst/>
          </a:prstGeom>
          <a:solidFill>
            <a:srgbClr val="F6F6F6"/>
          </a:solidFill>
          <a:ln w="12700">
            <a:solidFill>
              <a:srgbClr val="DDDDDD"/>
            </a:solidFill>
            <a:prstDash val="solid"/>
          </a:ln>
        </p:spPr>
      </p:sp>
      <p:sp>
        <p:nvSpPr>
          <p:cNvPr id="26" name="Text 24"/>
          <p:cNvSpPr txBox="1"/>
          <p:nvPr/>
        </p:nvSpPr>
        <p:spPr>
          <a:xfrm>
            <a:off x="5486400" y="3291840"/>
            <a:ext cx="1280160" cy="868680"/>
          </a:xfrm>
          <a:prstGeom prst="rect">
            <a:avLst/>
          </a:prstGeom>
          <a:noFill/>
          <a:ln/>
        </p:spPr>
        <p:txBody>
          <a:bodyPr wrap="square" lIns="0" tIns="0" rIns="0" bIns="0" rtlCol="0" anchor="ctr"/>
          <a:lstStyle/>
          <a:p>
            <a:pPr marL="0" indent="0" algn="ctr">
              <a:buNone/>
            </a:pPr>
            <a:r>
              <a:rPr lang="en-US" sz="2000" b="1" dirty="0">
                <a:solidFill>
                  <a:srgbClr val="222222"/>
                </a:solidFill>
                <a:latin typeface="Montserrat" pitchFamily="34" charset="0"/>
                <a:ea typeface="Montserrat" pitchFamily="34" charset="-122"/>
                <a:cs typeface="Montserrat" pitchFamily="34" charset="-120"/>
              </a:rPr>
              <a:t>2</a:t>
            </a:r>
            <a:endParaRPr lang="en-US" sz="2000" dirty="0"/>
          </a:p>
        </p:txBody>
      </p:sp>
      <p:sp>
        <p:nvSpPr>
          <p:cNvPr id="27" name="Shape 25"/>
          <p:cNvSpPr/>
          <p:nvPr/>
        </p:nvSpPr>
        <p:spPr>
          <a:xfrm>
            <a:off x="6766560" y="3291840"/>
            <a:ext cx="1417320" cy="868680"/>
          </a:xfrm>
          <a:prstGeom prst="rect">
            <a:avLst/>
          </a:prstGeom>
          <a:solidFill>
            <a:srgbClr val="F6F6F6"/>
          </a:solidFill>
          <a:ln w="12700">
            <a:solidFill>
              <a:srgbClr val="DDDDDD"/>
            </a:solidFill>
            <a:prstDash val="solid"/>
          </a:ln>
        </p:spPr>
      </p:sp>
      <p:sp>
        <p:nvSpPr>
          <p:cNvPr id="28" name="Text 26"/>
          <p:cNvSpPr txBox="1"/>
          <p:nvPr/>
        </p:nvSpPr>
        <p:spPr>
          <a:xfrm>
            <a:off x="6766560" y="3291840"/>
            <a:ext cx="141732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29" name="Shape 27"/>
          <p:cNvSpPr/>
          <p:nvPr/>
        </p:nvSpPr>
        <p:spPr>
          <a:xfrm>
            <a:off x="8183880" y="3291840"/>
            <a:ext cx="1783080" cy="868680"/>
          </a:xfrm>
          <a:prstGeom prst="rect">
            <a:avLst/>
          </a:prstGeom>
          <a:solidFill>
            <a:srgbClr val="F6F6F6"/>
          </a:solidFill>
          <a:ln w="12700">
            <a:solidFill>
              <a:srgbClr val="DDDDDD"/>
            </a:solidFill>
            <a:prstDash val="solid"/>
          </a:ln>
        </p:spPr>
      </p:sp>
      <p:sp>
        <p:nvSpPr>
          <p:cNvPr id="30" name="Text 28"/>
          <p:cNvSpPr txBox="1"/>
          <p:nvPr/>
        </p:nvSpPr>
        <p:spPr>
          <a:xfrm>
            <a:off x="8183880" y="3291840"/>
            <a:ext cx="178308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31" name="Shape 29"/>
          <p:cNvSpPr/>
          <p:nvPr/>
        </p:nvSpPr>
        <p:spPr>
          <a:xfrm>
            <a:off x="9966960" y="3291840"/>
            <a:ext cx="1737360" cy="868680"/>
          </a:xfrm>
          <a:prstGeom prst="rect">
            <a:avLst/>
          </a:prstGeom>
          <a:solidFill>
            <a:srgbClr val="F6F6F6"/>
          </a:solidFill>
          <a:ln w="12700">
            <a:solidFill>
              <a:srgbClr val="DDDDDD"/>
            </a:solidFill>
            <a:prstDash val="solid"/>
          </a:ln>
        </p:spPr>
      </p:sp>
      <p:sp>
        <p:nvSpPr>
          <p:cNvPr id="32" name="Text 30"/>
          <p:cNvSpPr txBox="1"/>
          <p:nvPr/>
        </p:nvSpPr>
        <p:spPr>
          <a:xfrm>
            <a:off x="9966960" y="3291840"/>
            <a:ext cx="173736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33" name="Shape 31"/>
          <p:cNvSpPr/>
          <p:nvPr/>
        </p:nvSpPr>
        <p:spPr>
          <a:xfrm>
            <a:off x="5486400" y="4160520"/>
            <a:ext cx="1280160" cy="868680"/>
          </a:xfrm>
          <a:prstGeom prst="rect">
            <a:avLst/>
          </a:prstGeom>
          <a:solidFill>
            <a:srgbClr val="FFFFFF"/>
          </a:solidFill>
          <a:ln w="12700">
            <a:solidFill>
              <a:srgbClr val="DDDDDD"/>
            </a:solidFill>
            <a:prstDash val="solid"/>
          </a:ln>
        </p:spPr>
      </p:sp>
      <p:sp>
        <p:nvSpPr>
          <p:cNvPr id="34" name="Text 32"/>
          <p:cNvSpPr txBox="1"/>
          <p:nvPr/>
        </p:nvSpPr>
        <p:spPr>
          <a:xfrm>
            <a:off x="5486400" y="4160520"/>
            <a:ext cx="1280160" cy="868680"/>
          </a:xfrm>
          <a:prstGeom prst="rect">
            <a:avLst/>
          </a:prstGeom>
          <a:noFill/>
          <a:ln/>
        </p:spPr>
        <p:txBody>
          <a:bodyPr wrap="square" lIns="0" tIns="0" rIns="0" bIns="0" rtlCol="0" anchor="ctr"/>
          <a:lstStyle/>
          <a:p>
            <a:pPr marL="0" indent="0" algn="ctr">
              <a:buNone/>
            </a:pPr>
            <a:r>
              <a:rPr lang="en-US" sz="2000" b="1" dirty="0">
                <a:solidFill>
                  <a:srgbClr val="222222"/>
                </a:solidFill>
                <a:latin typeface="Montserrat" pitchFamily="34" charset="0"/>
                <a:ea typeface="Montserrat" pitchFamily="34" charset="-122"/>
                <a:cs typeface="Montserrat" pitchFamily="34" charset="-120"/>
              </a:rPr>
              <a:t>3</a:t>
            </a:r>
            <a:endParaRPr lang="en-US" sz="2000" dirty="0"/>
          </a:p>
        </p:txBody>
      </p:sp>
      <p:sp>
        <p:nvSpPr>
          <p:cNvPr id="35" name="Shape 33"/>
          <p:cNvSpPr/>
          <p:nvPr/>
        </p:nvSpPr>
        <p:spPr>
          <a:xfrm>
            <a:off x="6766560" y="4160520"/>
            <a:ext cx="1417320" cy="868680"/>
          </a:xfrm>
          <a:prstGeom prst="rect">
            <a:avLst/>
          </a:prstGeom>
          <a:solidFill>
            <a:srgbClr val="FFFFFF"/>
          </a:solidFill>
          <a:ln w="12700">
            <a:solidFill>
              <a:srgbClr val="DDDDDD"/>
            </a:solidFill>
            <a:prstDash val="solid"/>
          </a:ln>
        </p:spPr>
      </p:sp>
      <p:sp>
        <p:nvSpPr>
          <p:cNvPr id="36" name="Text 34"/>
          <p:cNvSpPr txBox="1"/>
          <p:nvPr/>
        </p:nvSpPr>
        <p:spPr>
          <a:xfrm>
            <a:off x="6766560" y="4160520"/>
            <a:ext cx="141732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37" name="Shape 35"/>
          <p:cNvSpPr/>
          <p:nvPr/>
        </p:nvSpPr>
        <p:spPr>
          <a:xfrm>
            <a:off x="8183880" y="4160520"/>
            <a:ext cx="1783080" cy="868680"/>
          </a:xfrm>
          <a:prstGeom prst="rect">
            <a:avLst/>
          </a:prstGeom>
          <a:solidFill>
            <a:srgbClr val="FFFFFF"/>
          </a:solidFill>
          <a:ln w="12700">
            <a:solidFill>
              <a:srgbClr val="DDDDDD"/>
            </a:solidFill>
            <a:prstDash val="solid"/>
          </a:ln>
        </p:spPr>
      </p:sp>
      <p:sp>
        <p:nvSpPr>
          <p:cNvPr id="38" name="Text 36"/>
          <p:cNvSpPr txBox="1"/>
          <p:nvPr/>
        </p:nvSpPr>
        <p:spPr>
          <a:xfrm>
            <a:off x="8183880" y="4160520"/>
            <a:ext cx="178308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39" name="Shape 37"/>
          <p:cNvSpPr/>
          <p:nvPr/>
        </p:nvSpPr>
        <p:spPr>
          <a:xfrm>
            <a:off x="9966960" y="4160520"/>
            <a:ext cx="1737360" cy="868680"/>
          </a:xfrm>
          <a:prstGeom prst="rect">
            <a:avLst/>
          </a:prstGeom>
          <a:solidFill>
            <a:srgbClr val="FFFFFF"/>
          </a:solidFill>
          <a:ln w="12700">
            <a:solidFill>
              <a:srgbClr val="DDDDDD"/>
            </a:solidFill>
            <a:prstDash val="solid"/>
          </a:ln>
        </p:spPr>
      </p:sp>
      <p:sp>
        <p:nvSpPr>
          <p:cNvPr id="40" name="Text 38"/>
          <p:cNvSpPr txBox="1"/>
          <p:nvPr/>
        </p:nvSpPr>
        <p:spPr>
          <a:xfrm>
            <a:off x="9966960" y="4160520"/>
            <a:ext cx="1737360" cy="868680"/>
          </a:xfrm>
          <a:prstGeom prst="rect">
            <a:avLst/>
          </a:prstGeom>
          <a:noFill/>
          <a:ln/>
        </p:spPr>
        <p:txBody>
          <a:bodyPr wrap="square" lIns="0" tIns="0" rIns="0" bIns="0" rtlCol="0" anchor="ctr"/>
          <a:lstStyle/>
          <a:p>
            <a:pPr marL="0" indent="0" algn="ctr">
              <a:buNone/>
            </a:pPr>
            <a:r>
              <a:rPr lang="en-US" sz="2000" dirty="0">
                <a:solidFill>
                  <a:srgbClr val="39C2D7"/>
                </a:solidFill>
                <a:latin typeface="Montserrat" pitchFamily="34" charset="0"/>
                <a:ea typeface="Montserrat" pitchFamily="34" charset="-122"/>
                <a:cs typeface="Montserrat" pitchFamily="34" charset="-120"/>
              </a:rPr>
              <a:t>?</a:t>
            </a:r>
            <a:endParaRPr lang="en-US" sz="2000" dirty="0"/>
          </a:p>
        </p:txBody>
      </p:sp>
      <p:sp>
        <p:nvSpPr>
          <p:cNvPr id="41" name="Text 39"/>
          <p:cNvSpPr txBox="1"/>
          <p:nvPr/>
        </p:nvSpPr>
        <p:spPr>
          <a:xfrm>
            <a:off x="5486400" y="5212080"/>
            <a:ext cx="6217920" cy="457200"/>
          </a:xfrm>
          <a:prstGeom prst="rect">
            <a:avLst/>
          </a:prstGeom>
          <a:noFill/>
          <a:ln/>
        </p:spPr>
        <p:txBody>
          <a:bodyPr wrap="square" lIns="0" tIns="0" rIns="0" bIns="0" rtlCol="0" anchor="ctr"/>
          <a:lstStyle/>
          <a:p>
            <a:pPr marL="0" indent="0">
              <a:buNone/>
            </a:pPr>
            <a:r>
              <a:rPr lang="en-US" sz="1600" i="1" dirty="0">
                <a:solidFill>
                  <a:srgbClr val="464547"/>
                </a:solidFill>
                <a:latin typeface="Calibri" pitchFamily="34" charset="0"/>
                <a:ea typeface="Calibri" pitchFamily="34" charset="-122"/>
                <a:cs typeface="Calibri" pitchFamily="34" charset="-120"/>
              </a:rPr>
              <a:t>Fastest correct pair shouts 'CONVERGED!'</a:t>
            </a:r>
            <a:endParaRPr lang="en-US" sz="1600" dirty="0"/>
          </a:p>
        </p:txBody>
      </p:sp>
      <p:sp>
        <p:nvSpPr>
          <p:cNvPr id="42" name="Text 4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43" name="Text 4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Answer</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~1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Answer: x halves every step -&gt; heading to 0</a:t>
            </a:r>
            <a:endParaRPr lang="en-US" sz="2500" dirty="0"/>
          </a:p>
        </p:txBody>
      </p:sp>
      <p:sp>
        <p:nvSpPr>
          <p:cNvPr id="6" name="Shape 4"/>
          <p:cNvSpPr/>
          <p:nvPr/>
        </p:nvSpPr>
        <p:spPr>
          <a:xfrm>
            <a:off x="1188720" y="1828800"/>
            <a:ext cx="2377440" cy="685800"/>
          </a:xfrm>
          <a:prstGeom prst="rect">
            <a:avLst/>
          </a:prstGeom>
          <a:solidFill>
            <a:srgbClr val="39C2D7"/>
          </a:solidFill>
          <a:ln/>
        </p:spPr>
      </p:sp>
      <p:sp>
        <p:nvSpPr>
          <p:cNvPr id="7" name="Text 5"/>
          <p:cNvSpPr txBox="1"/>
          <p:nvPr/>
        </p:nvSpPr>
        <p:spPr>
          <a:xfrm>
            <a:off x="1188720" y="1828800"/>
            <a:ext cx="23774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pitchFamily="34" charset="0"/>
                <a:ea typeface="Montserrat" pitchFamily="34" charset="-122"/>
                <a:cs typeface="Montserrat" pitchFamily="34" charset="-120"/>
              </a:rPr>
              <a:t>Step</a:t>
            </a:r>
            <a:endParaRPr lang="en-US" sz="1700" dirty="0"/>
          </a:p>
        </p:txBody>
      </p:sp>
      <p:sp>
        <p:nvSpPr>
          <p:cNvPr id="8" name="Shape 6"/>
          <p:cNvSpPr/>
          <p:nvPr/>
        </p:nvSpPr>
        <p:spPr>
          <a:xfrm>
            <a:off x="1188720" y="2514600"/>
            <a:ext cx="2377440" cy="822960"/>
          </a:xfrm>
          <a:prstGeom prst="rect">
            <a:avLst/>
          </a:prstGeom>
          <a:solidFill>
            <a:srgbClr val="FFFFFF"/>
          </a:solidFill>
          <a:ln w="12700">
            <a:solidFill>
              <a:srgbClr val="DDDDDD"/>
            </a:solidFill>
            <a:prstDash val="solid"/>
          </a:ln>
        </p:spPr>
      </p:sp>
      <p:sp>
        <p:nvSpPr>
          <p:cNvPr id="9" name="Text 7"/>
          <p:cNvSpPr txBox="1"/>
          <p:nvPr/>
        </p:nvSpPr>
        <p:spPr>
          <a:xfrm>
            <a:off x="1188720" y="2514600"/>
            <a:ext cx="23774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1</a:t>
            </a:r>
            <a:endParaRPr lang="en-US" sz="2200" dirty="0"/>
          </a:p>
        </p:txBody>
      </p:sp>
      <p:sp>
        <p:nvSpPr>
          <p:cNvPr id="10" name="Shape 8"/>
          <p:cNvSpPr/>
          <p:nvPr/>
        </p:nvSpPr>
        <p:spPr>
          <a:xfrm>
            <a:off x="1188720" y="3337560"/>
            <a:ext cx="2377440" cy="822960"/>
          </a:xfrm>
          <a:prstGeom prst="rect">
            <a:avLst/>
          </a:prstGeom>
          <a:solidFill>
            <a:srgbClr val="F6F6F6"/>
          </a:solidFill>
          <a:ln w="12700">
            <a:solidFill>
              <a:srgbClr val="DDDDDD"/>
            </a:solidFill>
            <a:prstDash val="solid"/>
          </a:ln>
        </p:spPr>
      </p:sp>
      <p:sp>
        <p:nvSpPr>
          <p:cNvPr id="11" name="Text 9"/>
          <p:cNvSpPr txBox="1"/>
          <p:nvPr/>
        </p:nvSpPr>
        <p:spPr>
          <a:xfrm>
            <a:off x="1188720" y="3337560"/>
            <a:ext cx="23774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2</a:t>
            </a:r>
            <a:endParaRPr lang="en-US" sz="2200" dirty="0"/>
          </a:p>
        </p:txBody>
      </p:sp>
      <p:sp>
        <p:nvSpPr>
          <p:cNvPr id="12" name="Shape 10"/>
          <p:cNvSpPr/>
          <p:nvPr/>
        </p:nvSpPr>
        <p:spPr>
          <a:xfrm>
            <a:off x="1188720" y="4160520"/>
            <a:ext cx="2377440" cy="822960"/>
          </a:xfrm>
          <a:prstGeom prst="rect">
            <a:avLst/>
          </a:prstGeom>
          <a:solidFill>
            <a:srgbClr val="FFFFFF"/>
          </a:solidFill>
          <a:ln w="12700">
            <a:solidFill>
              <a:srgbClr val="DDDDDD"/>
            </a:solidFill>
            <a:prstDash val="solid"/>
          </a:ln>
        </p:spPr>
      </p:sp>
      <p:sp>
        <p:nvSpPr>
          <p:cNvPr id="13" name="Text 11"/>
          <p:cNvSpPr txBox="1"/>
          <p:nvPr/>
        </p:nvSpPr>
        <p:spPr>
          <a:xfrm>
            <a:off x="1188720" y="4160520"/>
            <a:ext cx="23774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3</a:t>
            </a:r>
            <a:endParaRPr lang="en-US" sz="2200" dirty="0"/>
          </a:p>
        </p:txBody>
      </p:sp>
      <p:sp>
        <p:nvSpPr>
          <p:cNvPr id="14" name="Shape 12"/>
          <p:cNvSpPr/>
          <p:nvPr/>
        </p:nvSpPr>
        <p:spPr>
          <a:xfrm>
            <a:off x="3566160" y="1828800"/>
            <a:ext cx="2377440" cy="685800"/>
          </a:xfrm>
          <a:prstGeom prst="rect">
            <a:avLst/>
          </a:prstGeom>
          <a:solidFill>
            <a:srgbClr val="39C2D7"/>
          </a:solidFill>
          <a:ln/>
        </p:spPr>
      </p:sp>
      <p:sp>
        <p:nvSpPr>
          <p:cNvPr id="15" name="Text 13"/>
          <p:cNvSpPr txBox="1"/>
          <p:nvPr/>
        </p:nvSpPr>
        <p:spPr>
          <a:xfrm>
            <a:off x="3566160" y="1828800"/>
            <a:ext cx="23774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pitchFamily="34" charset="0"/>
                <a:ea typeface="Montserrat" pitchFamily="34" charset="-122"/>
                <a:cs typeface="Montserrat" pitchFamily="34" charset="-120"/>
              </a:rPr>
              <a:t>x</a:t>
            </a:r>
            <a:endParaRPr lang="en-US" sz="1700" dirty="0"/>
          </a:p>
        </p:txBody>
      </p:sp>
      <p:sp>
        <p:nvSpPr>
          <p:cNvPr id="16" name="Shape 14"/>
          <p:cNvSpPr/>
          <p:nvPr/>
        </p:nvSpPr>
        <p:spPr>
          <a:xfrm>
            <a:off x="3566160" y="2514600"/>
            <a:ext cx="2377440" cy="822960"/>
          </a:xfrm>
          <a:prstGeom prst="rect">
            <a:avLst/>
          </a:prstGeom>
          <a:solidFill>
            <a:srgbClr val="FFFFFF"/>
          </a:solidFill>
          <a:ln w="12700">
            <a:solidFill>
              <a:srgbClr val="DDDDDD"/>
            </a:solidFill>
            <a:prstDash val="solid"/>
          </a:ln>
        </p:spPr>
      </p:sp>
      <p:sp>
        <p:nvSpPr>
          <p:cNvPr id="17" name="Text 15"/>
          <p:cNvSpPr txBox="1"/>
          <p:nvPr/>
        </p:nvSpPr>
        <p:spPr>
          <a:xfrm>
            <a:off x="3566160" y="2514600"/>
            <a:ext cx="23774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3</a:t>
            </a:r>
            <a:endParaRPr lang="en-US" sz="2200" dirty="0"/>
          </a:p>
        </p:txBody>
      </p:sp>
      <p:sp>
        <p:nvSpPr>
          <p:cNvPr id="18" name="Shape 16"/>
          <p:cNvSpPr/>
          <p:nvPr/>
        </p:nvSpPr>
        <p:spPr>
          <a:xfrm>
            <a:off x="3566160" y="3337560"/>
            <a:ext cx="2377440" cy="822960"/>
          </a:xfrm>
          <a:prstGeom prst="rect">
            <a:avLst/>
          </a:prstGeom>
          <a:solidFill>
            <a:srgbClr val="F6F6F6"/>
          </a:solidFill>
          <a:ln w="12700">
            <a:solidFill>
              <a:srgbClr val="DDDDDD"/>
            </a:solidFill>
            <a:prstDash val="solid"/>
          </a:ln>
        </p:spPr>
      </p:sp>
      <p:sp>
        <p:nvSpPr>
          <p:cNvPr id="19" name="Text 17"/>
          <p:cNvSpPr txBox="1"/>
          <p:nvPr/>
        </p:nvSpPr>
        <p:spPr>
          <a:xfrm>
            <a:off x="3566160" y="3337560"/>
            <a:ext cx="23774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1.5</a:t>
            </a:r>
            <a:endParaRPr lang="en-US" sz="2200" dirty="0"/>
          </a:p>
        </p:txBody>
      </p:sp>
      <p:sp>
        <p:nvSpPr>
          <p:cNvPr id="20" name="Shape 18"/>
          <p:cNvSpPr/>
          <p:nvPr/>
        </p:nvSpPr>
        <p:spPr>
          <a:xfrm>
            <a:off x="3566160" y="4160520"/>
            <a:ext cx="2377440" cy="822960"/>
          </a:xfrm>
          <a:prstGeom prst="rect">
            <a:avLst/>
          </a:prstGeom>
          <a:solidFill>
            <a:srgbClr val="FFFFFF"/>
          </a:solidFill>
          <a:ln w="12700">
            <a:solidFill>
              <a:srgbClr val="DDDDDD"/>
            </a:solidFill>
            <a:prstDash val="solid"/>
          </a:ln>
        </p:spPr>
      </p:sp>
      <p:sp>
        <p:nvSpPr>
          <p:cNvPr id="21" name="Text 19"/>
          <p:cNvSpPr txBox="1"/>
          <p:nvPr/>
        </p:nvSpPr>
        <p:spPr>
          <a:xfrm>
            <a:off x="3566160" y="4160520"/>
            <a:ext cx="23774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0.75</a:t>
            </a:r>
            <a:endParaRPr lang="en-US" sz="2200" dirty="0"/>
          </a:p>
        </p:txBody>
      </p:sp>
      <p:sp>
        <p:nvSpPr>
          <p:cNvPr id="22" name="Shape 20"/>
          <p:cNvSpPr/>
          <p:nvPr/>
        </p:nvSpPr>
        <p:spPr>
          <a:xfrm>
            <a:off x="5943600" y="1828800"/>
            <a:ext cx="2834640" cy="685800"/>
          </a:xfrm>
          <a:prstGeom prst="rect">
            <a:avLst/>
          </a:prstGeom>
          <a:solidFill>
            <a:srgbClr val="39C2D7"/>
          </a:solidFill>
          <a:ln/>
        </p:spPr>
      </p:sp>
      <p:sp>
        <p:nvSpPr>
          <p:cNvPr id="23" name="Text 21"/>
          <p:cNvSpPr txBox="1"/>
          <p:nvPr/>
        </p:nvSpPr>
        <p:spPr>
          <a:xfrm>
            <a:off x="5943600" y="1828800"/>
            <a:ext cx="28346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pitchFamily="34" charset="0"/>
                <a:ea typeface="Montserrat" pitchFamily="34" charset="-122"/>
                <a:cs typeface="Montserrat" pitchFamily="34" charset="-120"/>
              </a:rPr>
              <a:t>gradient 2x</a:t>
            </a:r>
            <a:endParaRPr lang="en-US" sz="1700" dirty="0"/>
          </a:p>
        </p:txBody>
      </p:sp>
      <p:sp>
        <p:nvSpPr>
          <p:cNvPr id="24" name="Shape 22"/>
          <p:cNvSpPr/>
          <p:nvPr/>
        </p:nvSpPr>
        <p:spPr>
          <a:xfrm>
            <a:off x="5943600" y="2514600"/>
            <a:ext cx="2834640" cy="822960"/>
          </a:xfrm>
          <a:prstGeom prst="rect">
            <a:avLst/>
          </a:prstGeom>
          <a:solidFill>
            <a:srgbClr val="FFFFFF"/>
          </a:solidFill>
          <a:ln w="12700">
            <a:solidFill>
              <a:srgbClr val="DDDDDD"/>
            </a:solidFill>
            <a:prstDash val="solid"/>
          </a:ln>
        </p:spPr>
      </p:sp>
      <p:sp>
        <p:nvSpPr>
          <p:cNvPr id="25" name="Text 23"/>
          <p:cNvSpPr txBox="1"/>
          <p:nvPr/>
        </p:nvSpPr>
        <p:spPr>
          <a:xfrm>
            <a:off x="5943600" y="2514600"/>
            <a:ext cx="28346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6</a:t>
            </a:r>
            <a:endParaRPr lang="en-US" sz="2200" dirty="0"/>
          </a:p>
        </p:txBody>
      </p:sp>
      <p:sp>
        <p:nvSpPr>
          <p:cNvPr id="26" name="Shape 24"/>
          <p:cNvSpPr/>
          <p:nvPr/>
        </p:nvSpPr>
        <p:spPr>
          <a:xfrm>
            <a:off x="5943600" y="3337560"/>
            <a:ext cx="2834640" cy="822960"/>
          </a:xfrm>
          <a:prstGeom prst="rect">
            <a:avLst/>
          </a:prstGeom>
          <a:solidFill>
            <a:srgbClr val="F6F6F6"/>
          </a:solidFill>
          <a:ln w="12700">
            <a:solidFill>
              <a:srgbClr val="DDDDDD"/>
            </a:solidFill>
            <a:prstDash val="solid"/>
          </a:ln>
        </p:spPr>
      </p:sp>
      <p:sp>
        <p:nvSpPr>
          <p:cNvPr id="27" name="Text 25"/>
          <p:cNvSpPr txBox="1"/>
          <p:nvPr/>
        </p:nvSpPr>
        <p:spPr>
          <a:xfrm>
            <a:off x="5943600" y="3337560"/>
            <a:ext cx="28346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3</a:t>
            </a:r>
            <a:endParaRPr lang="en-US" sz="2200" dirty="0"/>
          </a:p>
        </p:txBody>
      </p:sp>
      <p:sp>
        <p:nvSpPr>
          <p:cNvPr id="28" name="Shape 26"/>
          <p:cNvSpPr/>
          <p:nvPr/>
        </p:nvSpPr>
        <p:spPr>
          <a:xfrm>
            <a:off x="5943600" y="4160520"/>
            <a:ext cx="2834640" cy="822960"/>
          </a:xfrm>
          <a:prstGeom prst="rect">
            <a:avLst/>
          </a:prstGeom>
          <a:solidFill>
            <a:srgbClr val="FFFFFF"/>
          </a:solidFill>
          <a:ln w="12700">
            <a:solidFill>
              <a:srgbClr val="DDDDDD"/>
            </a:solidFill>
            <a:prstDash val="solid"/>
          </a:ln>
        </p:spPr>
      </p:sp>
      <p:sp>
        <p:nvSpPr>
          <p:cNvPr id="29" name="Text 27"/>
          <p:cNvSpPr txBox="1"/>
          <p:nvPr/>
        </p:nvSpPr>
        <p:spPr>
          <a:xfrm>
            <a:off x="5943600" y="4160520"/>
            <a:ext cx="2834640" cy="822960"/>
          </a:xfrm>
          <a:prstGeom prst="rect">
            <a:avLst/>
          </a:prstGeom>
          <a:noFill/>
          <a:ln/>
        </p:spPr>
        <p:txBody>
          <a:bodyPr wrap="square" lIns="0" tIns="0" rIns="0" bIns="0" rtlCol="0" anchor="ctr"/>
          <a:lstStyle/>
          <a:p>
            <a:pPr marL="0" indent="0" algn="ctr">
              <a:buNone/>
            </a:pPr>
            <a:r>
              <a:rPr lang="en-US" sz="2200" dirty="0">
                <a:solidFill>
                  <a:srgbClr val="222222"/>
                </a:solidFill>
                <a:latin typeface="Montserrat" pitchFamily="34" charset="0"/>
                <a:ea typeface="Montserrat" pitchFamily="34" charset="-122"/>
                <a:cs typeface="Montserrat" pitchFamily="34" charset="-120"/>
              </a:rPr>
              <a:t>1.5</a:t>
            </a:r>
            <a:endParaRPr lang="en-US" sz="2200" dirty="0"/>
          </a:p>
        </p:txBody>
      </p:sp>
      <p:sp>
        <p:nvSpPr>
          <p:cNvPr id="30" name="Shape 28"/>
          <p:cNvSpPr/>
          <p:nvPr/>
        </p:nvSpPr>
        <p:spPr>
          <a:xfrm>
            <a:off x="8778240" y="1828800"/>
            <a:ext cx="2377440" cy="685800"/>
          </a:xfrm>
          <a:prstGeom prst="rect">
            <a:avLst/>
          </a:prstGeom>
          <a:solidFill>
            <a:srgbClr val="39C2D7"/>
          </a:solidFill>
          <a:ln/>
        </p:spPr>
      </p:sp>
      <p:sp>
        <p:nvSpPr>
          <p:cNvPr id="31" name="Text 29"/>
          <p:cNvSpPr txBox="1"/>
          <p:nvPr/>
        </p:nvSpPr>
        <p:spPr>
          <a:xfrm>
            <a:off x="8778240" y="1828800"/>
            <a:ext cx="23774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pitchFamily="34" charset="0"/>
                <a:ea typeface="Montserrat" pitchFamily="34" charset="-122"/>
                <a:cs typeface="Montserrat" pitchFamily="34" charset="-120"/>
              </a:rPr>
              <a:t>x_new</a:t>
            </a:r>
            <a:endParaRPr lang="en-US" sz="1700" dirty="0"/>
          </a:p>
        </p:txBody>
      </p:sp>
      <p:sp>
        <p:nvSpPr>
          <p:cNvPr id="32" name="Shape 30"/>
          <p:cNvSpPr/>
          <p:nvPr/>
        </p:nvSpPr>
        <p:spPr>
          <a:xfrm>
            <a:off x="8778240" y="2514600"/>
            <a:ext cx="2377440" cy="822960"/>
          </a:xfrm>
          <a:prstGeom prst="rect">
            <a:avLst/>
          </a:prstGeom>
          <a:solidFill>
            <a:srgbClr val="FFFFFF"/>
          </a:solidFill>
          <a:ln w="12700">
            <a:solidFill>
              <a:srgbClr val="DDDDDD"/>
            </a:solidFill>
            <a:prstDash val="solid"/>
          </a:ln>
        </p:spPr>
      </p:sp>
      <p:sp>
        <p:nvSpPr>
          <p:cNvPr id="33" name="Text 31"/>
          <p:cNvSpPr txBox="1"/>
          <p:nvPr/>
        </p:nvSpPr>
        <p:spPr>
          <a:xfrm>
            <a:off x="8778240" y="2514600"/>
            <a:ext cx="2377440" cy="822960"/>
          </a:xfrm>
          <a:prstGeom prst="rect">
            <a:avLst/>
          </a:prstGeom>
          <a:noFill/>
          <a:ln/>
        </p:spPr>
        <p:txBody>
          <a:bodyPr wrap="square" lIns="0" tIns="0" rIns="0" bIns="0" rtlCol="0" anchor="ctr"/>
          <a:lstStyle/>
          <a:p>
            <a:pPr marL="0" indent="0" algn="ctr">
              <a:buNone/>
            </a:pPr>
            <a:r>
              <a:rPr lang="en-US" sz="2200" b="1" dirty="0">
                <a:solidFill>
                  <a:srgbClr val="39C2D7"/>
                </a:solidFill>
                <a:latin typeface="Montserrat" pitchFamily="34" charset="0"/>
                <a:ea typeface="Montserrat" pitchFamily="34" charset="-122"/>
                <a:cs typeface="Montserrat" pitchFamily="34" charset="-120"/>
              </a:rPr>
              <a:t>1.5</a:t>
            </a:r>
            <a:endParaRPr lang="en-US" sz="2200" dirty="0"/>
          </a:p>
        </p:txBody>
      </p:sp>
      <p:sp>
        <p:nvSpPr>
          <p:cNvPr id="34" name="Shape 32"/>
          <p:cNvSpPr/>
          <p:nvPr/>
        </p:nvSpPr>
        <p:spPr>
          <a:xfrm>
            <a:off x="8778240" y="3337560"/>
            <a:ext cx="2377440" cy="822960"/>
          </a:xfrm>
          <a:prstGeom prst="rect">
            <a:avLst/>
          </a:prstGeom>
          <a:solidFill>
            <a:srgbClr val="F6F6F6"/>
          </a:solidFill>
          <a:ln w="12700">
            <a:solidFill>
              <a:srgbClr val="DDDDDD"/>
            </a:solidFill>
            <a:prstDash val="solid"/>
          </a:ln>
        </p:spPr>
      </p:sp>
      <p:sp>
        <p:nvSpPr>
          <p:cNvPr id="35" name="Text 33"/>
          <p:cNvSpPr txBox="1"/>
          <p:nvPr/>
        </p:nvSpPr>
        <p:spPr>
          <a:xfrm>
            <a:off x="8778240" y="3337560"/>
            <a:ext cx="2377440" cy="822960"/>
          </a:xfrm>
          <a:prstGeom prst="rect">
            <a:avLst/>
          </a:prstGeom>
          <a:noFill/>
          <a:ln/>
        </p:spPr>
        <p:txBody>
          <a:bodyPr wrap="square" lIns="0" tIns="0" rIns="0" bIns="0" rtlCol="0" anchor="ctr"/>
          <a:lstStyle/>
          <a:p>
            <a:pPr marL="0" indent="0" algn="ctr">
              <a:buNone/>
            </a:pPr>
            <a:r>
              <a:rPr lang="en-US" sz="2200" b="1" dirty="0">
                <a:solidFill>
                  <a:srgbClr val="39C2D7"/>
                </a:solidFill>
                <a:latin typeface="Montserrat" pitchFamily="34" charset="0"/>
                <a:ea typeface="Montserrat" pitchFamily="34" charset="-122"/>
                <a:cs typeface="Montserrat" pitchFamily="34" charset="-120"/>
              </a:rPr>
              <a:t>0.75</a:t>
            </a:r>
            <a:endParaRPr lang="en-US" sz="2200" dirty="0"/>
          </a:p>
        </p:txBody>
      </p:sp>
      <p:sp>
        <p:nvSpPr>
          <p:cNvPr id="36" name="Shape 34"/>
          <p:cNvSpPr/>
          <p:nvPr/>
        </p:nvSpPr>
        <p:spPr>
          <a:xfrm>
            <a:off x="8778240" y="4160520"/>
            <a:ext cx="2377440" cy="822960"/>
          </a:xfrm>
          <a:prstGeom prst="rect">
            <a:avLst/>
          </a:prstGeom>
          <a:solidFill>
            <a:srgbClr val="FFFFFF"/>
          </a:solidFill>
          <a:ln w="12700">
            <a:solidFill>
              <a:srgbClr val="DDDDDD"/>
            </a:solidFill>
            <a:prstDash val="solid"/>
          </a:ln>
        </p:spPr>
      </p:sp>
      <p:sp>
        <p:nvSpPr>
          <p:cNvPr id="37" name="Text 35"/>
          <p:cNvSpPr txBox="1"/>
          <p:nvPr/>
        </p:nvSpPr>
        <p:spPr>
          <a:xfrm>
            <a:off x="8778240" y="4160520"/>
            <a:ext cx="2377440" cy="822960"/>
          </a:xfrm>
          <a:prstGeom prst="rect">
            <a:avLst/>
          </a:prstGeom>
          <a:noFill/>
          <a:ln/>
        </p:spPr>
        <p:txBody>
          <a:bodyPr wrap="square" lIns="0" tIns="0" rIns="0" bIns="0" rtlCol="0" anchor="ctr"/>
          <a:lstStyle/>
          <a:p>
            <a:pPr marL="0" indent="0" algn="ctr">
              <a:buNone/>
            </a:pPr>
            <a:r>
              <a:rPr lang="en-US" sz="2200" b="1" dirty="0">
                <a:solidFill>
                  <a:srgbClr val="39C2D7"/>
                </a:solidFill>
                <a:latin typeface="Montserrat" pitchFamily="34" charset="0"/>
                <a:ea typeface="Montserrat" pitchFamily="34" charset="-122"/>
                <a:cs typeface="Montserrat" pitchFamily="34" charset="-120"/>
              </a:rPr>
              <a:t>0.375</a:t>
            </a:r>
            <a:endParaRPr lang="en-US" sz="2200" dirty="0"/>
          </a:p>
        </p:txBody>
      </p:sp>
      <p:sp>
        <p:nvSpPr>
          <p:cNvPr id="38" name="Shape 36"/>
          <p:cNvSpPr/>
          <p:nvPr/>
        </p:nvSpPr>
        <p:spPr>
          <a:xfrm>
            <a:off x="1188720" y="5166360"/>
            <a:ext cx="9966960" cy="868680"/>
          </a:xfrm>
          <a:prstGeom prst="rect">
            <a:avLst/>
          </a:prstGeom>
          <a:solidFill>
            <a:srgbClr val="F6F6F6"/>
          </a:solidFill>
          <a:ln/>
        </p:spPr>
      </p:sp>
      <p:sp>
        <p:nvSpPr>
          <p:cNvPr id="39" name="Text 37"/>
          <p:cNvSpPr txBox="1"/>
          <p:nvPr/>
        </p:nvSpPr>
        <p:spPr>
          <a:xfrm>
            <a:off x="1371600" y="5166360"/>
            <a:ext cx="9601200" cy="868680"/>
          </a:xfrm>
          <a:prstGeom prst="rect">
            <a:avLst/>
          </a:prstGeom>
          <a:noFill/>
          <a:ln/>
        </p:spPr>
        <p:txBody>
          <a:bodyPr wrap="square" lIns="0" tIns="0" rIns="0" bIns="0" rtlCol="0" anchor="ctr"/>
          <a:lstStyle/>
          <a:p>
            <a:pPr marL="0" indent="0" algn="ctr">
              <a:buNone/>
            </a:pPr>
            <a:r>
              <a:rPr lang="en-US" sz="1800" b="1" dirty="0">
                <a:solidFill>
                  <a:srgbClr val="222222"/>
                </a:solidFill>
                <a:latin typeface="Calibri" pitchFamily="34" charset="0"/>
                <a:ea typeface="Calibri" pitchFamily="34" charset="-122"/>
                <a:cs typeface="Calibri" pitchFamily="34" charset="-120"/>
              </a:rPr>
              <a:t>3  -&gt;  1.5  -&gt;  0.75  -&gt;  0.375  -&gt;  ...  -&gt;  0   = the minimum of x².  You just trained a model!</a:t>
            </a:r>
            <a:endParaRPr lang="en-US" sz="1800" dirty="0"/>
          </a:p>
        </p:txBody>
      </p:sp>
      <p:sp>
        <p:nvSpPr>
          <p:cNvPr id="40" name="Text 3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41" name="Text 3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633472" cy="502920"/>
          </a:xfrm>
          <a:prstGeom prst="rect">
            <a:avLst/>
          </a:prstGeom>
          <a:solidFill>
            <a:srgbClr val="39C2D7"/>
          </a:solidFill>
          <a:ln/>
        </p:spPr>
      </p:sp>
      <p:sp>
        <p:nvSpPr>
          <p:cNvPr id="3" name="Text 1"/>
          <p:cNvSpPr txBox="1"/>
          <p:nvPr/>
        </p:nvSpPr>
        <p:spPr>
          <a:xfrm>
            <a:off x="457200" y="411480"/>
            <a:ext cx="263347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Learning rate</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The learning rate: not too small, not too big</a:t>
            </a:r>
            <a:endParaRPr lang="en-US" sz="2500" dirty="0"/>
          </a:p>
        </p:txBody>
      </p:sp>
      <p:pic>
        <p:nvPicPr>
          <p:cNvPr id="6" name="Image 0" descr="/home/claude/d78/learning_rate.png"/>
          <p:cNvPicPr>
            <a:picLocks noChangeAspect="1"/>
          </p:cNvPicPr>
          <p:nvPr/>
        </p:nvPicPr>
        <p:blipFill>
          <a:blip r:embed="rId3"/>
          <a:stretch>
            <a:fillRect/>
          </a:stretch>
        </p:blipFill>
        <p:spPr>
          <a:xfrm>
            <a:off x="744086" y="1691640"/>
            <a:ext cx="10673348"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Too small: correct but painfully slow     |     Just right: fast and stable     |     Too big: jumps over the valley, can explode</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choosing the learning rate is one of the most important tuning decisions.</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4389120" cy="502920"/>
          </a:xfrm>
          <a:prstGeom prst="rect">
            <a:avLst/>
          </a:prstGeom>
          <a:solidFill>
            <a:srgbClr val="FFFFFF"/>
          </a:solidFill>
          <a:ln/>
        </p:spPr>
      </p:sp>
      <p:sp>
        <p:nvSpPr>
          <p:cNvPr id="3" name="Text 1"/>
          <p:cNvSpPr txBox="1"/>
          <p:nvPr/>
        </p:nvSpPr>
        <p:spPr>
          <a:xfrm>
            <a:off x="457200" y="411480"/>
            <a:ext cx="4389120"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Multiple choice</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FFFFFF"/>
                </a:solidFill>
                <a:latin typeface="Calibri" pitchFamily="34" charset="0"/>
                <a:ea typeface="Calibri" pitchFamily="34" charset="-122"/>
                <a:cs typeface="Calibri" pitchFamily="34" charset="-120"/>
              </a:rPr>
              <a:t>~2 min</a:t>
            </a:r>
            <a:endParaRPr lang="en-US" sz="1300" dirty="0"/>
          </a:p>
        </p:txBody>
      </p:sp>
      <p:sp>
        <p:nvSpPr>
          <p:cNvPr id="5" name="Shape 3"/>
          <p:cNvSpPr/>
          <p:nvPr/>
        </p:nvSpPr>
        <p:spPr>
          <a:xfrm>
            <a:off x="7818120" y="1051560"/>
            <a:ext cx="3931920" cy="502920"/>
          </a:xfrm>
          <a:prstGeom prst="rect">
            <a:avLst/>
          </a:prstGeom>
          <a:solidFill>
            <a:srgbClr val="FFFFFF"/>
          </a:solidFill>
          <a:ln/>
        </p:spPr>
      </p:sp>
      <p:sp>
        <p:nvSpPr>
          <p:cNvPr id="6" name="Text 4"/>
          <p:cNvSpPr txBox="1"/>
          <p:nvPr/>
        </p:nvSpPr>
        <p:spPr>
          <a:xfrm>
            <a:off x="7818120" y="1051560"/>
            <a:ext cx="3931920" cy="502920"/>
          </a:xfrm>
          <a:prstGeom prst="rect">
            <a:avLst/>
          </a:prstGeom>
          <a:noFill/>
          <a:ln/>
        </p:spPr>
        <p:txBody>
          <a:bodyPr wrap="square" lIns="0" tIns="0" rIns="0" bIns="0" rtlCol="0" anchor="ctr"/>
          <a:lstStyle/>
          <a:p>
            <a:pPr marL="0" indent="0" algn="ctr">
              <a:buNone/>
            </a:pPr>
            <a:r>
              <a:rPr lang="en-US" sz="1300" b="1" dirty="0">
                <a:solidFill>
                  <a:srgbClr val="39C2D7"/>
                </a:solidFill>
                <a:latin typeface="Montserrat" pitchFamily="34" charset="0"/>
                <a:ea typeface="Montserrat" pitchFamily="34" charset="-122"/>
                <a:cs typeface="Montserrat" pitchFamily="34" charset="-120"/>
              </a:rPr>
              <a:t>menti.com   code:  ____ ____</a:t>
            </a:r>
            <a:endParaRPr lang="en-US" sz="1300" dirty="0"/>
          </a:p>
        </p:txBody>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700" b="1" dirty="0">
                <a:solidFill>
                  <a:srgbClr val="FFFFFF"/>
                </a:solidFill>
                <a:latin typeface="Montserrat" pitchFamily="34" charset="0"/>
                <a:ea typeface="Montserrat" pitchFamily="34" charset="-122"/>
                <a:cs typeface="Montserrat" pitchFamily="34" charset="-120"/>
              </a:rPr>
              <a:t>You set the learning rate to 5.0 on f(x) = x². What happens?</a:t>
            </a:r>
            <a:endParaRPr lang="en-US" sz="2700" dirty="0"/>
          </a:p>
        </p:txBody>
      </p:sp>
      <p:sp>
        <p:nvSpPr>
          <p:cNvPr id="8" name="Shape 6"/>
          <p:cNvSpPr/>
          <p:nvPr/>
        </p:nvSpPr>
        <p:spPr>
          <a:xfrm>
            <a:off x="822960" y="3108960"/>
            <a:ext cx="10515600" cy="621792"/>
          </a:xfrm>
          <a:prstGeom prst="rect">
            <a:avLst/>
          </a:prstGeom>
          <a:solidFill>
            <a:srgbClr val="FFFFFF"/>
          </a:solidFill>
          <a:ln/>
        </p:spPr>
      </p:sp>
      <p:sp>
        <p:nvSpPr>
          <p:cNvPr id="9" name="Text 7"/>
          <p:cNvSpPr txBox="1"/>
          <p:nvPr/>
        </p:nvSpPr>
        <p:spPr>
          <a:xfrm>
            <a:off x="1097280" y="3108960"/>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A)  Very slow but correct</a:t>
            </a:r>
            <a:endParaRPr lang="en-US" sz="1900" dirty="0"/>
          </a:p>
        </p:txBody>
      </p:sp>
      <p:sp>
        <p:nvSpPr>
          <p:cNvPr id="10" name="Shape 8"/>
          <p:cNvSpPr/>
          <p:nvPr/>
        </p:nvSpPr>
        <p:spPr>
          <a:xfrm>
            <a:off x="822960" y="3858768"/>
            <a:ext cx="10515600" cy="621792"/>
          </a:xfrm>
          <a:prstGeom prst="rect">
            <a:avLst/>
          </a:prstGeom>
          <a:solidFill>
            <a:srgbClr val="FFFFFF"/>
          </a:solidFill>
          <a:ln/>
        </p:spPr>
      </p:sp>
      <p:sp>
        <p:nvSpPr>
          <p:cNvPr id="11" name="Text 9"/>
          <p:cNvSpPr txBox="1"/>
          <p:nvPr/>
        </p:nvSpPr>
        <p:spPr>
          <a:xfrm>
            <a:off x="1097280" y="3858768"/>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B)  Perfect - converges fast</a:t>
            </a:r>
            <a:endParaRPr lang="en-US" sz="1900" dirty="0"/>
          </a:p>
        </p:txBody>
      </p:sp>
      <p:sp>
        <p:nvSpPr>
          <p:cNvPr id="12" name="Shape 10"/>
          <p:cNvSpPr/>
          <p:nvPr/>
        </p:nvSpPr>
        <p:spPr>
          <a:xfrm>
            <a:off x="822960" y="4608576"/>
            <a:ext cx="10515600" cy="621792"/>
          </a:xfrm>
          <a:prstGeom prst="rect">
            <a:avLst/>
          </a:prstGeom>
          <a:solidFill>
            <a:srgbClr val="FFFFFF"/>
          </a:solidFill>
          <a:ln/>
        </p:spPr>
      </p:sp>
      <p:sp>
        <p:nvSpPr>
          <p:cNvPr id="13" name="Text 11"/>
          <p:cNvSpPr txBox="1"/>
          <p:nvPr/>
        </p:nvSpPr>
        <p:spPr>
          <a:xfrm>
            <a:off x="1097280" y="4608576"/>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C)  Overshoots and the loss explodes</a:t>
            </a:r>
            <a:endParaRPr lang="en-US" sz="1900" dirty="0"/>
          </a:p>
        </p:txBody>
      </p:sp>
      <p:sp>
        <p:nvSpPr>
          <p:cNvPr id="14" name="Shape 12"/>
          <p:cNvSpPr/>
          <p:nvPr/>
        </p:nvSpPr>
        <p:spPr>
          <a:xfrm>
            <a:off x="822960" y="5358384"/>
            <a:ext cx="10515600" cy="621792"/>
          </a:xfrm>
          <a:prstGeom prst="rect">
            <a:avLst/>
          </a:prstGeom>
          <a:solidFill>
            <a:srgbClr val="FFFFFF"/>
          </a:solidFill>
          <a:ln/>
        </p:spPr>
      </p:sp>
      <p:sp>
        <p:nvSpPr>
          <p:cNvPr id="15" name="Text 13"/>
          <p:cNvSpPr txBox="1"/>
          <p:nvPr/>
        </p:nvSpPr>
        <p:spPr>
          <a:xfrm>
            <a:off x="1097280" y="5358384"/>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D)  Nothing changes</a:t>
            </a:r>
            <a:endParaRPr lang="en-US" sz="1900" dirty="0"/>
          </a:p>
        </p:txBody>
      </p:sp>
      <p:sp>
        <p:nvSpPr>
          <p:cNvPr id="16" name="Text 14"/>
          <p:cNvSpPr txBox="1"/>
          <p:nvPr/>
        </p:nvSpPr>
        <p:spPr>
          <a:xfrm>
            <a:off x="640080" y="6153912"/>
            <a:ext cx="100584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Vote on your phone now  -  45 seconds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The trap</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Local minima: stuck in a small valley</a:t>
            </a:r>
            <a:endParaRPr lang="en-US" sz="2500" dirty="0"/>
          </a:p>
        </p:txBody>
      </p:sp>
      <p:pic>
        <p:nvPicPr>
          <p:cNvPr id="6" name="Image 0" descr="/home/claude/d78/local_minima.png"/>
          <p:cNvPicPr>
            <a:picLocks noChangeAspect="1"/>
          </p:cNvPicPr>
          <p:nvPr/>
        </p:nvPicPr>
        <p:blipFill>
          <a:blip r:embed="rId3"/>
          <a:stretch>
            <a:fillRect/>
          </a:stretch>
        </p:blipFill>
        <p:spPr>
          <a:xfrm>
            <a:off x="411480" y="2193445"/>
            <a:ext cx="7315200" cy="3568390"/>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Gradient descent only feels the slope where it stands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 small dip also has slope 0 -&gt; it stops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But a deeper valley may exist elsewhere</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real loss surfaces have many dips - we need smarter versions of gradient descent.</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The fixes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Batch vs SGD vs mini-batch</a:t>
            </a:r>
            <a:endParaRPr lang="en-US" sz="2500" dirty="0"/>
          </a:p>
        </p:txBody>
      </p:sp>
      <p:pic>
        <p:nvPicPr>
          <p:cNvPr id="6" name="Image 0" descr="/home/claude/d78/batch_types.png"/>
          <p:cNvPicPr>
            <a:picLocks noChangeAspect="1"/>
          </p:cNvPicPr>
          <p:nvPr/>
        </p:nvPicPr>
        <p:blipFill>
          <a:blip r:embed="rId3"/>
          <a:stretch>
            <a:fillRect/>
          </a:stretch>
        </p:blipFill>
        <p:spPr>
          <a:xfrm>
            <a:off x="1489563" y="1691640"/>
            <a:ext cx="9182395"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Full batch: all data per step - smooth but slow     |     SGD: 1 sample per step - fast, noisy, noise helps escape traps     |     Mini-batch: ~32 samples - the sweet spot     |     Upgrades: Momentum, Adam</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deep learning is trained with mini-batch gradient descent (usually with Adam).</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3657600" cy="502920"/>
          </a:xfrm>
          <a:prstGeom prst="rect">
            <a:avLst/>
          </a:prstGeom>
          <a:solidFill>
            <a:srgbClr val="FFFFFF"/>
          </a:solidFill>
          <a:ln/>
        </p:spPr>
      </p:sp>
      <p:sp>
        <p:nvSpPr>
          <p:cNvPr id="3" name="Text 1"/>
          <p:cNvSpPr txBox="1"/>
          <p:nvPr/>
        </p:nvSpPr>
        <p:spPr>
          <a:xfrm>
            <a:off x="457200" y="411480"/>
            <a:ext cx="3657600"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Open ended</a:t>
            </a:r>
            <a:endParaRPr lang="en-US" sz="1400" dirty="0"/>
          </a:p>
        </p:txBody>
      </p:sp>
      <p:sp>
        <p:nvSpPr>
          <p:cNvPr id="5" name="Shape 3"/>
          <p:cNvSpPr/>
          <p:nvPr/>
        </p:nvSpPr>
        <p:spPr>
          <a:xfrm>
            <a:off x="7818120" y="1051560"/>
            <a:ext cx="3931920" cy="502920"/>
          </a:xfrm>
          <a:prstGeom prst="rect">
            <a:avLst/>
          </a:prstGeom>
          <a:solidFill>
            <a:srgbClr val="FFFFFF"/>
          </a:solidFill>
          <a:ln/>
        </p:spPr>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700" b="1" dirty="0">
                <a:solidFill>
                  <a:srgbClr val="FFFFFF"/>
                </a:solidFill>
                <a:latin typeface="Montserrat" pitchFamily="34" charset="0"/>
                <a:ea typeface="Montserrat" pitchFamily="34" charset="-122"/>
                <a:cs typeface="Montserrat" pitchFamily="34" charset="-120"/>
              </a:rPr>
              <a:t>Name an ML algorithm you know that is trained with gradient descent</a:t>
            </a:r>
            <a:endParaRPr lang="en-US" sz="2700" dirty="0"/>
          </a:p>
        </p:txBody>
      </p:sp>
      <p:sp>
        <p:nvSpPr>
          <p:cNvPr id="8" name="Shape 6"/>
          <p:cNvSpPr/>
          <p:nvPr/>
        </p:nvSpPr>
        <p:spPr>
          <a:xfrm>
            <a:off x="822960" y="3108960"/>
            <a:ext cx="10515600" cy="2651760"/>
          </a:xfrm>
          <a:prstGeom prst="rect">
            <a:avLst/>
          </a:prstGeom>
          <a:solidFill>
            <a:srgbClr val="FFFFFF">
              <a:alpha val="20000"/>
            </a:srgbClr>
          </a:solidFill>
          <a:ln w="25400">
            <a:solidFill>
              <a:srgbClr val="FFFFFF"/>
            </a:solidFill>
            <a:prstDash val="dash"/>
          </a:ln>
        </p:spPr>
      </p:sp>
      <p:sp>
        <p:nvSpPr>
          <p:cNvPr id="9" name="Text 7"/>
          <p:cNvSpPr txBox="1"/>
          <p:nvPr/>
        </p:nvSpPr>
        <p:spPr>
          <a:xfrm>
            <a:off x="822960" y="3108960"/>
            <a:ext cx="10515600" cy="265176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Live answers appear here on Menti</a:t>
            </a:r>
            <a:endParaRPr lang="en-US" sz="2200" dirty="0"/>
          </a:p>
        </p:txBody>
      </p:sp>
      <p:sp>
        <p:nvSpPr>
          <p:cNvPr id="10" name="Text 8"/>
          <p:cNvSpPr txBox="1"/>
          <p:nvPr/>
        </p:nvSpPr>
        <p:spPr>
          <a:xfrm>
            <a:off x="640080" y="5897880"/>
            <a:ext cx="100584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Type your answer on menti.com</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487168" cy="502920"/>
          </a:xfrm>
          <a:prstGeom prst="rect">
            <a:avLst/>
          </a:prstGeom>
          <a:solidFill>
            <a:srgbClr val="39C2D7"/>
          </a:solidFill>
          <a:ln/>
        </p:spPr>
      </p:sp>
      <p:sp>
        <p:nvSpPr>
          <p:cNvPr id="3" name="Text 1"/>
          <p:cNvSpPr txBox="1"/>
          <p:nvPr/>
        </p:nvSpPr>
        <p:spPr>
          <a:xfrm>
            <a:off x="457200" y="411480"/>
            <a:ext cx="2487168"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Part 1 recap</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~2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Calculus in 5 lines</a:t>
            </a:r>
            <a:endParaRPr lang="en-US" sz="2500" dirty="0"/>
          </a:p>
        </p:txBody>
      </p:sp>
      <p:sp>
        <p:nvSpPr>
          <p:cNvPr id="6" name="Shape 4"/>
          <p:cNvSpPr/>
          <p:nvPr/>
        </p:nvSpPr>
        <p:spPr>
          <a:xfrm>
            <a:off x="457200" y="1828800"/>
            <a:ext cx="11247120" cy="731520"/>
          </a:xfrm>
          <a:prstGeom prst="rect">
            <a:avLst/>
          </a:prstGeom>
          <a:solidFill>
            <a:srgbClr val="F6F6F6"/>
          </a:solidFill>
          <a:ln/>
        </p:spPr>
      </p:sp>
      <p:sp>
        <p:nvSpPr>
          <p:cNvPr id="7" name="Text 5"/>
          <p:cNvSpPr txBox="1"/>
          <p:nvPr/>
        </p:nvSpPr>
        <p:spPr>
          <a:xfrm>
            <a:off x="731520" y="1828800"/>
            <a:ext cx="301752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Derivative</a:t>
            </a:r>
            <a:endParaRPr lang="en-US" sz="1700" dirty="0"/>
          </a:p>
        </p:txBody>
      </p:sp>
      <p:sp>
        <p:nvSpPr>
          <p:cNvPr id="8" name="Text 6"/>
          <p:cNvSpPr txBox="1"/>
          <p:nvPr/>
        </p:nvSpPr>
        <p:spPr>
          <a:xfrm>
            <a:off x="3840480" y="1828800"/>
            <a:ext cx="768096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slope: how the error changes when a weight moves</a:t>
            </a:r>
            <a:endParaRPr lang="en-US" sz="1700" dirty="0"/>
          </a:p>
        </p:txBody>
      </p:sp>
      <p:sp>
        <p:nvSpPr>
          <p:cNvPr id="9" name="Shape 7"/>
          <p:cNvSpPr/>
          <p:nvPr/>
        </p:nvSpPr>
        <p:spPr>
          <a:xfrm>
            <a:off x="457200" y="2670048"/>
            <a:ext cx="11247120" cy="731520"/>
          </a:xfrm>
          <a:prstGeom prst="rect">
            <a:avLst/>
          </a:prstGeom>
          <a:solidFill>
            <a:srgbClr val="F6F6F6"/>
          </a:solidFill>
          <a:ln/>
        </p:spPr>
      </p:sp>
      <p:sp>
        <p:nvSpPr>
          <p:cNvPr id="10" name="Text 8"/>
          <p:cNvSpPr txBox="1"/>
          <p:nvPr/>
        </p:nvSpPr>
        <p:spPr>
          <a:xfrm>
            <a:off x="731520" y="2670048"/>
            <a:ext cx="301752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Gradient</a:t>
            </a:r>
            <a:endParaRPr lang="en-US" sz="1700" dirty="0"/>
          </a:p>
        </p:txBody>
      </p:sp>
      <p:sp>
        <p:nvSpPr>
          <p:cNvPr id="11" name="Text 9"/>
          <p:cNvSpPr txBox="1"/>
          <p:nvPr/>
        </p:nvSpPr>
        <p:spPr>
          <a:xfrm>
            <a:off x="3840480" y="2670048"/>
            <a:ext cx="768096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vector of partial derivatives - points uphill</a:t>
            </a:r>
            <a:endParaRPr lang="en-US" sz="1700" dirty="0"/>
          </a:p>
        </p:txBody>
      </p:sp>
      <p:sp>
        <p:nvSpPr>
          <p:cNvPr id="12" name="Shape 10"/>
          <p:cNvSpPr/>
          <p:nvPr/>
        </p:nvSpPr>
        <p:spPr>
          <a:xfrm>
            <a:off x="457200" y="3511296"/>
            <a:ext cx="11247120" cy="731520"/>
          </a:xfrm>
          <a:prstGeom prst="rect">
            <a:avLst/>
          </a:prstGeom>
          <a:solidFill>
            <a:srgbClr val="F6F6F6"/>
          </a:solidFill>
          <a:ln/>
        </p:spPr>
      </p:sp>
      <p:sp>
        <p:nvSpPr>
          <p:cNvPr id="13" name="Text 11"/>
          <p:cNvSpPr txBox="1"/>
          <p:nvPr/>
        </p:nvSpPr>
        <p:spPr>
          <a:xfrm>
            <a:off x="731520" y="3511296"/>
            <a:ext cx="301752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Hessian</a:t>
            </a:r>
            <a:endParaRPr lang="en-US" sz="1700" dirty="0"/>
          </a:p>
        </p:txBody>
      </p:sp>
      <p:sp>
        <p:nvSpPr>
          <p:cNvPr id="14" name="Text 12"/>
          <p:cNvSpPr txBox="1"/>
          <p:nvPr/>
        </p:nvSpPr>
        <p:spPr>
          <a:xfrm>
            <a:off x="3840480" y="3511296"/>
            <a:ext cx="768096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curvature - bowl (minimum) or dome (maximum)</a:t>
            </a:r>
            <a:endParaRPr lang="en-US" sz="1700" dirty="0"/>
          </a:p>
        </p:txBody>
      </p:sp>
      <p:sp>
        <p:nvSpPr>
          <p:cNvPr id="15" name="Shape 13"/>
          <p:cNvSpPr/>
          <p:nvPr/>
        </p:nvSpPr>
        <p:spPr>
          <a:xfrm>
            <a:off x="457200" y="4352544"/>
            <a:ext cx="11247120" cy="731520"/>
          </a:xfrm>
          <a:prstGeom prst="rect">
            <a:avLst/>
          </a:prstGeom>
          <a:solidFill>
            <a:srgbClr val="F6F6F6"/>
          </a:solidFill>
          <a:ln/>
        </p:spPr>
      </p:sp>
      <p:sp>
        <p:nvSpPr>
          <p:cNvPr id="16" name="Text 14"/>
          <p:cNvSpPr txBox="1"/>
          <p:nvPr/>
        </p:nvSpPr>
        <p:spPr>
          <a:xfrm>
            <a:off x="731520" y="4352544"/>
            <a:ext cx="301752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Gradient descent</a:t>
            </a:r>
            <a:endParaRPr lang="en-US" sz="1700" dirty="0"/>
          </a:p>
        </p:txBody>
      </p:sp>
      <p:sp>
        <p:nvSpPr>
          <p:cNvPr id="17" name="Text 15"/>
          <p:cNvSpPr txBox="1"/>
          <p:nvPr/>
        </p:nvSpPr>
        <p:spPr>
          <a:xfrm>
            <a:off x="3840480" y="4352544"/>
            <a:ext cx="768096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w = w - lr x gradient, repeat until slope ~ 0</a:t>
            </a:r>
            <a:endParaRPr lang="en-US" sz="1700" dirty="0"/>
          </a:p>
        </p:txBody>
      </p:sp>
      <p:sp>
        <p:nvSpPr>
          <p:cNvPr id="18" name="Shape 16"/>
          <p:cNvSpPr/>
          <p:nvPr/>
        </p:nvSpPr>
        <p:spPr>
          <a:xfrm>
            <a:off x="457200" y="5193792"/>
            <a:ext cx="11247120" cy="731520"/>
          </a:xfrm>
          <a:prstGeom prst="rect">
            <a:avLst/>
          </a:prstGeom>
          <a:solidFill>
            <a:srgbClr val="F6F6F6"/>
          </a:solidFill>
          <a:ln/>
        </p:spPr>
      </p:sp>
      <p:sp>
        <p:nvSpPr>
          <p:cNvPr id="19" name="Text 17"/>
          <p:cNvSpPr txBox="1"/>
          <p:nvPr/>
        </p:nvSpPr>
        <p:spPr>
          <a:xfrm>
            <a:off x="731520" y="5193792"/>
            <a:ext cx="301752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Watch out</a:t>
            </a:r>
            <a:endParaRPr lang="en-US" sz="1700" dirty="0"/>
          </a:p>
        </p:txBody>
      </p:sp>
      <p:sp>
        <p:nvSpPr>
          <p:cNvPr id="20" name="Text 18"/>
          <p:cNvSpPr txBox="1"/>
          <p:nvPr/>
        </p:nvSpPr>
        <p:spPr>
          <a:xfrm>
            <a:off x="3840480" y="5193792"/>
            <a:ext cx="768096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learning rate size + local minima -&gt; use mini-batch / SGD</a:t>
            </a:r>
            <a:endParaRPr lang="en-US" sz="1700" dirty="0"/>
          </a:p>
        </p:txBody>
      </p:sp>
      <p:sp>
        <p:nvSpPr>
          <p:cNvPr id="21" name="Text 19"/>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2" name="Text 20"/>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1  |  Calculus - how a model learns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39C2D7"/>
        </a:solidFill>
        <a:effectLst/>
      </p:bgPr>
    </p:bg>
    <p:spTree>
      <p:nvGrpSpPr>
        <p:cNvPr id="1" name=""/>
        <p:cNvGrpSpPr/>
        <p:nvPr/>
      </p:nvGrpSpPr>
      <p:grpSpPr>
        <a:xfrm>
          <a:off x="0" y="0"/>
          <a:ext cx="0" cy="0"/>
          <a:chOff x="0" y="0"/>
          <a:chExt cx="0" cy="0"/>
        </a:xfrm>
      </p:grpSpPr>
      <p:sp>
        <p:nvSpPr>
          <p:cNvPr id="2" name="Text 0"/>
          <p:cNvSpPr txBox="1"/>
          <p:nvPr/>
        </p:nvSpPr>
        <p:spPr>
          <a:xfrm>
            <a:off x="731520" y="2011680"/>
            <a:ext cx="10058400" cy="640080"/>
          </a:xfrm>
          <a:prstGeom prst="rect">
            <a:avLst/>
          </a:prstGeom>
          <a:noFill/>
          <a:ln/>
        </p:spPr>
        <p:txBody>
          <a:bodyPr wrap="square" lIns="0" tIns="0" rIns="0" bIns="0" rtlCol="0" anchor="ctr"/>
          <a:lstStyle/>
          <a:p>
            <a:pPr marL="0" indent="0">
              <a:buNone/>
            </a:pPr>
            <a:r>
              <a:rPr lang="en-US" sz="2600" b="1" dirty="0">
                <a:solidFill>
                  <a:srgbClr val="FFFFFF"/>
                </a:solidFill>
                <a:latin typeface="Montserrat" pitchFamily="34" charset="0"/>
                <a:ea typeface="Montserrat" pitchFamily="34" charset="-122"/>
                <a:cs typeface="Montserrat" pitchFamily="34" charset="-120"/>
              </a:rPr>
              <a:t>PART 2</a:t>
            </a:r>
            <a:endParaRPr lang="en-US" sz="2600" dirty="0"/>
          </a:p>
        </p:txBody>
      </p:sp>
      <p:sp>
        <p:nvSpPr>
          <p:cNvPr id="3" name="Text 1"/>
          <p:cNvSpPr txBox="1"/>
          <p:nvPr/>
        </p:nvSpPr>
        <p:spPr>
          <a:xfrm>
            <a:off x="731520" y="2697480"/>
            <a:ext cx="10698480" cy="914400"/>
          </a:xfrm>
          <a:prstGeom prst="rect">
            <a:avLst/>
          </a:prstGeom>
          <a:noFill/>
          <a:ln/>
        </p:spPr>
        <p:txBody>
          <a:bodyPr wrap="square" lIns="0" tIns="0" rIns="0" bIns="0" rtlCol="0" anchor="ctr"/>
          <a:lstStyle/>
          <a:p>
            <a:pPr marL="0" indent="0">
              <a:buNone/>
            </a:pPr>
            <a:r>
              <a:rPr lang="en-US" sz="4600" b="1" dirty="0">
                <a:solidFill>
                  <a:srgbClr val="FFFFFF"/>
                </a:solidFill>
                <a:latin typeface="Montserrat" pitchFamily="34" charset="0"/>
                <a:ea typeface="Montserrat" pitchFamily="34" charset="-122"/>
                <a:cs typeface="Montserrat" pitchFamily="34" charset="-120"/>
              </a:rPr>
              <a:t>Probability &amp; Statistics</a:t>
            </a:r>
            <a:endParaRPr lang="en-US" sz="4600" dirty="0"/>
          </a:p>
        </p:txBody>
      </p:sp>
      <p:sp>
        <p:nvSpPr>
          <p:cNvPr id="4" name="Text 2"/>
          <p:cNvSpPr txBox="1"/>
          <p:nvPr/>
        </p:nvSpPr>
        <p:spPr>
          <a:xfrm>
            <a:off x="749808" y="3749040"/>
            <a:ext cx="10058400" cy="5486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A model is never 100% sure - these tools measure how sure it is</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The hook</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'70% chance of rain'  -  what does that even mean?</a:t>
            </a:r>
            <a:endParaRPr lang="en-US" sz="2500" dirty="0"/>
          </a:p>
        </p:txBody>
      </p:sp>
      <p:sp>
        <p:nvSpPr>
          <p:cNvPr id="6" name="Shape 4"/>
          <p:cNvSpPr/>
          <p:nvPr/>
        </p:nvSpPr>
        <p:spPr>
          <a:xfrm>
            <a:off x="457200" y="1783080"/>
            <a:ext cx="11247120" cy="822960"/>
          </a:xfrm>
          <a:prstGeom prst="rect">
            <a:avLst/>
          </a:prstGeom>
          <a:solidFill>
            <a:srgbClr val="F6F6F6"/>
          </a:solidFill>
          <a:ln/>
        </p:spPr>
      </p:sp>
      <p:sp>
        <p:nvSpPr>
          <p:cNvPr id="7" name="Text 5"/>
          <p:cNvSpPr txBox="1"/>
          <p:nvPr/>
        </p:nvSpPr>
        <p:spPr>
          <a:xfrm>
            <a:off x="640080" y="1783080"/>
            <a:ext cx="10972800" cy="822960"/>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Your spam filter says 0.92.  A doctor-AI says 0.30.  These numbers ARE probabilities.</a:t>
            </a:r>
            <a:endParaRPr lang="en-US" sz="1900" dirty="0"/>
          </a:p>
        </p:txBody>
      </p:sp>
      <p:sp>
        <p:nvSpPr>
          <p:cNvPr id="8" name="Shape 6"/>
          <p:cNvSpPr/>
          <p:nvPr/>
        </p:nvSpPr>
        <p:spPr>
          <a:xfrm>
            <a:off x="457200" y="2880360"/>
            <a:ext cx="5486400" cy="3063240"/>
          </a:xfrm>
          <a:prstGeom prst="rect">
            <a:avLst/>
          </a:prstGeom>
          <a:solidFill>
            <a:srgbClr val="39C2D7"/>
          </a:solidFill>
          <a:ln/>
        </p:spPr>
      </p:sp>
      <p:sp>
        <p:nvSpPr>
          <p:cNvPr id="9" name="Text 7"/>
          <p:cNvSpPr txBox="1"/>
          <p:nvPr/>
        </p:nvSpPr>
        <p:spPr>
          <a:xfrm>
            <a:off x="731520" y="3017520"/>
            <a:ext cx="5029200" cy="548640"/>
          </a:xfrm>
          <a:prstGeom prst="rect">
            <a:avLst/>
          </a:prstGeom>
          <a:noFill/>
          <a:ln/>
        </p:spPr>
        <p:txBody>
          <a:bodyPr wrap="square" lIns="0" tIns="0" rIns="0" bIns="0" rtlCol="0" anchor="ctr"/>
          <a:lstStyle/>
          <a:p>
            <a:pPr marL="0" indent="0">
              <a:buNone/>
            </a:pPr>
            <a:r>
              <a:rPr lang="en-US" sz="1900" b="1" dirty="0">
                <a:solidFill>
                  <a:srgbClr val="FFFFFF"/>
                </a:solidFill>
                <a:latin typeface="Montserrat" pitchFamily="34" charset="0"/>
                <a:ea typeface="Montserrat" pitchFamily="34" charset="-122"/>
                <a:cs typeface="Montserrat" pitchFamily="34" charset="-120"/>
              </a:rPr>
              <a:t>PROBABILITY  -&gt;  looks FORWARD</a:t>
            </a:r>
            <a:endParaRPr lang="en-US" sz="1900" dirty="0"/>
          </a:p>
        </p:txBody>
      </p:sp>
      <p:sp>
        <p:nvSpPr>
          <p:cNvPr id="10" name="Text 8"/>
          <p:cNvSpPr txBox="1"/>
          <p:nvPr/>
        </p:nvSpPr>
        <p:spPr>
          <a:xfrm>
            <a:off x="731520" y="3657600"/>
            <a:ext cx="5029200" cy="502920"/>
          </a:xfrm>
          <a:prstGeom prst="rect">
            <a:avLst/>
          </a:prstGeom>
          <a:noFill/>
          <a:ln/>
        </p:spPr>
        <p:txBody>
          <a:bodyPr wrap="square" lIns="0" tIns="0" rIns="0" bIns="0" rtlCol="0" anchor="ctr"/>
          <a:lstStyle/>
          <a:p>
            <a:pPr marL="0" indent="0">
              <a:buNone/>
            </a:pPr>
            <a:r>
              <a:rPr lang="en-US" sz="1700" dirty="0">
                <a:solidFill>
                  <a:srgbClr val="FFFFFF"/>
                </a:solidFill>
                <a:latin typeface="Montserrat" pitchFamily="34" charset="0"/>
                <a:ea typeface="Montserrat" pitchFamily="34" charset="-122"/>
                <a:cs typeface="Montserrat" pitchFamily="34" charset="-120"/>
              </a:rPr>
              <a:t>Known model  -&gt;  predict data</a:t>
            </a:r>
            <a:endParaRPr lang="en-US" sz="1700" dirty="0"/>
          </a:p>
        </p:txBody>
      </p:sp>
      <p:sp>
        <p:nvSpPr>
          <p:cNvPr id="11" name="Shape 9"/>
          <p:cNvSpPr/>
          <p:nvPr/>
        </p:nvSpPr>
        <p:spPr>
          <a:xfrm>
            <a:off x="731520" y="4297680"/>
            <a:ext cx="4937760" cy="1417320"/>
          </a:xfrm>
          <a:prstGeom prst="rect">
            <a:avLst/>
          </a:prstGeom>
          <a:solidFill>
            <a:srgbClr val="FFFFFF"/>
          </a:solidFill>
          <a:ln/>
        </p:spPr>
      </p:sp>
      <p:sp>
        <p:nvSpPr>
          <p:cNvPr id="12" name="Text 10"/>
          <p:cNvSpPr txBox="1"/>
          <p:nvPr/>
        </p:nvSpPr>
        <p:spPr>
          <a:xfrm>
            <a:off x="914400" y="4297680"/>
            <a:ext cx="4572000" cy="1417320"/>
          </a:xfrm>
          <a:prstGeom prst="rect">
            <a:avLst/>
          </a:prstGeom>
          <a:noFill/>
          <a:ln/>
        </p:spPr>
        <p:txBody>
          <a:bodyPr wrap="square" lIns="0" tIns="0" rIns="0" bIns="0" rtlCol="0" anchor="ctr"/>
          <a:lstStyle/>
          <a:p>
            <a:pPr marL="0" indent="0">
              <a:buNone/>
            </a:pPr>
            <a:r>
              <a:rPr lang="en-US" sz="1700" i="1" dirty="0">
                <a:solidFill>
                  <a:srgbClr val="222222"/>
                </a:solidFill>
                <a:latin typeface="Calibri" pitchFamily="34" charset="0"/>
                <a:ea typeface="Calibri" pitchFamily="34" charset="-122"/>
                <a:cs typeface="Calibri" pitchFamily="34" charset="-120"/>
              </a:rPr>
              <a:t>'This coin is fair. In 100 flips I expect about 50 heads.'</a:t>
            </a:r>
            <a:endParaRPr lang="en-US" sz="1700" dirty="0"/>
          </a:p>
        </p:txBody>
      </p:sp>
      <p:sp>
        <p:nvSpPr>
          <p:cNvPr id="13" name="Shape 11"/>
          <p:cNvSpPr/>
          <p:nvPr/>
        </p:nvSpPr>
        <p:spPr>
          <a:xfrm>
            <a:off x="6217920" y="2880360"/>
            <a:ext cx="5486400" cy="3063240"/>
          </a:xfrm>
          <a:prstGeom prst="rect">
            <a:avLst/>
          </a:prstGeom>
          <a:solidFill>
            <a:srgbClr val="39C2D7"/>
          </a:solidFill>
          <a:ln/>
        </p:spPr>
      </p:sp>
      <p:sp>
        <p:nvSpPr>
          <p:cNvPr id="14" name="Text 12"/>
          <p:cNvSpPr txBox="1"/>
          <p:nvPr/>
        </p:nvSpPr>
        <p:spPr>
          <a:xfrm>
            <a:off x="6492240" y="3017520"/>
            <a:ext cx="5029200" cy="548640"/>
          </a:xfrm>
          <a:prstGeom prst="rect">
            <a:avLst/>
          </a:prstGeom>
          <a:noFill/>
          <a:ln/>
        </p:spPr>
        <p:txBody>
          <a:bodyPr wrap="square" lIns="0" tIns="0" rIns="0" bIns="0" rtlCol="0" anchor="ctr"/>
          <a:lstStyle/>
          <a:p>
            <a:pPr marL="0" indent="0">
              <a:buNone/>
            </a:pPr>
            <a:r>
              <a:rPr lang="en-US" sz="1900" b="1" dirty="0">
                <a:solidFill>
                  <a:srgbClr val="FFFFFF"/>
                </a:solidFill>
                <a:latin typeface="Montserrat" pitchFamily="34" charset="0"/>
                <a:ea typeface="Montserrat" pitchFamily="34" charset="-122"/>
                <a:cs typeface="Montserrat" pitchFamily="34" charset="-120"/>
              </a:rPr>
              <a:t>STATISTICS  &lt;-  looks BACKWARD</a:t>
            </a:r>
            <a:endParaRPr lang="en-US" sz="1900" dirty="0"/>
          </a:p>
        </p:txBody>
      </p:sp>
      <p:sp>
        <p:nvSpPr>
          <p:cNvPr id="15" name="Text 13"/>
          <p:cNvSpPr txBox="1"/>
          <p:nvPr/>
        </p:nvSpPr>
        <p:spPr>
          <a:xfrm>
            <a:off x="6492240" y="3657600"/>
            <a:ext cx="5029200" cy="502920"/>
          </a:xfrm>
          <a:prstGeom prst="rect">
            <a:avLst/>
          </a:prstGeom>
          <a:noFill/>
          <a:ln/>
        </p:spPr>
        <p:txBody>
          <a:bodyPr wrap="square" lIns="0" tIns="0" rIns="0" bIns="0" rtlCol="0" anchor="ctr"/>
          <a:lstStyle/>
          <a:p>
            <a:pPr marL="0" indent="0">
              <a:buNone/>
            </a:pPr>
            <a:r>
              <a:rPr lang="en-US" sz="1700" dirty="0">
                <a:solidFill>
                  <a:srgbClr val="FFFFFF"/>
                </a:solidFill>
                <a:latin typeface="Montserrat" pitchFamily="34" charset="0"/>
                <a:ea typeface="Montserrat" pitchFamily="34" charset="-122"/>
                <a:cs typeface="Montserrat" pitchFamily="34" charset="-120"/>
              </a:rPr>
              <a:t>Observed data  -&gt;  infer the model</a:t>
            </a:r>
            <a:endParaRPr lang="en-US" sz="1700" dirty="0"/>
          </a:p>
        </p:txBody>
      </p:sp>
      <p:sp>
        <p:nvSpPr>
          <p:cNvPr id="16" name="Shape 14"/>
          <p:cNvSpPr/>
          <p:nvPr/>
        </p:nvSpPr>
        <p:spPr>
          <a:xfrm>
            <a:off x="6492240" y="4297680"/>
            <a:ext cx="4937760" cy="1417320"/>
          </a:xfrm>
          <a:prstGeom prst="rect">
            <a:avLst/>
          </a:prstGeom>
          <a:solidFill>
            <a:srgbClr val="FFFFFF"/>
          </a:solidFill>
          <a:ln/>
        </p:spPr>
      </p:sp>
      <p:sp>
        <p:nvSpPr>
          <p:cNvPr id="17" name="Text 15"/>
          <p:cNvSpPr txBox="1"/>
          <p:nvPr/>
        </p:nvSpPr>
        <p:spPr>
          <a:xfrm>
            <a:off x="6675120" y="4297680"/>
            <a:ext cx="4572000" cy="1417320"/>
          </a:xfrm>
          <a:prstGeom prst="rect">
            <a:avLst/>
          </a:prstGeom>
          <a:noFill/>
          <a:ln/>
        </p:spPr>
        <p:txBody>
          <a:bodyPr wrap="square" lIns="0" tIns="0" rIns="0" bIns="0" rtlCol="0" anchor="ctr"/>
          <a:lstStyle/>
          <a:p>
            <a:pPr marL="0" indent="0">
              <a:buNone/>
            </a:pPr>
            <a:r>
              <a:rPr lang="en-US" sz="1700" i="1" dirty="0">
                <a:solidFill>
                  <a:srgbClr val="222222"/>
                </a:solidFill>
                <a:latin typeface="Calibri" pitchFamily="34" charset="0"/>
                <a:ea typeface="Calibri" pitchFamily="34" charset="-122"/>
                <a:cs typeface="Calibri" pitchFamily="34" charset="-120"/>
              </a:rPr>
              <a:t>'I saw 70 heads in 100 flips. Is this coin really fair?'</a:t>
            </a:r>
            <a:endParaRPr lang="en-US" sz="1700" dirty="0"/>
          </a:p>
        </p:txBody>
      </p:sp>
      <p:sp>
        <p:nvSpPr>
          <p:cNvPr id="18" name="Text 16"/>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9" name="Text 17"/>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Basics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Sample space, events and probability</a:t>
            </a:r>
            <a:endParaRPr lang="en-US" sz="2500" dirty="0"/>
          </a:p>
        </p:txBody>
      </p:sp>
      <p:sp>
        <p:nvSpPr>
          <p:cNvPr id="6" name="Shape 4"/>
          <p:cNvSpPr/>
          <p:nvPr/>
        </p:nvSpPr>
        <p:spPr>
          <a:xfrm>
            <a:off x="457200" y="1828800"/>
            <a:ext cx="2640330" cy="3657600"/>
          </a:xfrm>
          <a:prstGeom prst="rect">
            <a:avLst/>
          </a:prstGeom>
          <a:solidFill>
            <a:srgbClr val="F6F6F6"/>
          </a:solidFill>
          <a:ln/>
        </p:spPr>
      </p:sp>
      <p:sp>
        <p:nvSpPr>
          <p:cNvPr id="7" name="Shape 5"/>
          <p:cNvSpPr/>
          <p:nvPr/>
        </p:nvSpPr>
        <p:spPr>
          <a:xfrm>
            <a:off x="457200" y="1828800"/>
            <a:ext cx="2640330" cy="82296"/>
          </a:xfrm>
          <a:prstGeom prst="rect">
            <a:avLst/>
          </a:prstGeom>
          <a:solidFill>
            <a:srgbClr val="39C2D7"/>
          </a:solidFill>
          <a:ln/>
        </p:spPr>
      </p:sp>
      <p:sp>
        <p:nvSpPr>
          <p:cNvPr id="8" name="Text 6"/>
          <p:cNvSpPr txBox="1"/>
          <p:nvPr/>
        </p:nvSpPr>
        <p:spPr>
          <a:xfrm>
            <a:off x="640080" y="2029968"/>
            <a:ext cx="2274570" cy="5029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Sample space</a:t>
            </a:r>
            <a:endParaRPr lang="en-US" sz="1700" dirty="0"/>
          </a:p>
        </p:txBody>
      </p:sp>
      <p:sp>
        <p:nvSpPr>
          <p:cNvPr id="9" name="Text 7"/>
          <p:cNvSpPr txBox="1"/>
          <p:nvPr/>
        </p:nvSpPr>
        <p:spPr>
          <a:xfrm>
            <a:off x="640080" y="2606040"/>
            <a:ext cx="2274570" cy="2743200"/>
          </a:xfrm>
          <a:prstGeom prst="rect">
            <a:avLst/>
          </a:prstGeom>
          <a:noFill/>
          <a:ln/>
        </p:spPr>
        <p:txBody>
          <a:bodyPr wrap="square" lIns="0" tIns="0" rIns="0" bIns="0" rtlCol="0" anchor="t"/>
          <a:lstStyle/>
          <a:p>
            <a:pPr marL="0" indent="0">
              <a:buNone/>
            </a:pPr>
            <a:r>
              <a:rPr lang="en-US" sz="1450" dirty="0">
                <a:solidFill>
                  <a:srgbClr val="222222"/>
                </a:solidFill>
                <a:latin typeface="Calibri" pitchFamily="34" charset="0"/>
                <a:ea typeface="Calibri" pitchFamily="34" charset="-122"/>
                <a:cs typeface="Calibri" pitchFamily="34" charset="-120"/>
              </a:rPr>
              <a:t>ALL possible outcomes</a:t>
            </a:r>
            <a:endParaRPr lang="en-US" sz="1450" dirty="0"/>
          </a:p>
          <a:p>
            <a:pPr marL="0" indent="0">
              <a:buNone/>
            </a:pPr>
            <a:endParaRPr lang="en-US" sz="1450" dirty="0"/>
          </a:p>
          <a:p>
            <a:pPr marL="0" indent="0">
              <a:buNone/>
            </a:pPr>
            <a:r>
              <a:rPr lang="en-US" sz="1450" dirty="0">
                <a:solidFill>
                  <a:srgbClr val="222222"/>
                </a:solidFill>
                <a:latin typeface="Calibri" pitchFamily="34" charset="0"/>
                <a:ea typeface="Calibri" pitchFamily="34" charset="-122"/>
                <a:cs typeface="Calibri" pitchFamily="34" charset="-120"/>
              </a:rPr>
              <a:t>Die: {1,2,3,4,5,6}</a:t>
            </a:r>
            <a:endParaRPr lang="en-US" sz="1450" dirty="0"/>
          </a:p>
          <a:p>
            <a:pPr marL="0" indent="0">
              <a:buNone/>
            </a:pPr>
            <a:r>
              <a:rPr lang="en-US" sz="1450" dirty="0">
                <a:solidFill>
                  <a:srgbClr val="222222"/>
                </a:solidFill>
                <a:latin typeface="Calibri" pitchFamily="34" charset="0"/>
                <a:ea typeface="Calibri" pitchFamily="34" charset="-122"/>
                <a:cs typeface="Calibri" pitchFamily="34" charset="-120"/>
              </a:rPr>
              <a:t>Email: {spam, not spam}</a:t>
            </a:r>
            <a:endParaRPr lang="en-US" sz="1450" dirty="0"/>
          </a:p>
        </p:txBody>
      </p:sp>
      <p:sp>
        <p:nvSpPr>
          <p:cNvPr id="10" name="Shape 8"/>
          <p:cNvSpPr/>
          <p:nvPr/>
        </p:nvSpPr>
        <p:spPr>
          <a:xfrm>
            <a:off x="3326130" y="1828800"/>
            <a:ext cx="2640330" cy="3657600"/>
          </a:xfrm>
          <a:prstGeom prst="rect">
            <a:avLst/>
          </a:prstGeom>
          <a:solidFill>
            <a:srgbClr val="F6F6F6"/>
          </a:solidFill>
          <a:ln/>
        </p:spPr>
      </p:sp>
      <p:sp>
        <p:nvSpPr>
          <p:cNvPr id="11" name="Shape 9"/>
          <p:cNvSpPr/>
          <p:nvPr/>
        </p:nvSpPr>
        <p:spPr>
          <a:xfrm>
            <a:off x="3326130" y="1828800"/>
            <a:ext cx="2640330" cy="82296"/>
          </a:xfrm>
          <a:prstGeom prst="rect">
            <a:avLst/>
          </a:prstGeom>
          <a:solidFill>
            <a:srgbClr val="39C2D7"/>
          </a:solidFill>
          <a:ln/>
        </p:spPr>
      </p:sp>
      <p:sp>
        <p:nvSpPr>
          <p:cNvPr id="12" name="Text 10"/>
          <p:cNvSpPr txBox="1"/>
          <p:nvPr/>
        </p:nvSpPr>
        <p:spPr>
          <a:xfrm>
            <a:off x="3509010" y="2029968"/>
            <a:ext cx="2274570" cy="5029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Event</a:t>
            </a:r>
            <a:endParaRPr lang="en-US" sz="1700" dirty="0"/>
          </a:p>
        </p:txBody>
      </p:sp>
      <p:sp>
        <p:nvSpPr>
          <p:cNvPr id="13" name="Text 11"/>
          <p:cNvSpPr txBox="1"/>
          <p:nvPr/>
        </p:nvSpPr>
        <p:spPr>
          <a:xfrm>
            <a:off x="3509010" y="2606040"/>
            <a:ext cx="2274570" cy="2743200"/>
          </a:xfrm>
          <a:prstGeom prst="rect">
            <a:avLst/>
          </a:prstGeom>
          <a:noFill/>
          <a:ln/>
        </p:spPr>
        <p:txBody>
          <a:bodyPr wrap="square" lIns="0" tIns="0" rIns="0" bIns="0" rtlCol="0" anchor="t"/>
          <a:lstStyle/>
          <a:p>
            <a:pPr marL="0" indent="0">
              <a:buNone/>
            </a:pPr>
            <a:r>
              <a:rPr lang="en-US" sz="1450" dirty="0">
                <a:solidFill>
                  <a:srgbClr val="222222"/>
                </a:solidFill>
                <a:latin typeface="Calibri" pitchFamily="34" charset="0"/>
                <a:ea typeface="Calibri" pitchFamily="34" charset="-122"/>
                <a:cs typeface="Calibri" pitchFamily="34" charset="-120"/>
              </a:rPr>
              <a:t>an outcome we care about</a:t>
            </a:r>
            <a:endParaRPr lang="en-US" sz="1450" dirty="0"/>
          </a:p>
          <a:p>
            <a:pPr marL="0" indent="0">
              <a:buNone/>
            </a:pPr>
            <a:endParaRPr lang="en-US" sz="1450" dirty="0"/>
          </a:p>
          <a:p>
            <a:pPr marL="0" indent="0">
              <a:buNone/>
            </a:pPr>
            <a:r>
              <a:rPr lang="en-US" sz="1450" dirty="0">
                <a:solidFill>
                  <a:srgbClr val="222222"/>
                </a:solidFill>
                <a:latin typeface="Calibri" pitchFamily="34" charset="0"/>
                <a:ea typeface="Calibri" pitchFamily="34" charset="-122"/>
                <a:cs typeface="Calibri" pitchFamily="34" charset="-120"/>
              </a:rPr>
              <a:t>'roll an even number'</a:t>
            </a:r>
            <a:endParaRPr lang="en-US" sz="1450" dirty="0"/>
          </a:p>
          <a:p>
            <a:pPr marL="0" indent="0">
              <a:buNone/>
            </a:pPr>
            <a:r>
              <a:rPr lang="en-US" sz="1450" dirty="0">
                <a:solidFill>
                  <a:srgbClr val="222222"/>
                </a:solidFill>
                <a:latin typeface="Calibri" pitchFamily="34" charset="0"/>
                <a:ea typeface="Calibri" pitchFamily="34" charset="-122"/>
                <a:cs typeface="Calibri" pitchFamily="34" charset="-120"/>
              </a:rPr>
              <a:t>'email is spam'</a:t>
            </a:r>
            <a:endParaRPr lang="en-US" sz="1450" dirty="0"/>
          </a:p>
        </p:txBody>
      </p:sp>
      <p:sp>
        <p:nvSpPr>
          <p:cNvPr id="14" name="Shape 12"/>
          <p:cNvSpPr/>
          <p:nvPr/>
        </p:nvSpPr>
        <p:spPr>
          <a:xfrm>
            <a:off x="6195060" y="1828800"/>
            <a:ext cx="2640330" cy="3657600"/>
          </a:xfrm>
          <a:prstGeom prst="rect">
            <a:avLst/>
          </a:prstGeom>
          <a:solidFill>
            <a:srgbClr val="F6F6F6"/>
          </a:solidFill>
          <a:ln/>
        </p:spPr>
      </p:sp>
      <p:sp>
        <p:nvSpPr>
          <p:cNvPr id="15" name="Shape 13"/>
          <p:cNvSpPr/>
          <p:nvPr/>
        </p:nvSpPr>
        <p:spPr>
          <a:xfrm>
            <a:off x="6195060" y="1828800"/>
            <a:ext cx="2640330" cy="82296"/>
          </a:xfrm>
          <a:prstGeom prst="rect">
            <a:avLst/>
          </a:prstGeom>
          <a:solidFill>
            <a:srgbClr val="39C2D7"/>
          </a:solidFill>
          <a:ln/>
        </p:spPr>
      </p:sp>
      <p:sp>
        <p:nvSpPr>
          <p:cNvPr id="16" name="Text 14"/>
          <p:cNvSpPr txBox="1"/>
          <p:nvPr/>
        </p:nvSpPr>
        <p:spPr>
          <a:xfrm>
            <a:off x="6377940" y="2029968"/>
            <a:ext cx="2274570" cy="5029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Probability</a:t>
            </a:r>
            <a:endParaRPr lang="en-US" sz="1700" dirty="0"/>
          </a:p>
        </p:txBody>
      </p:sp>
      <p:sp>
        <p:nvSpPr>
          <p:cNvPr id="17" name="Text 15"/>
          <p:cNvSpPr txBox="1"/>
          <p:nvPr/>
        </p:nvSpPr>
        <p:spPr>
          <a:xfrm>
            <a:off x="6377940" y="2606040"/>
            <a:ext cx="2274570" cy="2743200"/>
          </a:xfrm>
          <a:prstGeom prst="rect">
            <a:avLst/>
          </a:prstGeom>
          <a:noFill/>
          <a:ln/>
        </p:spPr>
        <p:txBody>
          <a:bodyPr wrap="square" lIns="0" tIns="0" rIns="0" bIns="0" rtlCol="0" anchor="t"/>
          <a:lstStyle/>
          <a:p>
            <a:pPr marL="0" indent="0">
              <a:buNone/>
            </a:pPr>
            <a:r>
              <a:rPr lang="en-US" sz="1450" dirty="0">
                <a:solidFill>
                  <a:srgbClr val="222222"/>
                </a:solidFill>
                <a:latin typeface="Calibri" pitchFamily="34" charset="0"/>
                <a:ea typeface="Calibri" pitchFamily="34" charset="-122"/>
                <a:cs typeface="Calibri" pitchFamily="34" charset="-120"/>
              </a:rPr>
              <a:t>a number from 0 to 1</a:t>
            </a:r>
            <a:endParaRPr lang="en-US" sz="1450" dirty="0"/>
          </a:p>
          <a:p>
            <a:pPr marL="0" indent="0">
              <a:buNone/>
            </a:pPr>
            <a:endParaRPr lang="en-US" sz="1450" dirty="0"/>
          </a:p>
          <a:p>
            <a:pPr marL="0" indent="0">
              <a:buNone/>
            </a:pPr>
            <a:r>
              <a:rPr lang="en-US" sz="1450" dirty="0">
                <a:solidFill>
                  <a:srgbClr val="222222"/>
                </a:solidFill>
                <a:latin typeface="Calibri" pitchFamily="34" charset="0"/>
                <a:ea typeface="Calibri" pitchFamily="34" charset="-122"/>
                <a:cs typeface="Calibri" pitchFamily="34" charset="-120"/>
              </a:rPr>
              <a:t>0 = impossible</a:t>
            </a:r>
            <a:endParaRPr lang="en-US" sz="1450" dirty="0"/>
          </a:p>
          <a:p>
            <a:pPr marL="0" indent="0">
              <a:buNone/>
            </a:pPr>
            <a:r>
              <a:rPr lang="en-US" sz="1450" dirty="0">
                <a:solidFill>
                  <a:srgbClr val="222222"/>
                </a:solidFill>
                <a:latin typeface="Calibri" pitchFamily="34" charset="0"/>
                <a:ea typeface="Calibri" pitchFamily="34" charset="-122"/>
                <a:cs typeface="Calibri" pitchFamily="34" charset="-120"/>
              </a:rPr>
              <a:t>1 = certain</a:t>
            </a:r>
            <a:endParaRPr lang="en-US" sz="1450" dirty="0"/>
          </a:p>
          <a:p>
            <a:pPr marL="0" indent="0">
              <a:buNone/>
            </a:pPr>
            <a:r>
              <a:rPr lang="en-US" sz="1450" dirty="0">
                <a:solidFill>
                  <a:srgbClr val="222222"/>
                </a:solidFill>
                <a:latin typeface="Calibri" pitchFamily="34" charset="0"/>
                <a:ea typeface="Calibri" pitchFamily="34" charset="-122"/>
                <a:cs typeface="Calibri" pitchFamily="34" charset="-120"/>
              </a:rPr>
              <a:t>P(even) = 3/6 = 0.5</a:t>
            </a:r>
            <a:endParaRPr lang="en-US" sz="1450" dirty="0"/>
          </a:p>
        </p:txBody>
      </p:sp>
      <p:sp>
        <p:nvSpPr>
          <p:cNvPr id="18" name="Shape 16"/>
          <p:cNvSpPr/>
          <p:nvPr/>
        </p:nvSpPr>
        <p:spPr>
          <a:xfrm>
            <a:off x="9063990" y="1828800"/>
            <a:ext cx="2640330" cy="3657600"/>
          </a:xfrm>
          <a:prstGeom prst="rect">
            <a:avLst/>
          </a:prstGeom>
          <a:solidFill>
            <a:srgbClr val="39C2D7"/>
          </a:solidFill>
          <a:ln/>
        </p:spPr>
      </p:sp>
      <p:sp>
        <p:nvSpPr>
          <p:cNvPr id="19" name="Shape 17"/>
          <p:cNvSpPr/>
          <p:nvPr/>
        </p:nvSpPr>
        <p:spPr>
          <a:xfrm>
            <a:off x="9063990" y="1828800"/>
            <a:ext cx="2640330" cy="82296"/>
          </a:xfrm>
          <a:prstGeom prst="rect">
            <a:avLst/>
          </a:prstGeom>
          <a:solidFill>
            <a:srgbClr val="39C2D7"/>
          </a:solidFill>
          <a:ln/>
        </p:spPr>
      </p:sp>
      <p:sp>
        <p:nvSpPr>
          <p:cNvPr id="20" name="Text 18"/>
          <p:cNvSpPr txBox="1"/>
          <p:nvPr/>
        </p:nvSpPr>
        <p:spPr>
          <a:xfrm>
            <a:off x="9246870" y="2029968"/>
            <a:ext cx="2274570" cy="502920"/>
          </a:xfrm>
          <a:prstGeom prst="rect">
            <a:avLst/>
          </a:prstGeom>
          <a:noFill/>
          <a:ln/>
        </p:spPr>
        <p:txBody>
          <a:bodyPr wrap="square" lIns="0" tIns="0" rIns="0" bIns="0" rtlCol="0" anchor="ctr"/>
          <a:lstStyle/>
          <a:p>
            <a:pPr marL="0" indent="0">
              <a:buNone/>
            </a:pPr>
            <a:r>
              <a:rPr lang="en-US" sz="1700" b="1" dirty="0">
                <a:solidFill>
                  <a:srgbClr val="FFFFFF"/>
                </a:solidFill>
                <a:latin typeface="Montserrat" pitchFamily="34" charset="0"/>
                <a:ea typeface="Montserrat" pitchFamily="34" charset="-122"/>
                <a:cs typeface="Montserrat" pitchFamily="34" charset="-120"/>
              </a:rPr>
              <a:t>In ML</a:t>
            </a:r>
            <a:endParaRPr lang="en-US" sz="1700" dirty="0"/>
          </a:p>
        </p:txBody>
      </p:sp>
      <p:sp>
        <p:nvSpPr>
          <p:cNvPr id="21" name="Text 19"/>
          <p:cNvSpPr txBox="1"/>
          <p:nvPr/>
        </p:nvSpPr>
        <p:spPr>
          <a:xfrm>
            <a:off x="9246870" y="2606040"/>
            <a:ext cx="2274570" cy="274320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a classifier outputs</a:t>
            </a:r>
            <a:endParaRPr lang="en-US" sz="1450" dirty="0"/>
          </a:p>
          <a:p>
            <a:pPr marL="0" indent="0">
              <a:buNone/>
            </a:pPr>
            <a:r>
              <a:rPr lang="en-US" sz="1450" dirty="0">
                <a:solidFill>
                  <a:srgbClr val="FFFFFF"/>
                </a:solidFill>
                <a:latin typeface="Calibri" pitchFamily="34" charset="0"/>
                <a:ea typeface="Calibri" pitchFamily="34" charset="-122"/>
                <a:cs typeface="Calibri" pitchFamily="34" charset="-120"/>
              </a:rPr>
              <a:t>P(spam) = 0.92</a:t>
            </a:r>
            <a:endParaRPr lang="en-US" sz="1450" dirty="0"/>
          </a:p>
          <a:p>
            <a:pPr marL="0" indent="0">
              <a:buNone/>
            </a:pPr>
            <a:endParaRPr lang="en-US" sz="1450" dirty="0"/>
          </a:p>
          <a:p>
            <a:pPr marL="0" indent="0">
              <a:buNone/>
            </a:pPr>
            <a:r>
              <a:rPr lang="en-US" sz="1450" dirty="0">
                <a:solidFill>
                  <a:srgbClr val="FFFFFF"/>
                </a:solidFill>
                <a:latin typeface="Calibri" pitchFamily="34" charset="0"/>
                <a:ea typeface="Calibri" pitchFamily="34" charset="-122"/>
                <a:cs typeface="Calibri" pitchFamily="34" charset="-120"/>
              </a:rPr>
              <a:t>0.92 + 0.08 = 1</a:t>
            </a:r>
            <a:endParaRPr lang="en-US" sz="1450" dirty="0"/>
          </a:p>
          <a:p>
            <a:pPr marL="0" indent="0">
              <a:buNone/>
            </a:pPr>
            <a:r>
              <a:rPr lang="en-US" sz="1450" dirty="0">
                <a:solidFill>
                  <a:srgbClr val="FFFFFF"/>
                </a:solidFill>
                <a:latin typeface="Calibri" pitchFamily="34" charset="0"/>
                <a:ea typeface="Calibri" pitchFamily="34" charset="-122"/>
                <a:cs typeface="Calibri" pitchFamily="34" charset="-120"/>
              </a:rPr>
              <a:t>(probabilities sum to 1)</a:t>
            </a:r>
            <a:endParaRPr lang="en-US" sz="1450" dirty="0"/>
          </a:p>
        </p:txBody>
      </p:sp>
      <p:sp>
        <p:nvSpPr>
          <p:cNvPr id="22" name="Text 2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3" name="Text 2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40864" cy="502920"/>
          </a:xfrm>
          <a:prstGeom prst="rect">
            <a:avLst/>
          </a:prstGeom>
          <a:solidFill>
            <a:srgbClr val="39C2D7"/>
          </a:solidFill>
          <a:ln/>
        </p:spPr>
      </p:sp>
      <p:sp>
        <p:nvSpPr>
          <p:cNvPr id="3" name="Text 1"/>
          <p:cNvSpPr txBox="1"/>
          <p:nvPr/>
        </p:nvSpPr>
        <p:spPr>
          <a:xfrm>
            <a:off x="457200" y="411480"/>
            <a:ext cx="2340864"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Conditional</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Conditional probability  P(A | B)</a:t>
            </a:r>
            <a:endParaRPr lang="en-US" sz="2500" dirty="0"/>
          </a:p>
        </p:txBody>
      </p:sp>
      <p:pic>
        <p:nvPicPr>
          <p:cNvPr id="6" name="Image 0" descr="/home/claude/d78/emails.png"/>
          <p:cNvPicPr>
            <a:picLocks noChangeAspect="1"/>
          </p:cNvPicPr>
          <p:nvPr/>
        </p:nvPicPr>
        <p:blipFill>
          <a:blip r:embed="rId3"/>
          <a:stretch>
            <a:fillRect/>
          </a:stretch>
        </p:blipFill>
        <p:spPr>
          <a:xfrm>
            <a:off x="1484583" y="1737360"/>
            <a:ext cx="5168994" cy="4480560"/>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100 emails: 40 spam (red), 50 contain 'free' (ring)</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30 are spam AND contain 'free'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P(spam | 'free') = 30 / 50 = 0.6</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Independent: knowing B tells nothing about A (two coin flips)</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Naive Bayes assumes words are independent given the class - simple but powerful.</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6291072" cy="502920"/>
          </a:xfrm>
          <a:prstGeom prst="rect">
            <a:avLst/>
          </a:prstGeom>
          <a:solidFill>
            <a:srgbClr val="FFFFFF"/>
          </a:solidFill>
          <a:ln/>
        </p:spPr>
      </p:sp>
      <p:sp>
        <p:nvSpPr>
          <p:cNvPr id="3" name="Text 1"/>
          <p:cNvSpPr txBox="1"/>
          <p:nvPr/>
        </p:nvSpPr>
        <p:spPr>
          <a:xfrm>
            <a:off x="457200" y="411480"/>
            <a:ext cx="6291072"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Quiz  -  vote with your gut!</a:t>
            </a:r>
            <a:endParaRPr lang="en-US" sz="1400" dirty="0"/>
          </a:p>
        </p:txBody>
      </p:sp>
      <p:sp>
        <p:nvSpPr>
          <p:cNvPr id="5" name="Shape 3"/>
          <p:cNvSpPr/>
          <p:nvPr/>
        </p:nvSpPr>
        <p:spPr>
          <a:xfrm>
            <a:off x="7818120" y="1051560"/>
            <a:ext cx="3931920" cy="502920"/>
          </a:xfrm>
          <a:prstGeom prst="rect">
            <a:avLst/>
          </a:prstGeom>
          <a:solidFill>
            <a:srgbClr val="FFFFFF"/>
          </a:solidFill>
          <a:ln/>
        </p:spPr>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100" b="1" dirty="0">
                <a:solidFill>
                  <a:srgbClr val="FFFFFF"/>
                </a:solidFill>
                <a:latin typeface="Montserrat" pitchFamily="34" charset="0"/>
                <a:ea typeface="Montserrat" pitchFamily="34" charset="-122"/>
                <a:cs typeface="Montserrat" pitchFamily="34" charset="-120"/>
              </a:rPr>
              <a:t>A disease affects 1% of people. The test catches 99% of cases, false alarm rate 5%. You test POSITIVE. Chance you are sick?</a:t>
            </a:r>
            <a:endParaRPr lang="en-US" sz="2100" dirty="0"/>
          </a:p>
        </p:txBody>
      </p:sp>
      <p:sp>
        <p:nvSpPr>
          <p:cNvPr id="8" name="Shape 6"/>
          <p:cNvSpPr/>
          <p:nvPr/>
        </p:nvSpPr>
        <p:spPr>
          <a:xfrm>
            <a:off x="822960" y="3108960"/>
            <a:ext cx="10515600" cy="621792"/>
          </a:xfrm>
          <a:prstGeom prst="rect">
            <a:avLst/>
          </a:prstGeom>
          <a:solidFill>
            <a:srgbClr val="FFFFFF"/>
          </a:solidFill>
          <a:ln/>
        </p:spPr>
      </p:sp>
      <p:sp>
        <p:nvSpPr>
          <p:cNvPr id="9" name="Text 7"/>
          <p:cNvSpPr txBox="1"/>
          <p:nvPr/>
        </p:nvSpPr>
        <p:spPr>
          <a:xfrm>
            <a:off x="1097280" y="3108960"/>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A)  99%</a:t>
            </a:r>
            <a:endParaRPr lang="en-US" sz="1900" dirty="0"/>
          </a:p>
        </p:txBody>
      </p:sp>
      <p:sp>
        <p:nvSpPr>
          <p:cNvPr id="10" name="Shape 8"/>
          <p:cNvSpPr/>
          <p:nvPr/>
        </p:nvSpPr>
        <p:spPr>
          <a:xfrm>
            <a:off x="822960" y="3858768"/>
            <a:ext cx="10515600" cy="621792"/>
          </a:xfrm>
          <a:prstGeom prst="rect">
            <a:avLst/>
          </a:prstGeom>
          <a:solidFill>
            <a:srgbClr val="FFFFFF"/>
          </a:solidFill>
          <a:ln/>
        </p:spPr>
      </p:sp>
      <p:sp>
        <p:nvSpPr>
          <p:cNvPr id="11" name="Text 9"/>
          <p:cNvSpPr txBox="1"/>
          <p:nvPr/>
        </p:nvSpPr>
        <p:spPr>
          <a:xfrm>
            <a:off x="1097280" y="3858768"/>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B)  90%</a:t>
            </a:r>
            <a:endParaRPr lang="en-US" sz="1900" dirty="0"/>
          </a:p>
        </p:txBody>
      </p:sp>
      <p:sp>
        <p:nvSpPr>
          <p:cNvPr id="12" name="Shape 10"/>
          <p:cNvSpPr/>
          <p:nvPr/>
        </p:nvSpPr>
        <p:spPr>
          <a:xfrm>
            <a:off x="822960" y="4608576"/>
            <a:ext cx="10515600" cy="621792"/>
          </a:xfrm>
          <a:prstGeom prst="rect">
            <a:avLst/>
          </a:prstGeom>
          <a:solidFill>
            <a:srgbClr val="FFFFFF"/>
          </a:solidFill>
          <a:ln/>
        </p:spPr>
      </p:sp>
      <p:sp>
        <p:nvSpPr>
          <p:cNvPr id="13" name="Text 11"/>
          <p:cNvSpPr txBox="1"/>
          <p:nvPr/>
        </p:nvSpPr>
        <p:spPr>
          <a:xfrm>
            <a:off x="1097280" y="4608576"/>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C)  50%</a:t>
            </a:r>
            <a:endParaRPr lang="en-US" sz="1900" dirty="0"/>
          </a:p>
        </p:txBody>
      </p:sp>
      <p:sp>
        <p:nvSpPr>
          <p:cNvPr id="14" name="Shape 12"/>
          <p:cNvSpPr/>
          <p:nvPr/>
        </p:nvSpPr>
        <p:spPr>
          <a:xfrm>
            <a:off x="822960" y="5358384"/>
            <a:ext cx="10515600" cy="621792"/>
          </a:xfrm>
          <a:prstGeom prst="rect">
            <a:avLst/>
          </a:prstGeom>
          <a:solidFill>
            <a:srgbClr val="FFFFFF"/>
          </a:solidFill>
          <a:ln/>
        </p:spPr>
      </p:sp>
      <p:sp>
        <p:nvSpPr>
          <p:cNvPr id="15" name="Text 13"/>
          <p:cNvSpPr txBox="1"/>
          <p:nvPr/>
        </p:nvSpPr>
        <p:spPr>
          <a:xfrm>
            <a:off x="1097280" y="5358384"/>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D)  17%</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779776" cy="502920"/>
          </a:xfrm>
          <a:prstGeom prst="rect">
            <a:avLst/>
          </a:prstGeom>
          <a:solidFill>
            <a:srgbClr val="39C2D7"/>
          </a:solidFill>
          <a:ln/>
        </p:spPr>
      </p:sp>
      <p:sp>
        <p:nvSpPr>
          <p:cNvPr id="3" name="Text 1"/>
          <p:cNvSpPr txBox="1"/>
          <p:nvPr/>
        </p:nvSpPr>
        <p:spPr>
          <a:xfrm>
            <a:off x="457200" y="411480"/>
            <a:ext cx="2779776"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Bayes' theorem</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Reveal: only ~17%!  Count the people</a:t>
            </a:r>
            <a:endParaRPr lang="en-US" sz="2500" dirty="0"/>
          </a:p>
        </p:txBody>
      </p:sp>
      <p:pic>
        <p:nvPicPr>
          <p:cNvPr id="6" name="Image 0" descr="/home/claude/d78/bayes_people.png"/>
          <p:cNvPicPr>
            <a:picLocks noChangeAspect="1"/>
          </p:cNvPicPr>
          <p:nvPr/>
        </p:nvPicPr>
        <p:blipFill>
          <a:blip r:embed="rId3"/>
          <a:stretch>
            <a:fillRect/>
          </a:stretch>
        </p:blipFill>
        <p:spPr>
          <a:xfrm>
            <a:off x="411480" y="2022859"/>
            <a:ext cx="7315200" cy="3909562"/>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Of 1000 people, 10 are sick -&gt; ~10 test positive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990 healthy x 5% -&gt; ~50 false alarms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Positives = 60, truly sick = 10</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10 / 60 = 17%</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P(A|B) = P(B|A) x P(A) / P(B). Rare classes stay rare - watch base rates!</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633472" cy="502920"/>
          </a:xfrm>
          <a:prstGeom prst="rect">
            <a:avLst/>
          </a:prstGeom>
          <a:solidFill>
            <a:srgbClr val="39C2D7"/>
          </a:solidFill>
          <a:ln/>
        </p:spPr>
      </p:sp>
      <p:sp>
        <p:nvSpPr>
          <p:cNvPr id="3" name="Text 1"/>
          <p:cNvSpPr txBox="1"/>
          <p:nvPr/>
        </p:nvSpPr>
        <p:spPr>
          <a:xfrm>
            <a:off x="457200" y="411480"/>
            <a:ext cx="263347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Distributions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Random variables &amp; their distributions</a:t>
            </a:r>
            <a:endParaRPr lang="en-US" sz="2500" dirty="0"/>
          </a:p>
        </p:txBody>
      </p:sp>
      <p:pic>
        <p:nvPicPr>
          <p:cNvPr id="6" name="Image 0" descr="/home/claude/d78/distributions.png"/>
          <p:cNvPicPr>
            <a:picLocks noChangeAspect="1"/>
          </p:cNvPicPr>
          <p:nvPr/>
        </p:nvPicPr>
        <p:blipFill>
          <a:blip r:embed="rId3"/>
          <a:stretch>
            <a:fillRect/>
          </a:stretch>
        </p:blipFill>
        <p:spPr>
          <a:xfrm>
            <a:off x="411480" y="2056566"/>
            <a:ext cx="7315200" cy="3842148"/>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Random variable = a number decided by chance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DISCRETE: countable (0,1,2...)</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CONTINUOUS: any value in a range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Also: Multinomial (many categories), Geometric (tries until 1st success)</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a model's output is often a distribution - e.g. softmax = multinomial over classes.</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ACTIVITY</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Name that distribution!  (pairs, then Menti)</a:t>
            </a:r>
            <a:endParaRPr lang="en-US" sz="2500" dirty="0"/>
          </a:p>
        </p:txBody>
      </p:sp>
      <p:sp>
        <p:nvSpPr>
          <p:cNvPr id="6" name="Shape 4"/>
          <p:cNvSpPr/>
          <p:nvPr/>
        </p:nvSpPr>
        <p:spPr>
          <a:xfrm>
            <a:off x="457200" y="1783080"/>
            <a:ext cx="5532120" cy="804672"/>
          </a:xfrm>
          <a:prstGeom prst="rect">
            <a:avLst/>
          </a:prstGeom>
          <a:solidFill>
            <a:srgbClr val="F6F6F6"/>
          </a:solidFill>
          <a:ln/>
        </p:spPr>
      </p:sp>
      <p:sp>
        <p:nvSpPr>
          <p:cNvPr id="7" name="Shape 5"/>
          <p:cNvSpPr/>
          <p:nvPr/>
        </p:nvSpPr>
        <p:spPr>
          <a:xfrm>
            <a:off x="457200" y="1783080"/>
            <a:ext cx="685800" cy="804672"/>
          </a:xfrm>
          <a:prstGeom prst="rect">
            <a:avLst/>
          </a:prstGeom>
          <a:solidFill>
            <a:srgbClr val="39C2D7"/>
          </a:solidFill>
          <a:ln/>
        </p:spPr>
      </p:sp>
      <p:sp>
        <p:nvSpPr>
          <p:cNvPr id="8" name="Text 6"/>
          <p:cNvSpPr txBox="1"/>
          <p:nvPr/>
        </p:nvSpPr>
        <p:spPr>
          <a:xfrm>
            <a:off x="457200" y="1783080"/>
            <a:ext cx="685800" cy="804672"/>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1</a:t>
            </a:r>
            <a:endParaRPr lang="en-US" sz="2200" dirty="0"/>
          </a:p>
        </p:txBody>
      </p:sp>
      <p:sp>
        <p:nvSpPr>
          <p:cNvPr id="9" name="Text 7"/>
          <p:cNvSpPr txBox="1"/>
          <p:nvPr/>
        </p:nvSpPr>
        <p:spPr>
          <a:xfrm>
            <a:off x="1325880" y="1783080"/>
            <a:ext cx="4572000" cy="804672"/>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Is this email spam? (yes / no, once)</a:t>
            </a:r>
            <a:endParaRPr lang="en-US" sz="1600" dirty="0"/>
          </a:p>
        </p:txBody>
      </p:sp>
      <p:sp>
        <p:nvSpPr>
          <p:cNvPr id="10" name="Shape 8"/>
          <p:cNvSpPr/>
          <p:nvPr/>
        </p:nvSpPr>
        <p:spPr>
          <a:xfrm>
            <a:off x="6172200" y="1783080"/>
            <a:ext cx="5532120" cy="804672"/>
          </a:xfrm>
          <a:prstGeom prst="rect">
            <a:avLst/>
          </a:prstGeom>
          <a:solidFill>
            <a:srgbClr val="F6F6F6"/>
          </a:solidFill>
          <a:ln/>
        </p:spPr>
      </p:sp>
      <p:sp>
        <p:nvSpPr>
          <p:cNvPr id="11" name="Shape 9"/>
          <p:cNvSpPr/>
          <p:nvPr/>
        </p:nvSpPr>
        <p:spPr>
          <a:xfrm>
            <a:off x="6172200" y="1783080"/>
            <a:ext cx="685800" cy="804672"/>
          </a:xfrm>
          <a:prstGeom prst="rect">
            <a:avLst/>
          </a:prstGeom>
          <a:solidFill>
            <a:srgbClr val="39C2D7"/>
          </a:solidFill>
          <a:ln/>
        </p:spPr>
      </p:sp>
      <p:sp>
        <p:nvSpPr>
          <p:cNvPr id="12" name="Text 10"/>
          <p:cNvSpPr txBox="1"/>
          <p:nvPr/>
        </p:nvSpPr>
        <p:spPr>
          <a:xfrm>
            <a:off x="6172200" y="1783080"/>
            <a:ext cx="685800" cy="804672"/>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2</a:t>
            </a:r>
            <a:endParaRPr lang="en-US" sz="2200" dirty="0"/>
          </a:p>
        </p:txBody>
      </p:sp>
      <p:sp>
        <p:nvSpPr>
          <p:cNvPr id="13" name="Text 11"/>
          <p:cNvSpPr txBox="1"/>
          <p:nvPr/>
        </p:nvSpPr>
        <p:spPr>
          <a:xfrm>
            <a:off x="7040880" y="1783080"/>
            <a:ext cx="4572000" cy="804672"/>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Number of heads in 20 coin flips</a:t>
            </a:r>
            <a:endParaRPr lang="en-US" sz="1600" dirty="0"/>
          </a:p>
        </p:txBody>
      </p:sp>
      <p:sp>
        <p:nvSpPr>
          <p:cNvPr id="14" name="Shape 12"/>
          <p:cNvSpPr/>
          <p:nvPr/>
        </p:nvSpPr>
        <p:spPr>
          <a:xfrm>
            <a:off x="457200" y="2743200"/>
            <a:ext cx="5532120" cy="804672"/>
          </a:xfrm>
          <a:prstGeom prst="rect">
            <a:avLst/>
          </a:prstGeom>
          <a:solidFill>
            <a:srgbClr val="F6F6F6"/>
          </a:solidFill>
          <a:ln/>
        </p:spPr>
      </p:sp>
      <p:sp>
        <p:nvSpPr>
          <p:cNvPr id="15" name="Shape 13"/>
          <p:cNvSpPr/>
          <p:nvPr/>
        </p:nvSpPr>
        <p:spPr>
          <a:xfrm>
            <a:off x="457200" y="2743200"/>
            <a:ext cx="685800" cy="804672"/>
          </a:xfrm>
          <a:prstGeom prst="rect">
            <a:avLst/>
          </a:prstGeom>
          <a:solidFill>
            <a:srgbClr val="39C2D7"/>
          </a:solidFill>
          <a:ln/>
        </p:spPr>
      </p:sp>
      <p:sp>
        <p:nvSpPr>
          <p:cNvPr id="16" name="Text 14"/>
          <p:cNvSpPr txBox="1"/>
          <p:nvPr/>
        </p:nvSpPr>
        <p:spPr>
          <a:xfrm>
            <a:off x="457200" y="2743200"/>
            <a:ext cx="685800" cy="804672"/>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3</a:t>
            </a:r>
            <a:endParaRPr lang="en-US" sz="2200" dirty="0"/>
          </a:p>
        </p:txBody>
      </p:sp>
      <p:sp>
        <p:nvSpPr>
          <p:cNvPr id="17" name="Text 15"/>
          <p:cNvSpPr txBox="1"/>
          <p:nvPr/>
        </p:nvSpPr>
        <p:spPr>
          <a:xfrm>
            <a:off x="1325880" y="2743200"/>
            <a:ext cx="4572000" cy="804672"/>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Customers arriving at a shop per hour</a:t>
            </a:r>
            <a:endParaRPr lang="en-US" sz="1600" dirty="0"/>
          </a:p>
        </p:txBody>
      </p:sp>
      <p:sp>
        <p:nvSpPr>
          <p:cNvPr id="18" name="Shape 16"/>
          <p:cNvSpPr/>
          <p:nvPr/>
        </p:nvSpPr>
        <p:spPr>
          <a:xfrm>
            <a:off x="6172200" y="2743200"/>
            <a:ext cx="5532120" cy="804672"/>
          </a:xfrm>
          <a:prstGeom prst="rect">
            <a:avLst/>
          </a:prstGeom>
          <a:solidFill>
            <a:srgbClr val="F6F6F6"/>
          </a:solidFill>
          <a:ln/>
        </p:spPr>
      </p:sp>
      <p:sp>
        <p:nvSpPr>
          <p:cNvPr id="19" name="Shape 17"/>
          <p:cNvSpPr/>
          <p:nvPr/>
        </p:nvSpPr>
        <p:spPr>
          <a:xfrm>
            <a:off x="6172200" y="2743200"/>
            <a:ext cx="685800" cy="804672"/>
          </a:xfrm>
          <a:prstGeom prst="rect">
            <a:avLst/>
          </a:prstGeom>
          <a:solidFill>
            <a:srgbClr val="39C2D7"/>
          </a:solidFill>
          <a:ln/>
        </p:spPr>
      </p:sp>
      <p:sp>
        <p:nvSpPr>
          <p:cNvPr id="20" name="Text 18"/>
          <p:cNvSpPr txBox="1"/>
          <p:nvPr/>
        </p:nvSpPr>
        <p:spPr>
          <a:xfrm>
            <a:off x="6172200" y="2743200"/>
            <a:ext cx="685800" cy="804672"/>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4</a:t>
            </a:r>
            <a:endParaRPr lang="en-US" sz="2200" dirty="0"/>
          </a:p>
        </p:txBody>
      </p:sp>
      <p:sp>
        <p:nvSpPr>
          <p:cNvPr id="21" name="Text 19"/>
          <p:cNvSpPr txBox="1"/>
          <p:nvPr/>
        </p:nvSpPr>
        <p:spPr>
          <a:xfrm>
            <a:off x="7040880" y="2743200"/>
            <a:ext cx="4572000" cy="804672"/>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Heights of all students in this university</a:t>
            </a:r>
            <a:endParaRPr lang="en-US" sz="1600" dirty="0"/>
          </a:p>
        </p:txBody>
      </p:sp>
      <p:sp>
        <p:nvSpPr>
          <p:cNvPr id="22" name="Shape 20"/>
          <p:cNvSpPr/>
          <p:nvPr/>
        </p:nvSpPr>
        <p:spPr>
          <a:xfrm>
            <a:off x="457200" y="3703320"/>
            <a:ext cx="5532120" cy="804672"/>
          </a:xfrm>
          <a:prstGeom prst="rect">
            <a:avLst/>
          </a:prstGeom>
          <a:solidFill>
            <a:srgbClr val="F6F6F6"/>
          </a:solidFill>
          <a:ln/>
        </p:spPr>
      </p:sp>
      <p:sp>
        <p:nvSpPr>
          <p:cNvPr id="23" name="Shape 21"/>
          <p:cNvSpPr/>
          <p:nvPr/>
        </p:nvSpPr>
        <p:spPr>
          <a:xfrm>
            <a:off x="457200" y="3703320"/>
            <a:ext cx="685800" cy="804672"/>
          </a:xfrm>
          <a:prstGeom prst="rect">
            <a:avLst/>
          </a:prstGeom>
          <a:solidFill>
            <a:srgbClr val="39C2D7"/>
          </a:solidFill>
          <a:ln/>
        </p:spPr>
      </p:sp>
      <p:sp>
        <p:nvSpPr>
          <p:cNvPr id="24" name="Text 22"/>
          <p:cNvSpPr txBox="1"/>
          <p:nvPr/>
        </p:nvSpPr>
        <p:spPr>
          <a:xfrm>
            <a:off x="457200" y="3703320"/>
            <a:ext cx="685800" cy="804672"/>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5</a:t>
            </a:r>
            <a:endParaRPr lang="en-US" sz="2200" dirty="0"/>
          </a:p>
        </p:txBody>
      </p:sp>
      <p:sp>
        <p:nvSpPr>
          <p:cNvPr id="25" name="Text 23"/>
          <p:cNvSpPr txBox="1"/>
          <p:nvPr/>
        </p:nvSpPr>
        <p:spPr>
          <a:xfrm>
            <a:off x="1325880" y="3703320"/>
            <a:ext cx="4572000" cy="804672"/>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Waiting time until the next bus arrives</a:t>
            </a:r>
            <a:endParaRPr lang="en-US" sz="1600" dirty="0"/>
          </a:p>
        </p:txBody>
      </p:sp>
      <p:sp>
        <p:nvSpPr>
          <p:cNvPr id="26" name="Shape 24"/>
          <p:cNvSpPr/>
          <p:nvPr/>
        </p:nvSpPr>
        <p:spPr>
          <a:xfrm>
            <a:off x="6172200" y="3703320"/>
            <a:ext cx="5532120" cy="804672"/>
          </a:xfrm>
          <a:prstGeom prst="rect">
            <a:avLst/>
          </a:prstGeom>
          <a:solidFill>
            <a:srgbClr val="F6F6F6"/>
          </a:solidFill>
          <a:ln/>
        </p:spPr>
      </p:sp>
      <p:sp>
        <p:nvSpPr>
          <p:cNvPr id="27" name="Shape 25"/>
          <p:cNvSpPr/>
          <p:nvPr/>
        </p:nvSpPr>
        <p:spPr>
          <a:xfrm>
            <a:off x="6172200" y="3703320"/>
            <a:ext cx="685800" cy="804672"/>
          </a:xfrm>
          <a:prstGeom prst="rect">
            <a:avLst/>
          </a:prstGeom>
          <a:solidFill>
            <a:srgbClr val="39C2D7"/>
          </a:solidFill>
          <a:ln/>
        </p:spPr>
      </p:sp>
      <p:sp>
        <p:nvSpPr>
          <p:cNvPr id="28" name="Text 26"/>
          <p:cNvSpPr txBox="1"/>
          <p:nvPr/>
        </p:nvSpPr>
        <p:spPr>
          <a:xfrm>
            <a:off x="6172200" y="3703320"/>
            <a:ext cx="685800" cy="804672"/>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6</a:t>
            </a:r>
            <a:endParaRPr lang="en-US" sz="2200" dirty="0"/>
          </a:p>
        </p:txBody>
      </p:sp>
      <p:sp>
        <p:nvSpPr>
          <p:cNvPr id="29" name="Text 27"/>
          <p:cNvSpPr txBox="1"/>
          <p:nvPr/>
        </p:nvSpPr>
        <p:spPr>
          <a:xfrm>
            <a:off x="7040880" y="3703320"/>
            <a:ext cx="4572000" cy="804672"/>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The face of one fair die roll</a:t>
            </a:r>
            <a:endParaRPr lang="en-US" sz="1600" dirty="0"/>
          </a:p>
        </p:txBody>
      </p:sp>
      <p:sp>
        <p:nvSpPr>
          <p:cNvPr id="30" name="Shape 28"/>
          <p:cNvSpPr/>
          <p:nvPr/>
        </p:nvSpPr>
        <p:spPr>
          <a:xfrm>
            <a:off x="457200" y="4800600"/>
            <a:ext cx="11247120" cy="777240"/>
          </a:xfrm>
          <a:prstGeom prst="rect">
            <a:avLst/>
          </a:prstGeom>
          <a:solidFill>
            <a:srgbClr val="FFFFFF"/>
          </a:solidFill>
          <a:ln w="25400">
            <a:solidFill>
              <a:srgbClr val="39C2D7"/>
            </a:solidFill>
            <a:prstDash val="solid"/>
          </a:ln>
        </p:spPr>
      </p:sp>
      <p:sp>
        <p:nvSpPr>
          <p:cNvPr id="31" name="Text 29"/>
          <p:cNvSpPr txBox="1"/>
          <p:nvPr/>
        </p:nvSpPr>
        <p:spPr>
          <a:xfrm>
            <a:off x="640080" y="4800600"/>
            <a:ext cx="10972800" cy="777240"/>
          </a:xfrm>
          <a:prstGeom prst="rect">
            <a:avLst/>
          </a:prstGeom>
          <a:noFill/>
          <a:ln/>
        </p:spPr>
        <p:txBody>
          <a:bodyPr wrap="square" lIns="0" tIns="0" rIns="0" bIns="0" rtlCol="0" anchor="ctr"/>
          <a:lstStyle/>
          <a:p>
            <a:pPr marL="0" indent="0" algn="ctr">
              <a:buNone/>
            </a:pPr>
            <a:r>
              <a:rPr lang="en-US" sz="1700" b="1" dirty="0">
                <a:solidFill>
                  <a:srgbClr val="39C2D7"/>
                </a:solidFill>
                <a:latin typeface="Montserrat" pitchFamily="34" charset="0"/>
                <a:ea typeface="Montserrat" pitchFamily="34" charset="-122"/>
                <a:cs typeface="Montserrat" pitchFamily="34" charset="-120"/>
              </a:rPr>
              <a:t>Choose from:   Bernoulli  |  Binomial  |  Poisson  |  Gaussian  |  Exponential  |  Uniform</a:t>
            </a:r>
            <a:endParaRPr lang="en-US" sz="1700" dirty="0"/>
          </a:p>
        </p:txBody>
      </p:sp>
      <p:sp>
        <p:nvSpPr>
          <p:cNvPr id="32" name="Text 30"/>
          <p:cNvSpPr txBox="1"/>
          <p:nvPr/>
        </p:nvSpPr>
        <p:spPr>
          <a:xfrm>
            <a:off x="457200" y="5760720"/>
            <a:ext cx="11247120" cy="365760"/>
          </a:xfrm>
          <a:prstGeom prst="rect">
            <a:avLst/>
          </a:prstGeom>
          <a:noFill/>
          <a:ln/>
        </p:spPr>
        <p:txBody>
          <a:bodyPr wrap="square" lIns="0" tIns="0" rIns="0" bIns="0" rtlCol="0" anchor="ctr"/>
          <a:lstStyle/>
          <a:p>
            <a:pPr marL="0" indent="0" algn="ctr">
              <a:buNone/>
            </a:pPr>
            <a:r>
              <a:rPr lang="en-US" sz="1500" i="1" dirty="0">
                <a:solidFill>
                  <a:srgbClr val="464547"/>
                </a:solidFill>
                <a:latin typeface="Calibri" pitchFamily="34" charset="0"/>
                <a:ea typeface="Calibri" pitchFamily="34" charset="-122"/>
                <a:cs typeface="Calibri" pitchFamily="34" charset="-120"/>
              </a:rPr>
              <a:t>Then vote each one on Menti (quiz mode = leaderboard!)</a:t>
            </a:r>
            <a:endParaRPr lang="en-US" sz="1500" dirty="0"/>
          </a:p>
        </p:txBody>
      </p:sp>
      <p:sp>
        <p:nvSpPr>
          <p:cNvPr id="33" name="Text 31"/>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34" name="Text 32"/>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Answers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~1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Name that distribution - answers</a:t>
            </a:r>
            <a:endParaRPr lang="en-US" sz="2500" dirty="0"/>
          </a:p>
        </p:txBody>
      </p:sp>
      <p:sp>
        <p:nvSpPr>
          <p:cNvPr id="6" name="Shape 4"/>
          <p:cNvSpPr/>
          <p:nvPr/>
        </p:nvSpPr>
        <p:spPr>
          <a:xfrm>
            <a:off x="457200" y="1783080"/>
            <a:ext cx="5532120" cy="868680"/>
          </a:xfrm>
          <a:prstGeom prst="rect">
            <a:avLst/>
          </a:prstGeom>
          <a:solidFill>
            <a:srgbClr val="F6F6F6"/>
          </a:solidFill>
          <a:ln/>
        </p:spPr>
      </p:sp>
      <p:sp>
        <p:nvSpPr>
          <p:cNvPr id="7" name="Text 5"/>
          <p:cNvSpPr txBox="1"/>
          <p:nvPr/>
        </p:nvSpPr>
        <p:spPr>
          <a:xfrm>
            <a:off x="731520" y="1783080"/>
            <a:ext cx="3017520" cy="868680"/>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1.  spam yes/no, once</a:t>
            </a:r>
            <a:endParaRPr lang="en-US" sz="1600" dirty="0"/>
          </a:p>
        </p:txBody>
      </p:sp>
      <p:sp>
        <p:nvSpPr>
          <p:cNvPr id="8" name="Shape 6"/>
          <p:cNvSpPr/>
          <p:nvPr/>
        </p:nvSpPr>
        <p:spPr>
          <a:xfrm>
            <a:off x="3749040" y="1920240"/>
            <a:ext cx="2057400" cy="594360"/>
          </a:xfrm>
          <a:prstGeom prst="rect">
            <a:avLst/>
          </a:prstGeom>
          <a:solidFill>
            <a:srgbClr val="39C2D7"/>
          </a:solidFill>
          <a:ln/>
        </p:spPr>
      </p:sp>
      <p:sp>
        <p:nvSpPr>
          <p:cNvPr id="9" name="Text 7"/>
          <p:cNvSpPr txBox="1"/>
          <p:nvPr/>
        </p:nvSpPr>
        <p:spPr>
          <a:xfrm>
            <a:off x="3749040" y="1920240"/>
            <a:ext cx="20574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Bernoulli</a:t>
            </a:r>
            <a:endParaRPr lang="en-US" sz="1400" dirty="0"/>
          </a:p>
        </p:txBody>
      </p:sp>
      <p:sp>
        <p:nvSpPr>
          <p:cNvPr id="10" name="Shape 8"/>
          <p:cNvSpPr/>
          <p:nvPr/>
        </p:nvSpPr>
        <p:spPr>
          <a:xfrm>
            <a:off x="6172200" y="1783080"/>
            <a:ext cx="5532120" cy="868680"/>
          </a:xfrm>
          <a:prstGeom prst="rect">
            <a:avLst/>
          </a:prstGeom>
          <a:solidFill>
            <a:srgbClr val="F6F6F6"/>
          </a:solidFill>
          <a:ln/>
        </p:spPr>
      </p:sp>
      <p:sp>
        <p:nvSpPr>
          <p:cNvPr id="11" name="Text 9"/>
          <p:cNvSpPr txBox="1"/>
          <p:nvPr/>
        </p:nvSpPr>
        <p:spPr>
          <a:xfrm>
            <a:off x="6446520" y="1783080"/>
            <a:ext cx="3017520" cy="868680"/>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2.  heads in 20 flips</a:t>
            </a:r>
            <a:endParaRPr lang="en-US" sz="1600" dirty="0"/>
          </a:p>
        </p:txBody>
      </p:sp>
      <p:sp>
        <p:nvSpPr>
          <p:cNvPr id="12" name="Shape 10"/>
          <p:cNvSpPr/>
          <p:nvPr/>
        </p:nvSpPr>
        <p:spPr>
          <a:xfrm>
            <a:off x="9464040" y="1920240"/>
            <a:ext cx="2057400" cy="594360"/>
          </a:xfrm>
          <a:prstGeom prst="rect">
            <a:avLst/>
          </a:prstGeom>
          <a:solidFill>
            <a:srgbClr val="39C2D7"/>
          </a:solidFill>
          <a:ln/>
        </p:spPr>
      </p:sp>
      <p:sp>
        <p:nvSpPr>
          <p:cNvPr id="13" name="Text 11"/>
          <p:cNvSpPr txBox="1"/>
          <p:nvPr/>
        </p:nvSpPr>
        <p:spPr>
          <a:xfrm>
            <a:off x="9464040" y="1920240"/>
            <a:ext cx="20574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Binomial</a:t>
            </a:r>
            <a:endParaRPr lang="en-US" sz="1400" dirty="0"/>
          </a:p>
        </p:txBody>
      </p:sp>
      <p:sp>
        <p:nvSpPr>
          <p:cNvPr id="14" name="Shape 12"/>
          <p:cNvSpPr/>
          <p:nvPr/>
        </p:nvSpPr>
        <p:spPr>
          <a:xfrm>
            <a:off x="457200" y="2834640"/>
            <a:ext cx="5532120" cy="868680"/>
          </a:xfrm>
          <a:prstGeom prst="rect">
            <a:avLst/>
          </a:prstGeom>
          <a:solidFill>
            <a:srgbClr val="F6F6F6"/>
          </a:solidFill>
          <a:ln/>
        </p:spPr>
      </p:sp>
      <p:sp>
        <p:nvSpPr>
          <p:cNvPr id="15" name="Text 13"/>
          <p:cNvSpPr txBox="1"/>
          <p:nvPr/>
        </p:nvSpPr>
        <p:spPr>
          <a:xfrm>
            <a:off x="731520" y="2834640"/>
            <a:ext cx="3017520" cy="868680"/>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3.  customers per hour</a:t>
            </a:r>
            <a:endParaRPr lang="en-US" sz="1600" dirty="0"/>
          </a:p>
        </p:txBody>
      </p:sp>
      <p:sp>
        <p:nvSpPr>
          <p:cNvPr id="16" name="Shape 14"/>
          <p:cNvSpPr/>
          <p:nvPr/>
        </p:nvSpPr>
        <p:spPr>
          <a:xfrm>
            <a:off x="3749040" y="2971800"/>
            <a:ext cx="2057400" cy="594360"/>
          </a:xfrm>
          <a:prstGeom prst="rect">
            <a:avLst/>
          </a:prstGeom>
          <a:solidFill>
            <a:srgbClr val="39C2D7"/>
          </a:solidFill>
          <a:ln/>
        </p:spPr>
      </p:sp>
      <p:sp>
        <p:nvSpPr>
          <p:cNvPr id="17" name="Text 15"/>
          <p:cNvSpPr txBox="1"/>
          <p:nvPr/>
        </p:nvSpPr>
        <p:spPr>
          <a:xfrm>
            <a:off x="3749040" y="2971800"/>
            <a:ext cx="20574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Poisson</a:t>
            </a:r>
            <a:endParaRPr lang="en-US" sz="1400" dirty="0"/>
          </a:p>
        </p:txBody>
      </p:sp>
      <p:sp>
        <p:nvSpPr>
          <p:cNvPr id="18" name="Shape 16"/>
          <p:cNvSpPr/>
          <p:nvPr/>
        </p:nvSpPr>
        <p:spPr>
          <a:xfrm>
            <a:off x="6172200" y="2834640"/>
            <a:ext cx="5532120" cy="868680"/>
          </a:xfrm>
          <a:prstGeom prst="rect">
            <a:avLst/>
          </a:prstGeom>
          <a:solidFill>
            <a:srgbClr val="F6F6F6"/>
          </a:solidFill>
          <a:ln/>
        </p:spPr>
      </p:sp>
      <p:sp>
        <p:nvSpPr>
          <p:cNvPr id="19" name="Text 17"/>
          <p:cNvSpPr txBox="1"/>
          <p:nvPr/>
        </p:nvSpPr>
        <p:spPr>
          <a:xfrm>
            <a:off x="6446520" y="2834640"/>
            <a:ext cx="3017520" cy="868680"/>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4.  student heights</a:t>
            </a:r>
            <a:endParaRPr lang="en-US" sz="1600" dirty="0"/>
          </a:p>
        </p:txBody>
      </p:sp>
      <p:sp>
        <p:nvSpPr>
          <p:cNvPr id="20" name="Shape 18"/>
          <p:cNvSpPr/>
          <p:nvPr/>
        </p:nvSpPr>
        <p:spPr>
          <a:xfrm>
            <a:off x="9464040" y="2971800"/>
            <a:ext cx="2057400" cy="594360"/>
          </a:xfrm>
          <a:prstGeom prst="rect">
            <a:avLst/>
          </a:prstGeom>
          <a:solidFill>
            <a:srgbClr val="39C2D7"/>
          </a:solidFill>
          <a:ln/>
        </p:spPr>
      </p:sp>
      <p:sp>
        <p:nvSpPr>
          <p:cNvPr id="21" name="Text 19"/>
          <p:cNvSpPr txBox="1"/>
          <p:nvPr/>
        </p:nvSpPr>
        <p:spPr>
          <a:xfrm>
            <a:off x="9464040" y="2971800"/>
            <a:ext cx="20574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Gaussian</a:t>
            </a:r>
            <a:endParaRPr lang="en-US" sz="1400" dirty="0"/>
          </a:p>
        </p:txBody>
      </p:sp>
      <p:sp>
        <p:nvSpPr>
          <p:cNvPr id="22" name="Shape 20"/>
          <p:cNvSpPr/>
          <p:nvPr/>
        </p:nvSpPr>
        <p:spPr>
          <a:xfrm>
            <a:off x="457200" y="3886200"/>
            <a:ext cx="5532120" cy="868680"/>
          </a:xfrm>
          <a:prstGeom prst="rect">
            <a:avLst/>
          </a:prstGeom>
          <a:solidFill>
            <a:srgbClr val="F6F6F6"/>
          </a:solidFill>
          <a:ln/>
        </p:spPr>
      </p:sp>
      <p:sp>
        <p:nvSpPr>
          <p:cNvPr id="23" name="Text 21"/>
          <p:cNvSpPr txBox="1"/>
          <p:nvPr/>
        </p:nvSpPr>
        <p:spPr>
          <a:xfrm>
            <a:off x="731520" y="3886200"/>
            <a:ext cx="3017520" cy="868680"/>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5.  waiting for the bus</a:t>
            </a:r>
            <a:endParaRPr lang="en-US" sz="1600" dirty="0"/>
          </a:p>
        </p:txBody>
      </p:sp>
      <p:sp>
        <p:nvSpPr>
          <p:cNvPr id="24" name="Shape 22"/>
          <p:cNvSpPr/>
          <p:nvPr/>
        </p:nvSpPr>
        <p:spPr>
          <a:xfrm>
            <a:off x="3749040" y="4023360"/>
            <a:ext cx="2057400" cy="594360"/>
          </a:xfrm>
          <a:prstGeom prst="rect">
            <a:avLst/>
          </a:prstGeom>
          <a:solidFill>
            <a:srgbClr val="39C2D7"/>
          </a:solidFill>
          <a:ln/>
        </p:spPr>
      </p:sp>
      <p:sp>
        <p:nvSpPr>
          <p:cNvPr id="25" name="Text 23"/>
          <p:cNvSpPr txBox="1"/>
          <p:nvPr/>
        </p:nvSpPr>
        <p:spPr>
          <a:xfrm>
            <a:off x="3749040" y="4023360"/>
            <a:ext cx="20574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Exponential</a:t>
            </a:r>
            <a:endParaRPr lang="en-US" sz="1400" dirty="0"/>
          </a:p>
        </p:txBody>
      </p:sp>
      <p:sp>
        <p:nvSpPr>
          <p:cNvPr id="26" name="Shape 24"/>
          <p:cNvSpPr/>
          <p:nvPr/>
        </p:nvSpPr>
        <p:spPr>
          <a:xfrm>
            <a:off x="6172200" y="3886200"/>
            <a:ext cx="5532120" cy="868680"/>
          </a:xfrm>
          <a:prstGeom prst="rect">
            <a:avLst/>
          </a:prstGeom>
          <a:solidFill>
            <a:srgbClr val="F6F6F6"/>
          </a:solidFill>
          <a:ln/>
        </p:spPr>
      </p:sp>
      <p:sp>
        <p:nvSpPr>
          <p:cNvPr id="27" name="Text 25"/>
          <p:cNvSpPr txBox="1"/>
          <p:nvPr/>
        </p:nvSpPr>
        <p:spPr>
          <a:xfrm>
            <a:off x="6446520" y="3886200"/>
            <a:ext cx="3017520" cy="868680"/>
          </a:xfrm>
          <a:prstGeom prst="rect">
            <a:avLst/>
          </a:prstGeom>
          <a:noFill/>
          <a:ln/>
        </p:spPr>
        <p:txBody>
          <a:bodyPr wrap="square" lIns="0" tIns="0" rIns="0" bIns="0" rtlCol="0" anchor="ctr"/>
          <a:lstStyle/>
          <a:p>
            <a:pPr marL="0" indent="0">
              <a:buNone/>
            </a:pPr>
            <a:r>
              <a:rPr lang="en-US" sz="1600" dirty="0">
                <a:solidFill>
                  <a:srgbClr val="222222"/>
                </a:solidFill>
                <a:latin typeface="Calibri" pitchFamily="34" charset="0"/>
                <a:ea typeface="Calibri" pitchFamily="34" charset="-122"/>
                <a:cs typeface="Calibri" pitchFamily="34" charset="-120"/>
              </a:rPr>
              <a:t>6.  one fair die roll</a:t>
            </a:r>
            <a:endParaRPr lang="en-US" sz="1600" dirty="0"/>
          </a:p>
        </p:txBody>
      </p:sp>
      <p:sp>
        <p:nvSpPr>
          <p:cNvPr id="28" name="Shape 26"/>
          <p:cNvSpPr/>
          <p:nvPr/>
        </p:nvSpPr>
        <p:spPr>
          <a:xfrm>
            <a:off x="9464040" y="4023360"/>
            <a:ext cx="2057400" cy="594360"/>
          </a:xfrm>
          <a:prstGeom prst="rect">
            <a:avLst/>
          </a:prstGeom>
          <a:solidFill>
            <a:srgbClr val="39C2D7"/>
          </a:solidFill>
          <a:ln/>
        </p:spPr>
      </p:sp>
      <p:sp>
        <p:nvSpPr>
          <p:cNvPr id="29" name="Text 27"/>
          <p:cNvSpPr txBox="1"/>
          <p:nvPr/>
        </p:nvSpPr>
        <p:spPr>
          <a:xfrm>
            <a:off x="9464040" y="4023360"/>
            <a:ext cx="20574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Uniform (discrete)</a:t>
            </a:r>
            <a:endParaRPr lang="en-US" sz="1400" dirty="0"/>
          </a:p>
        </p:txBody>
      </p:sp>
      <p:sp>
        <p:nvSpPr>
          <p:cNvPr id="30" name="Text 28"/>
          <p:cNvSpPr txBox="1"/>
          <p:nvPr/>
        </p:nvSpPr>
        <p:spPr>
          <a:xfrm>
            <a:off x="457200" y="5074920"/>
            <a:ext cx="11247120" cy="731520"/>
          </a:xfrm>
          <a:prstGeom prst="rect">
            <a:avLst/>
          </a:prstGeom>
          <a:noFill/>
          <a:ln/>
        </p:spPr>
        <p:txBody>
          <a:bodyPr wrap="square" lIns="0" tIns="0" rIns="0" bIns="0" rtlCol="0" anchor="ctr"/>
          <a:lstStyle/>
          <a:p>
            <a:pPr marL="0" indent="0" algn="ctr">
              <a:buNone/>
            </a:pPr>
            <a:r>
              <a:rPr lang="en-US" sz="1600" i="1" dirty="0">
                <a:solidFill>
                  <a:srgbClr val="39C2D7"/>
                </a:solidFill>
                <a:latin typeface="Calibri" pitchFamily="34" charset="0"/>
                <a:ea typeface="Calibri" pitchFamily="34" charset="-122"/>
                <a:cs typeface="Calibri" pitchFamily="34" charset="-120"/>
              </a:rPr>
              <a:t>Trick: yes/no -&gt; Bernoulli.  Count of yes -&gt; Binomial.  Count per time -&gt; Poisson.  Time between -&gt; Exponential.</a:t>
            </a:r>
            <a:endParaRPr lang="en-US" sz="1600" dirty="0"/>
          </a:p>
        </p:txBody>
      </p:sp>
      <p:sp>
        <p:nvSpPr>
          <p:cNvPr id="31" name="Text 29"/>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32" name="Text 30"/>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3657600" cy="502920"/>
          </a:xfrm>
          <a:prstGeom prst="rect">
            <a:avLst/>
          </a:prstGeom>
          <a:solidFill>
            <a:srgbClr val="39C2D7"/>
          </a:solidFill>
          <a:ln/>
        </p:spPr>
      </p:sp>
      <p:sp>
        <p:nvSpPr>
          <p:cNvPr id="3" name="Text 1"/>
          <p:cNvSpPr txBox="1"/>
          <p:nvPr/>
        </p:nvSpPr>
        <p:spPr>
          <a:xfrm>
            <a:off x="457200" y="411480"/>
            <a:ext cx="36576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Expectation &amp; spread</a:t>
            </a:r>
            <a:endParaRPr lang="en-US" sz="14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Expected value, variance, covariance</a:t>
            </a:r>
            <a:endParaRPr lang="en-US" sz="2500" dirty="0"/>
          </a:p>
        </p:txBody>
      </p:sp>
      <p:pic>
        <p:nvPicPr>
          <p:cNvPr id="6" name="Image 0" descr="/home/claude/d78/variance.png"/>
          <p:cNvPicPr>
            <a:picLocks noChangeAspect="1"/>
          </p:cNvPicPr>
          <p:nvPr/>
        </p:nvPicPr>
        <p:blipFill>
          <a:blip r:embed="rId3"/>
          <a:stretch>
            <a:fillRect/>
          </a:stretch>
        </p:blipFill>
        <p:spPr>
          <a:xfrm>
            <a:off x="1299724" y="1691640"/>
            <a:ext cx="9562073"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Expected value = long-run average: fair die -&gt; 3.5     |     Variance = how spread out (archer A vs B)     |     Covariance = do two features move together?</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loss = EXPECTED error; covariance matrix is the heart of PCA (Topic 6).</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633472" cy="502920"/>
          </a:xfrm>
          <a:prstGeom prst="rect">
            <a:avLst/>
          </a:prstGeom>
          <a:solidFill>
            <a:srgbClr val="39C2D7"/>
          </a:solidFill>
          <a:ln/>
        </p:spPr>
      </p:sp>
      <p:sp>
        <p:nvSpPr>
          <p:cNvPr id="3" name="Text 1"/>
          <p:cNvSpPr txBox="1"/>
          <p:nvPr/>
        </p:nvSpPr>
        <p:spPr>
          <a:xfrm>
            <a:off x="457200" y="411480"/>
            <a:ext cx="263347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Big data laws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Law of Large Numbers &amp; Central Limit Theorem</a:t>
            </a:r>
            <a:endParaRPr lang="en-US" sz="2500" dirty="0"/>
          </a:p>
        </p:txBody>
      </p:sp>
      <p:pic>
        <p:nvPicPr>
          <p:cNvPr id="6" name="Image 0" descr="/home/claude/d78/lln_clt.png"/>
          <p:cNvPicPr>
            <a:picLocks noChangeAspect="1"/>
          </p:cNvPicPr>
          <p:nvPr/>
        </p:nvPicPr>
        <p:blipFill>
          <a:blip r:embed="rId3"/>
          <a:stretch>
            <a:fillRect/>
          </a:stretch>
        </p:blipFill>
        <p:spPr>
          <a:xfrm>
            <a:off x="751869" y="1691640"/>
            <a:ext cx="10657781"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LLN: more data -&gt; average gets closer to the truth     |     CLT: averages of many samples form a BELL curve     |     ...even when the raw data is skewed!</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LLN = why more data makes models more stable; CLT = why we can build confidence intervals.</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3218688" cy="502920"/>
          </a:xfrm>
          <a:prstGeom prst="rect">
            <a:avLst/>
          </a:prstGeom>
          <a:solidFill>
            <a:srgbClr val="39C2D7"/>
          </a:solidFill>
          <a:ln/>
        </p:spPr>
      </p:sp>
      <p:sp>
        <p:nvSpPr>
          <p:cNvPr id="3" name="Text 1"/>
          <p:cNvSpPr txBox="1"/>
          <p:nvPr/>
        </p:nvSpPr>
        <p:spPr>
          <a:xfrm>
            <a:off x="457200" y="411480"/>
            <a:ext cx="3218688"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Descriptive stats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Describe the data: centre and spread</a:t>
            </a:r>
            <a:endParaRPr lang="en-US" sz="2500" dirty="0"/>
          </a:p>
        </p:txBody>
      </p:sp>
      <p:pic>
        <p:nvPicPr>
          <p:cNvPr id="6" name="Image 0" descr="/home/claude/d78/mean_median.png"/>
          <p:cNvPicPr>
            <a:picLocks noChangeAspect="1"/>
          </p:cNvPicPr>
          <p:nvPr/>
        </p:nvPicPr>
        <p:blipFill>
          <a:blip r:embed="rId3"/>
          <a:stretch>
            <a:fillRect/>
          </a:stretch>
        </p:blipFill>
        <p:spPr>
          <a:xfrm>
            <a:off x="411480" y="2274913"/>
            <a:ext cx="7315200" cy="3405454"/>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Centre: mean, median, mode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Spread: range, variance, standard deviation</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One CEO joins -&gt; mean jumps to 3060, median stays 1200</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that's why we impute with the MEDIAN when there are outliers (Topic 5!).</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926080" cy="502920"/>
          </a:xfrm>
          <a:prstGeom prst="rect">
            <a:avLst/>
          </a:prstGeom>
          <a:solidFill>
            <a:srgbClr val="39C2D7"/>
          </a:solidFill>
          <a:ln/>
        </p:spPr>
      </p:sp>
      <p:sp>
        <p:nvSpPr>
          <p:cNvPr id="3" name="Text 1"/>
          <p:cNvSpPr txBox="1"/>
          <p:nvPr/>
        </p:nvSpPr>
        <p:spPr>
          <a:xfrm>
            <a:off x="457200" y="411480"/>
            <a:ext cx="292608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Hypothesis test</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Inferential stats: the courtroom</a:t>
            </a:r>
            <a:endParaRPr lang="en-US" sz="2500" dirty="0"/>
          </a:p>
        </p:txBody>
      </p:sp>
      <p:pic>
        <p:nvPicPr>
          <p:cNvPr id="6" name="Image 0" descr="/home/claude/d78/hypothesis.png"/>
          <p:cNvPicPr>
            <a:picLocks noChangeAspect="1"/>
          </p:cNvPicPr>
          <p:nvPr/>
        </p:nvPicPr>
        <p:blipFill>
          <a:blip r:embed="rId3"/>
          <a:stretch>
            <a:fillRect/>
          </a:stretch>
        </p:blipFill>
        <p:spPr>
          <a:xfrm>
            <a:off x="411480" y="2280632"/>
            <a:ext cx="7315200" cy="3394016"/>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Null hypothesis H0 = 'innocent' (no effect)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Alternative H1 = 'guilty' (there is an effect)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p-value = how surprising the evidence is IF H0 were true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p &lt; 0.05 -&gt; surprising -&gt; reject H0</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is model B REALLY better than model A, or just lucky on this test set?</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3511296" cy="502920"/>
          </a:xfrm>
          <a:prstGeom prst="rect">
            <a:avLst/>
          </a:prstGeom>
          <a:solidFill>
            <a:srgbClr val="39C2D7"/>
          </a:solidFill>
          <a:ln/>
        </p:spPr>
      </p:sp>
      <p:sp>
        <p:nvSpPr>
          <p:cNvPr id="3" name="Text 1"/>
          <p:cNvSpPr txBox="1"/>
          <p:nvPr/>
        </p:nvSpPr>
        <p:spPr>
          <a:xfrm>
            <a:off x="457200" y="411480"/>
            <a:ext cx="3511296"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Confidence interval</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Confidence interval = a fishing net</a:t>
            </a:r>
            <a:endParaRPr lang="en-US" sz="2500" dirty="0"/>
          </a:p>
        </p:txBody>
      </p:sp>
      <p:pic>
        <p:nvPicPr>
          <p:cNvPr id="6" name="Image 0" descr="/home/claude/d78/ci_nets.png"/>
          <p:cNvPicPr>
            <a:picLocks noChangeAspect="1"/>
          </p:cNvPicPr>
          <p:nvPr/>
        </p:nvPicPr>
        <p:blipFill>
          <a:blip r:embed="rId3"/>
          <a:stretch>
            <a:fillRect/>
          </a:stretch>
        </p:blipFill>
        <p:spPr>
          <a:xfrm>
            <a:off x="411480" y="2191853"/>
            <a:ext cx="7315200" cy="3571574"/>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We can't see the true mean (the fish)</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Each sample throws a net (interval)</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95% CI: 95 of 100 such nets catch the fish</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Wider net = more data needed to shrink it</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report accuracy as 87% +/- 2%, not just 87% - that's honest ML.</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4096512" cy="502920"/>
          </a:xfrm>
          <a:prstGeom prst="rect">
            <a:avLst/>
          </a:prstGeom>
          <a:solidFill>
            <a:srgbClr val="FFFFFF"/>
          </a:solidFill>
          <a:ln/>
        </p:spPr>
      </p:sp>
      <p:sp>
        <p:nvSpPr>
          <p:cNvPr id="3" name="Text 1"/>
          <p:cNvSpPr txBox="1"/>
          <p:nvPr/>
        </p:nvSpPr>
        <p:spPr>
          <a:xfrm>
            <a:off x="457200" y="411480"/>
            <a:ext cx="4096512"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True or false</a:t>
            </a:r>
            <a:endParaRPr lang="en-US" sz="1400" dirty="0"/>
          </a:p>
        </p:txBody>
      </p:sp>
      <p:sp>
        <p:nvSpPr>
          <p:cNvPr id="5" name="Shape 3"/>
          <p:cNvSpPr/>
          <p:nvPr/>
        </p:nvSpPr>
        <p:spPr>
          <a:xfrm>
            <a:off x="7818120" y="1051560"/>
            <a:ext cx="3931920" cy="502920"/>
          </a:xfrm>
          <a:prstGeom prst="rect">
            <a:avLst/>
          </a:prstGeom>
          <a:solidFill>
            <a:srgbClr val="FFFFFF"/>
          </a:solidFill>
          <a:ln/>
        </p:spPr>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400" b="1" dirty="0">
                <a:solidFill>
                  <a:srgbClr val="FFFFFF"/>
                </a:solidFill>
                <a:latin typeface="Montserrat" pitchFamily="34" charset="0"/>
                <a:ea typeface="Montserrat" pitchFamily="34" charset="-122"/>
                <a:cs typeface="Montserrat" pitchFamily="34" charset="-120"/>
              </a:rPr>
              <a:t>'p = 0.03' means there is a 3% chance that the null hypothesis is true.</a:t>
            </a:r>
            <a:endParaRPr lang="en-US" sz="2400" dirty="0"/>
          </a:p>
        </p:txBody>
      </p:sp>
      <p:sp>
        <p:nvSpPr>
          <p:cNvPr id="8" name="Shape 6"/>
          <p:cNvSpPr/>
          <p:nvPr/>
        </p:nvSpPr>
        <p:spPr>
          <a:xfrm>
            <a:off x="822960" y="3108960"/>
            <a:ext cx="10515600" cy="621792"/>
          </a:xfrm>
          <a:prstGeom prst="rect">
            <a:avLst/>
          </a:prstGeom>
          <a:solidFill>
            <a:srgbClr val="FFFFFF"/>
          </a:solidFill>
          <a:ln/>
        </p:spPr>
      </p:sp>
      <p:sp>
        <p:nvSpPr>
          <p:cNvPr id="9" name="Text 7"/>
          <p:cNvSpPr txBox="1"/>
          <p:nvPr/>
        </p:nvSpPr>
        <p:spPr>
          <a:xfrm>
            <a:off x="1097280" y="3108960"/>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A)  True</a:t>
            </a:r>
            <a:endParaRPr lang="en-US" sz="1900" dirty="0"/>
          </a:p>
        </p:txBody>
      </p:sp>
      <p:sp>
        <p:nvSpPr>
          <p:cNvPr id="10" name="Shape 8"/>
          <p:cNvSpPr/>
          <p:nvPr/>
        </p:nvSpPr>
        <p:spPr>
          <a:xfrm>
            <a:off x="822960" y="3858768"/>
            <a:ext cx="10515600" cy="621792"/>
          </a:xfrm>
          <a:prstGeom prst="rect">
            <a:avLst/>
          </a:prstGeom>
          <a:solidFill>
            <a:srgbClr val="FFFFFF"/>
          </a:solidFill>
          <a:ln/>
        </p:spPr>
      </p:sp>
      <p:sp>
        <p:nvSpPr>
          <p:cNvPr id="11" name="Text 9"/>
          <p:cNvSpPr txBox="1"/>
          <p:nvPr/>
        </p:nvSpPr>
        <p:spPr>
          <a:xfrm>
            <a:off x="1097280" y="3858768"/>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B)  False</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40864" cy="502920"/>
          </a:xfrm>
          <a:prstGeom prst="rect">
            <a:avLst/>
          </a:prstGeom>
          <a:solidFill>
            <a:srgbClr val="39C2D7"/>
          </a:solidFill>
          <a:ln/>
        </p:spPr>
      </p:sp>
      <p:sp>
        <p:nvSpPr>
          <p:cNvPr id="3" name="Text 1"/>
          <p:cNvSpPr txBox="1"/>
          <p:nvPr/>
        </p:nvSpPr>
        <p:spPr>
          <a:xfrm>
            <a:off x="457200" y="411480"/>
            <a:ext cx="2340864"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Correlation</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Correlation is NOT causation</a:t>
            </a:r>
            <a:endParaRPr lang="en-US" sz="2500" dirty="0"/>
          </a:p>
        </p:txBody>
      </p:sp>
      <p:pic>
        <p:nvPicPr>
          <p:cNvPr id="6" name="Image 0" descr="/home/claude/d78/icecream.png"/>
          <p:cNvPicPr>
            <a:picLocks noChangeAspect="1"/>
          </p:cNvPicPr>
          <p:nvPr/>
        </p:nvPicPr>
        <p:blipFill>
          <a:blip r:embed="rId3"/>
          <a:stretch>
            <a:fillRect/>
          </a:stretch>
        </p:blipFill>
        <p:spPr>
          <a:xfrm>
            <a:off x="411480" y="2280632"/>
            <a:ext cx="7315200" cy="3394016"/>
          </a:xfrm>
          <a:prstGeom prst="rect">
            <a:avLst/>
          </a:prstGeom>
        </p:spPr>
      </p:pic>
      <p:sp>
        <p:nvSpPr>
          <p:cNvPr id="7" name="Shape 4"/>
          <p:cNvSpPr/>
          <p:nvPr/>
        </p:nvSpPr>
        <p:spPr>
          <a:xfrm>
            <a:off x="7955280" y="1737360"/>
            <a:ext cx="3794760" cy="4480560"/>
          </a:xfrm>
          <a:prstGeom prst="rect">
            <a:avLst/>
          </a:prstGeom>
          <a:solidFill>
            <a:srgbClr val="F6F6F6"/>
          </a:solidFill>
          <a:ln/>
        </p:spPr>
      </p:sp>
      <p:sp>
        <p:nvSpPr>
          <p:cNvPr id="8" name="Shape 5"/>
          <p:cNvSpPr/>
          <p:nvPr/>
        </p:nvSpPr>
        <p:spPr>
          <a:xfrm>
            <a:off x="7955280" y="1737360"/>
            <a:ext cx="3794760" cy="457200"/>
          </a:xfrm>
          <a:prstGeom prst="rect">
            <a:avLst/>
          </a:prstGeom>
          <a:solidFill>
            <a:srgbClr val="39C2D7"/>
          </a:solidFill>
          <a:ln/>
        </p:spPr>
      </p:sp>
      <p:sp>
        <p:nvSpPr>
          <p:cNvPr id="9" name="Text 6"/>
          <p:cNvSpPr txBox="1"/>
          <p:nvPr/>
        </p:nvSpPr>
        <p:spPr>
          <a:xfrm>
            <a:off x="8138160" y="1737360"/>
            <a:ext cx="3474720" cy="45720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KEY IDEA</a:t>
            </a:r>
            <a:endParaRPr lang="en-US" sz="1300" dirty="0"/>
          </a:p>
        </p:txBody>
      </p:sp>
      <p:sp>
        <p:nvSpPr>
          <p:cNvPr id="10" name="Text 7"/>
          <p:cNvSpPr/>
          <p:nvPr/>
        </p:nvSpPr>
        <p:spPr>
          <a:xfrm>
            <a:off x="8092440" y="2331720"/>
            <a:ext cx="3520440" cy="2743200"/>
          </a:xfrm>
          <a:prstGeom prst="rect">
            <a:avLst/>
          </a:prstGeom>
          <a:noFill/>
          <a:ln/>
        </p:spPr>
        <p:txBody>
          <a:bodyPr wrap="square" lIns="254" tIns="254" rIns="254" bIns="254"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Correlation: two things move together (-1 to +1)</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Causation: one MAKES the other happen</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Ice cream doesn't cause drowning - summer heat drives both</a:t>
            </a:r>
            <a:endParaRPr lang="en-US" sz="1500" dirty="0"/>
          </a:p>
        </p:txBody>
      </p:sp>
      <p:sp>
        <p:nvSpPr>
          <p:cNvPr id="11" name="Shape 8"/>
          <p:cNvSpPr/>
          <p:nvPr/>
        </p:nvSpPr>
        <p:spPr>
          <a:xfrm>
            <a:off x="8092440" y="5166360"/>
            <a:ext cx="3520440" cy="914400"/>
          </a:xfrm>
          <a:prstGeom prst="rect">
            <a:avLst/>
          </a:prstGeom>
          <a:solidFill>
            <a:srgbClr val="FFFFFF"/>
          </a:solidFill>
          <a:ln w="19050">
            <a:solidFill>
              <a:srgbClr val="39C2D7"/>
            </a:solidFill>
            <a:prstDash val="solid"/>
          </a:ln>
        </p:spPr>
      </p:sp>
      <p:sp>
        <p:nvSpPr>
          <p:cNvPr id="12" name="Text 9"/>
          <p:cNvSpPr/>
          <p:nvPr/>
        </p:nvSpPr>
        <p:spPr>
          <a:xfrm>
            <a:off x="8183880" y="5166360"/>
            <a:ext cx="3383280" cy="914400"/>
          </a:xfrm>
          <a:prstGeom prst="rect">
            <a:avLst/>
          </a:prstGeom>
          <a:noFill/>
          <a:ln/>
        </p:spPr>
        <p:txBody>
          <a:bodyPr wrap="square" lIns="254" tIns="254" rIns="254" bIns="254"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In ML:  </a:t>
            </a:r>
            <a:r>
              <a:rPr lang="en-US" sz="1300" dirty="0">
                <a:solidFill>
                  <a:srgbClr val="222222"/>
                </a:solidFill>
                <a:latin typeface="Calibri" pitchFamily="34" charset="0"/>
                <a:ea typeface="Calibri" pitchFamily="34" charset="-122"/>
                <a:cs typeface="Calibri" pitchFamily="34" charset="-120"/>
              </a:rPr>
              <a:t>models learn CORRELATIONS. Never read a model's pattern as a cause without an experiment.</a:t>
            </a:r>
            <a:endParaRPr lang="en-US" sz="1300" dirty="0"/>
          </a:p>
        </p:txBody>
      </p:sp>
      <p:sp>
        <p:nvSpPr>
          <p:cNvPr id="13" name="Text 10"/>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4" name="Text 11"/>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6583680" cy="502920"/>
          </a:xfrm>
          <a:prstGeom prst="rect">
            <a:avLst/>
          </a:prstGeom>
          <a:solidFill>
            <a:srgbClr val="FFFFFF"/>
          </a:solidFill>
          <a:ln/>
        </p:spPr>
      </p:sp>
      <p:sp>
        <p:nvSpPr>
          <p:cNvPr id="3" name="Text 1"/>
          <p:cNvSpPr txBox="1"/>
          <p:nvPr/>
        </p:nvSpPr>
        <p:spPr>
          <a:xfrm>
            <a:off x="457200" y="411480"/>
            <a:ext cx="6583680"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Multiple choice  -  quick fire</a:t>
            </a:r>
            <a:endParaRPr lang="en-US" sz="1400" dirty="0"/>
          </a:p>
        </p:txBody>
      </p:sp>
      <p:sp>
        <p:nvSpPr>
          <p:cNvPr id="5" name="Shape 3"/>
          <p:cNvSpPr/>
          <p:nvPr/>
        </p:nvSpPr>
        <p:spPr>
          <a:xfrm>
            <a:off x="7818120" y="1051560"/>
            <a:ext cx="3931920" cy="502920"/>
          </a:xfrm>
          <a:prstGeom prst="rect">
            <a:avLst/>
          </a:prstGeom>
          <a:solidFill>
            <a:srgbClr val="FFFFFF"/>
          </a:solidFill>
          <a:ln/>
        </p:spPr>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700" b="1" dirty="0">
                <a:solidFill>
                  <a:srgbClr val="FFFFFF"/>
                </a:solidFill>
                <a:latin typeface="Montserrat" pitchFamily="34" charset="0"/>
                <a:ea typeface="Montserrat" pitchFamily="34" charset="-122"/>
                <a:cs typeface="Montserrat" pitchFamily="34" charset="-120"/>
              </a:rPr>
              <a:t>Correlation or causation?  Vote for each statement:</a:t>
            </a:r>
            <a:endParaRPr lang="en-US" sz="2700" dirty="0"/>
          </a:p>
        </p:txBody>
      </p:sp>
      <p:sp>
        <p:nvSpPr>
          <p:cNvPr id="8" name="Shape 6"/>
          <p:cNvSpPr/>
          <p:nvPr/>
        </p:nvSpPr>
        <p:spPr>
          <a:xfrm>
            <a:off x="822960" y="3108960"/>
            <a:ext cx="10515600" cy="621792"/>
          </a:xfrm>
          <a:prstGeom prst="rect">
            <a:avLst/>
          </a:prstGeom>
          <a:solidFill>
            <a:srgbClr val="FFFFFF"/>
          </a:solidFill>
          <a:ln/>
        </p:spPr>
      </p:sp>
      <p:sp>
        <p:nvSpPr>
          <p:cNvPr id="9" name="Text 7"/>
          <p:cNvSpPr txBox="1"/>
          <p:nvPr/>
        </p:nvSpPr>
        <p:spPr>
          <a:xfrm>
            <a:off x="1097280" y="3108960"/>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1)  Fires with more firefighters cause more damage</a:t>
            </a:r>
            <a:endParaRPr lang="en-US" sz="1900" dirty="0"/>
          </a:p>
        </p:txBody>
      </p:sp>
      <p:sp>
        <p:nvSpPr>
          <p:cNvPr id="10" name="Shape 8"/>
          <p:cNvSpPr/>
          <p:nvPr/>
        </p:nvSpPr>
        <p:spPr>
          <a:xfrm>
            <a:off x="822960" y="3858768"/>
            <a:ext cx="10515600" cy="621792"/>
          </a:xfrm>
          <a:prstGeom prst="rect">
            <a:avLst/>
          </a:prstGeom>
          <a:solidFill>
            <a:srgbClr val="FFFFFF"/>
          </a:solidFill>
          <a:ln/>
        </p:spPr>
      </p:sp>
      <p:sp>
        <p:nvSpPr>
          <p:cNvPr id="11" name="Text 9"/>
          <p:cNvSpPr txBox="1"/>
          <p:nvPr/>
        </p:nvSpPr>
        <p:spPr>
          <a:xfrm>
            <a:off x="1097280" y="3858768"/>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2)  In a randomised trial, a new drug lowered blood pressure</a:t>
            </a:r>
            <a:endParaRPr lang="en-US" sz="1900" dirty="0"/>
          </a:p>
        </p:txBody>
      </p:sp>
      <p:sp>
        <p:nvSpPr>
          <p:cNvPr id="12" name="Shape 10"/>
          <p:cNvSpPr/>
          <p:nvPr/>
        </p:nvSpPr>
        <p:spPr>
          <a:xfrm>
            <a:off x="822960" y="4608576"/>
            <a:ext cx="10515600" cy="621792"/>
          </a:xfrm>
          <a:prstGeom prst="rect">
            <a:avLst/>
          </a:prstGeom>
          <a:solidFill>
            <a:srgbClr val="FFFFFF"/>
          </a:solidFill>
          <a:ln/>
        </p:spPr>
      </p:sp>
      <p:sp>
        <p:nvSpPr>
          <p:cNvPr id="13" name="Text 11"/>
          <p:cNvSpPr txBox="1"/>
          <p:nvPr/>
        </p:nvSpPr>
        <p:spPr>
          <a:xfrm>
            <a:off x="1097280" y="4608576"/>
            <a:ext cx="10149840" cy="621792"/>
          </a:xfrm>
          <a:prstGeom prst="rect">
            <a:avLst/>
          </a:prstGeom>
          <a:noFill/>
          <a:ln/>
        </p:spPr>
        <p:txBody>
          <a:bodyPr wrap="square" lIns="0" tIns="0" rIns="0" bIns="0" rtlCol="0" anchor="ctr"/>
          <a:lstStyle/>
          <a:p>
            <a:pPr marL="0" indent="0">
              <a:buNone/>
            </a:pPr>
            <a:r>
              <a:rPr lang="en-US" sz="1900" dirty="0">
                <a:solidFill>
                  <a:srgbClr val="222222"/>
                </a:solidFill>
                <a:latin typeface="Calibri" pitchFamily="34" charset="0"/>
                <a:ea typeface="Calibri" pitchFamily="34" charset="-122"/>
                <a:cs typeface="Calibri" pitchFamily="34" charset="-120"/>
              </a:rPr>
              <a:t>3)  Countries that eat more chocolate win more Nobel prizes</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502920"/>
          </a:xfrm>
          <a:prstGeom prst="rect">
            <a:avLst/>
          </a:prstGeom>
          <a:solidFill>
            <a:srgbClr val="39C2D7"/>
          </a:solidFill>
          <a:ln/>
        </p:spPr>
      </p:sp>
      <p:sp>
        <p:nvSpPr>
          <p:cNvPr id="3" name="Text 1"/>
          <p:cNvSpPr txBox="1"/>
          <p:nvPr/>
        </p:nvSpPr>
        <p:spPr>
          <a:xfrm>
            <a:off x="457200" y="411480"/>
            <a:ext cx="21031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Sampling</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~3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Population vs sample: beware of bias</a:t>
            </a:r>
            <a:endParaRPr lang="en-US" sz="2500" dirty="0"/>
          </a:p>
        </p:txBody>
      </p:sp>
      <p:pic>
        <p:nvPicPr>
          <p:cNvPr id="6" name="Image 0" descr="/home/claude/d78/sampling_bias.png"/>
          <p:cNvPicPr>
            <a:picLocks noChangeAspect="1"/>
          </p:cNvPicPr>
          <p:nvPr/>
        </p:nvPicPr>
        <p:blipFill>
          <a:blip r:embed="rId3"/>
          <a:stretch>
            <a:fillRect/>
          </a:stretch>
        </p:blipFill>
        <p:spPr>
          <a:xfrm>
            <a:off x="1868099" y="1691640"/>
            <a:ext cx="8425323" cy="3246120"/>
          </a:xfrm>
          <a:prstGeom prst="rect">
            <a:avLst/>
          </a:prstGeom>
        </p:spPr>
      </p:pic>
      <p:sp>
        <p:nvSpPr>
          <p:cNvPr id="7" name="Shape 4"/>
          <p:cNvSpPr/>
          <p:nvPr/>
        </p:nvSpPr>
        <p:spPr>
          <a:xfrm>
            <a:off x="457200" y="5029200"/>
            <a:ext cx="11247120" cy="1234440"/>
          </a:xfrm>
          <a:prstGeom prst="rect">
            <a:avLst/>
          </a:prstGeom>
          <a:solidFill>
            <a:srgbClr val="F6F6F6"/>
          </a:solidFill>
          <a:ln/>
        </p:spPr>
      </p:sp>
      <p:sp>
        <p:nvSpPr>
          <p:cNvPr id="8" name="Shape 5"/>
          <p:cNvSpPr/>
          <p:nvPr/>
        </p:nvSpPr>
        <p:spPr>
          <a:xfrm>
            <a:off x="457200" y="5029200"/>
            <a:ext cx="82296" cy="1234440"/>
          </a:xfrm>
          <a:prstGeom prst="rect">
            <a:avLst/>
          </a:prstGeom>
          <a:solidFill>
            <a:srgbClr val="39C2D7"/>
          </a:solidFill>
          <a:ln/>
        </p:spPr>
      </p:sp>
      <p:sp>
        <p:nvSpPr>
          <p:cNvPr id="9" name="Text 6"/>
          <p:cNvSpPr txBox="1"/>
          <p:nvPr/>
        </p:nvSpPr>
        <p:spPr>
          <a:xfrm>
            <a:off x="731520" y="5074920"/>
            <a:ext cx="10789920" cy="64008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Population = everyone; sample = the ones we measured     |     Survey only at the gym -&gt; 6.9 h vs true 3.0 h     |     Biased sample = biased model</a:t>
            </a:r>
            <a:endParaRPr lang="en-US" sz="1500" dirty="0"/>
          </a:p>
        </p:txBody>
      </p:sp>
      <p:sp>
        <p:nvSpPr>
          <p:cNvPr id="10" name="Text 7"/>
          <p:cNvSpPr/>
          <p:nvPr/>
        </p:nvSpPr>
        <p:spPr>
          <a:xfrm>
            <a:off x="731520" y="5669280"/>
            <a:ext cx="10789920" cy="502920"/>
          </a:xfrm>
          <a:prstGeom prst="rect">
            <a:avLst/>
          </a:prstGeom>
          <a:noFill/>
          <a:ln/>
        </p:spPr>
        <p:txBody>
          <a:bodyPr wrap="square" lIns="0" tIns="0" rIns="0" bIns="0" rtlCol="0" anchor="ctr"/>
          <a:lstStyle/>
          <a:p>
            <a:pPr marL="0" indent="0">
              <a:buNone/>
            </a:pPr>
            <a:r>
              <a:rPr lang="en-US" sz="1400" b="1" dirty="0">
                <a:solidFill>
                  <a:srgbClr val="39C2D7"/>
                </a:solidFill>
                <a:latin typeface="Montserrat" pitchFamily="34" charset="0"/>
                <a:ea typeface="Montserrat" pitchFamily="34" charset="-122"/>
                <a:cs typeface="Montserrat" pitchFamily="34" charset="-120"/>
              </a:rPr>
              <a:t>In ML:  </a:t>
            </a:r>
            <a:r>
              <a:rPr lang="en-US" sz="1400" dirty="0">
                <a:solidFill>
                  <a:srgbClr val="222222"/>
                </a:solidFill>
                <a:latin typeface="Calibri" pitchFamily="34" charset="0"/>
                <a:ea typeface="Calibri" pitchFamily="34" charset="-122"/>
                <a:cs typeface="Calibri" pitchFamily="34" charset="-120"/>
              </a:rPr>
              <a:t>if training data is not representative (one city, one language, one gender) the model fails on the rest.</a:t>
            </a:r>
            <a:endParaRPr lang="en-US" sz="1400" dirty="0"/>
          </a:p>
        </p:txBody>
      </p:sp>
      <p:sp>
        <p:nvSpPr>
          <p:cNvPr id="11" name="Text 8"/>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12" name="Text 9"/>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779776" cy="502920"/>
          </a:xfrm>
          <a:prstGeom prst="rect">
            <a:avLst/>
          </a:prstGeom>
          <a:solidFill>
            <a:srgbClr val="39C2D7"/>
          </a:solidFill>
          <a:ln/>
        </p:spPr>
      </p:sp>
      <p:sp>
        <p:nvSpPr>
          <p:cNvPr id="3" name="Text 1"/>
          <p:cNvSpPr txBox="1"/>
          <p:nvPr/>
        </p:nvSpPr>
        <p:spPr>
          <a:xfrm>
            <a:off x="457200" y="411480"/>
            <a:ext cx="2779776"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Why it matters</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~2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Where probability &amp; statistics power ML</a:t>
            </a:r>
            <a:endParaRPr lang="en-US" sz="2500" dirty="0"/>
          </a:p>
        </p:txBody>
      </p:sp>
      <p:sp>
        <p:nvSpPr>
          <p:cNvPr id="6" name="Shape 4"/>
          <p:cNvSpPr/>
          <p:nvPr/>
        </p:nvSpPr>
        <p:spPr>
          <a:xfrm>
            <a:off x="457200" y="1828800"/>
            <a:ext cx="2640330" cy="3291840"/>
          </a:xfrm>
          <a:prstGeom prst="rect">
            <a:avLst/>
          </a:prstGeom>
          <a:solidFill>
            <a:srgbClr val="F6F6F6"/>
          </a:solidFill>
          <a:ln/>
        </p:spPr>
      </p:sp>
      <p:sp>
        <p:nvSpPr>
          <p:cNvPr id="7" name="Shape 5"/>
          <p:cNvSpPr/>
          <p:nvPr/>
        </p:nvSpPr>
        <p:spPr>
          <a:xfrm>
            <a:off x="457200" y="1828800"/>
            <a:ext cx="2640330" cy="82296"/>
          </a:xfrm>
          <a:prstGeom prst="rect">
            <a:avLst/>
          </a:prstGeom>
          <a:solidFill>
            <a:srgbClr val="39C2D7"/>
          </a:solidFill>
          <a:ln/>
        </p:spPr>
      </p:sp>
      <p:sp>
        <p:nvSpPr>
          <p:cNvPr id="8" name="Text 6"/>
          <p:cNvSpPr txBox="1"/>
          <p:nvPr/>
        </p:nvSpPr>
        <p:spPr>
          <a:xfrm>
            <a:off x="640080" y="2029968"/>
            <a:ext cx="2274570"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Feature selection</a:t>
            </a:r>
            <a:endParaRPr lang="en-US" sz="1600" dirty="0"/>
          </a:p>
        </p:txBody>
      </p:sp>
      <p:sp>
        <p:nvSpPr>
          <p:cNvPr id="9" name="Text 7"/>
          <p:cNvSpPr txBox="1"/>
          <p:nvPr/>
        </p:nvSpPr>
        <p:spPr>
          <a:xfrm>
            <a:off x="640080" y="2606040"/>
            <a:ext cx="2274570" cy="2377440"/>
          </a:xfrm>
          <a:prstGeom prst="rect">
            <a:avLst/>
          </a:prstGeom>
          <a:noFill/>
          <a:ln/>
        </p:spPr>
        <p:txBody>
          <a:bodyPr wrap="square" lIns="0" tIns="0" rIns="0" bIns="0" rtlCol="0" anchor="t"/>
          <a:lstStyle/>
          <a:p>
            <a:pPr marL="0" indent="0">
              <a:buNone/>
            </a:pPr>
            <a:r>
              <a:rPr lang="en-US" sz="1700" dirty="0">
                <a:solidFill>
                  <a:srgbClr val="222222"/>
                </a:solidFill>
                <a:latin typeface="Calibri" pitchFamily="34" charset="0"/>
                <a:ea typeface="Calibri" pitchFamily="34" charset="-122"/>
                <a:cs typeface="Calibri" pitchFamily="34" charset="-120"/>
              </a:rPr>
              <a:t>chi-squared test and correlation show which features are related to the target</a:t>
            </a:r>
            <a:endParaRPr lang="en-US" sz="1700" dirty="0"/>
          </a:p>
        </p:txBody>
      </p:sp>
      <p:sp>
        <p:nvSpPr>
          <p:cNvPr id="10" name="Shape 8"/>
          <p:cNvSpPr/>
          <p:nvPr/>
        </p:nvSpPr>
        <p:spPr>
          <a:xfrm>
            <a:off x="3326130" y="1828800"/>
            <a:ext cx="2640330" cy="3291840"/>
          </a:xfrm>
          <a:prstGeom prst="rect">
            <a:avLst/>
          </a:prstGeom>
          <a:solidFill>
            <a:srgbClr val="F6F6F6"/>
          </a:solidFill>
          <a:ln/>
        </p:spPr>
      </p:sp>
      <p:sp>
        <p:nvSpPr>
          <p:cNvPr id="11" name="Shape 9"/>
          <p:cNvSpPr/>
          <p:nvPr/>
        </p:nvSpPr>
        <p:spPr>
          <a:xfrm>
            <a:off x="3326130" y="1828800"/>
            <a:ext cx="2640330" cy="82296"/>
          </a:xfrm>
          <a:prstGeom prst="rect">
            <a:avLst/>
          </a:prstGeom>
          <a:solidFill>
            <a:srgbClr val="39C2D7"/>
          </a:solidFill>
          <a:ln/>
        </p:spPr>
      </p:sp>
      <p:sp>
        <p:nvSpPr>
          <p:cNvPr id="12" name="Text 10"/>
          <p:cNvSpPr txBox="1"/>
          <p:nvPr/>
        </p:nvSpPr>
        <p:spPr>
          <a:xfrm>
            <a:off x="3509010" y="2029968"/>
            <a:ext cx="2274570"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Model evaluation</a:t>
            </a:r>
            <a:endParaRPr lang="en-US" sz="1600" dirty="0"/>
          </a:p>
        </p:txBody>
      </p:sp>
      <p:sp>
        <p:nvSpPr>
          <p:cNvPr id="13" name="Text 11"/>
          <p:cNvSpPr txBox="1"/>
          <p:nvPr/>
        </p:nvSpPr>
        <p:spPr>
          <a:xfrm>
            <a:off x="3509010" y="2606040"/>
            <a:ext cx="2274570" cy="2377440"/>
          </a:xfrm>
          <a:prstGeom prst="rect">
            <a:avLst/>
          </a:prstGeom>
          <a:noFill/>
          <a:ln/>
        </p:spPr>
        <p:txBody>
          <a:bodyPr wrap="square" lIns="0" tIns="0" rIns="0" bIns="0" rtlCol="0" anchor="t"/>
          <a:lstStyle/>
          <a:p>
            <a:pPr marL="0" indent="0">
              <a:buNone/>
            </a:pPr>
            <a:r>
              <a:rPr lang="en-US" sz="1700" dirty="0">
                <a:solidFill>
                  <a:srgbClr val="222222"/>
                </a:solidFill>
                <a:latin typeface="Calibri" pitchFamily="34" charset="0"/>
                <a:ea typeface="Calibri" pitchFamily="34" charset="-122"/>
                <a:cs typeface="Calibri" pitchFamily="34" charset="-120"/>
              </a:rPr>
              <a:t>confidence intervals and hypothesis tests: is the improvement real?</a:t>
            </a:r>
            <a:endParaRPr lang="en-US" sz="1700" dirty="0"/>
          </a:p>
        </p:txBody>
      </p:sp>
      <p:sp>
        <p:nvSpPr>
          <p:cNvPr id="14" name="Shape 12"/>
          <p:cNvSpPr/>
          <p:nvPr/>
        </p:nvSpPr>
        <p:spPr>
          <a:xfrm>
            <a:off x="6195060" y="1828800"/>
            <a:ext cx="2640330" cy="3291840"/>
          </a:xfrm>
          <a:prstGeom prst="rect">
            <a:avLst/>
          </a:prstGeom>
          <a:solidFill>
            <a:srgbClr val="F6F6F6"/>
          </a:solidFill>
          <a:ln/>
        </p:spPr>
      </p:sp>
      <p:sp>
        <p:nvSpPr>
          <p:cNvPr id="15" name="Shape 13"/>
          <p:cNvSpPr/>
          <p:nvPr/>
        </p:nvSpPr>
        <p:spPr>
          <a:xfrm>
            <a:off x="6195060" y="1828800"/>
            <a:ext cx="2640330" cy="82296"/>
          </a:xfrm>
          <a:prstGeom prst="rect">
            <a:avLst/>
          </a:prstGeom>
          <a:solidFill>
            <a:srgbClr val="39C2D7"/>
          </a:solidFill>
          <a:ln/>
        </p:spPr>
      </p:sp>
      <p:sp>
        <p:nvSpPr>
          <p:cNvPr id="16" name="Text 14"/>
          <p:cNvSpPr txBox="1"/>
          <p:nvPr/>
        </p:nvSpPr>
        <p:spPr>
          <a:xfrm>
            <a:off x="6377940" y="2029968"/>
            <a:ext cx="2274570"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Uncertainty</a:t>
            </a:r>
            <a:endParaRPr lang="en-US" sz="1600" dirty="0"/>
          </a:p>
        </p:txBody>
      </p:sp>
      <p:sp>
        <p:nvSpPr>
          <p:cNvPr id="17" name="Text 15"/>
          <p:cNvSpPr txBox="1"/>
          <p:nvPr/>
        </p:nvSpPr>
        <p:spPr>
          <a:xfrm>
            <a:off x="6377940" y="2606040"/>
            <a:ext cx="2274570" cy="2377440"/>
          </a:xfrm>
          <a:prstGeom prst="rect">
            <a:avLst/>
          </a:prstGeom>
          <a:noFill/>
          <a:ln/>
        </p:spPr>
        <p:txBody>
          <a:bodyPr wrap="square" lIns="0" tIns="0" rIns="0" bIns="0" rtlCol="0" anchor="t"/>
          <a:lstStyle/>
          <a:p>
            <a:pPr marL="0" indent="0">
              <a:buNone/>
            </a:pPr>
            <a:r>
              <a:rPr lang="en-US" sz="1700" dirty="0">
                <a:solidFill>
                  <a:srgbClr val="222222"/>
                </a:solidFill>
                <a:latin typeface="Calibri" pitchFamily="34" charset="0"/>
                <a:ea typeface="Calibri" pitchFamily="34" charset="-122"/>
                <a:cs typeface="Calibri" pitchFamily="34" charset="-120"/>
              </a:rPr>
              <a:t>probabilities and calibration: when the model says 90%, is it right 90% of the time?</a:t>
            </a:r>
            <a:endParaRPr lang="en-US" sz="1700" dirty="0"/>
          </a:p>
        </p:txBody>
      </p:sp>
      <p:sp>
        <p:nvSpPr>
          <p:cNvPr id="18" name="Shape 16"/>
          <p:cNvSpPr/>
          <p:nvPr/>
        </p:nvSpPr>
        <p:spPr>
          <a:xfrm>
            <a:off x="9063990" y="1828800"/>
            <a:ext cx="2640330" cy="3291840"/>
          </a:xfrm>
          <a:prstGeom prst="rect">
            <a:avLst/>
          </a:prstGeom>
          <a:solidFill>
            <a:srgbClr val="F6F6F6"/>
          </a:solidFill>
          <a:ln/>
        </p:spPr>
      </p:sp>
      <p:sp>
        <p:nvSpPr>
          <p:cNvPr id="19" name="Shape 17"/>
          <p:cNvSpPr/>
          <p:nvPr/>
        </p:nvSpPr>
        <p:spPr>
          <a:xfrm>
            <a:off x="9063990" y="1828800"/>
            <a:ext cx="2640330" cy="82296"/>
          </a:xfrm>
          <a:prstGeom prst="rect">
            <a:avLst/>
          </a:prstGeom>
          <a:solidFill>
            <a:srgbClr val="39C2D7"/>
          </a:solidFill>
          <a:ln/>
        </p:spPr>
      </p:sp>
      <p:sp>
        <p:nvSpPr>
          <p:cNvPr id="20" name="Text 18"/>
          <p:cNvSpPr txBox="1"/>
          <p:nvPr/>
        </p:nvSpPr>
        <p:spPr>
          <a:xfrm>
            <a:off x="9246870" y="2029968"/>
            <a:ext cx="2274570" cy="502920"/>
          </a:xfrm>
          <a:prstGeom prst="rect">
            <a:avLst/>
          </a:prstGeom>
          <a:noFill/>
          <a:ln/>
        </p:spPr>
        <p:txBody>
          <a:bodyPr wrap="square" lIns="0" tIns="0" rIns="0" bIns="0" rtlCol="0" anchor="ctr"/>
          <a:lstStyle/>
          <a:p>
            <a:pPr marL="0" indent="0">
              <a:buNone/>
            </a:pPr>
            <a:r>
              <a:rPr lang="en-US" sz="1600" b="1" dirty="0">
                <a:solidFill>
                  <a:srgbClr val="39C2D7"/>
                </a:solidFill>
                <a:latin typeface="Montserrat" pitchFamily="34" charset="0"/>
                <a:ea typeface="Montserrat" pitchFamily="34" charset="-122"/>
                <a:cs typeface="Montserrat" pitchFamily="34" charset="-120"/>
              </a:rPr>
              <a:t>Generalization</a:t>
            </a:r>
            <a:endParaRPr lang="en-US" sz="1600" dirty="0"/>
          </a:p>
        </p:txBody>
      </p:sp>
      <p:sp>
        <p:nvSpPr>
          <p:cNvPr id="21" name="Text 19"/>
          <p:cNvSpPr txBox="1"/>
          <p:nvPr/>
        </p:nvSpPr>
        <p:spPr>
          <a:xfrm>
            <a:off x="9246870" y="2606040"/>
            <a:ext cx="2274570" cy="2377440"/>
          </a:xfrm>
          <a:prstGeom prst="rect">
            <a:avLst/>
          </a:prstGeom>
          <a:noFill/>
          <a:ln/>
        </p:spPr>
        <p:txBody>
          <a:bodyPr wrap="square" lIns="0" tIns="0" rIns="0" bIns="0" rtlCol="0" anchor="t"/>
          <a:lstStyle/>
          <a:p>
            <a:pPr marL="0" indent="0">
              <a:buNone/>
            </a:pPr>
            <a:r>
              <a:rPr lang="en-US" sz="1700" dirty="0">
                <a:solidFill>
                  <a:srgbClr val="222222"/>
                </a:solidFill>
                <a:latin typeface="Calibri" pitchFamily="34" charset="0"/>
                <a:ea typeface="Calibri" pitchFamily="34" charset="-122"/>
                <a:cs typeface="Calibri" pitchFamily="34" charset="-120"/>
              </a:rPr>
              <a:t>representative samples + LLN: will it work on NEW data?</a:t>
            </a:r>
            <a:endParaRPr lang="en-US" sz="1700" dirty="0"/>
          </a:p>
        </p:txBody>
      </p:sp>
      <p:sp>
        <p:nvSpPr>
          <p:cNvPr id="22" name="Shape 20"/>
          <p:cNvSpPr/>
          <p:nvPr/>
        </p:nvSpPr>
        <p:spPr>
          <a:xfrm>
            <a:off x="457200" y="5349240"/>
            <a:ext cx="11247120" cy="731520"/>
          </a:xfrm>
          <a:prstGeom prst="rect">
            <a:avLst/>
          </a:prstGeom>
          <a:solidFill>
            <a:srgbClr val="39C2D7"/>
          </a:solidFill>
          <a:ln/>
        </p:spPr>
      </p:sp>
      <p:sp>
        <p:nvSpPr>
          <p:cNvPr id="23" name="Text 21"/>
          <p:cNvSpPr txBox="1"/>
          <p:nvPr/>
        </p:nvSpPr>
        <p:spPr>
          <a:xfrm>
            <a:off x="457200" y="5349240"/>
            <a:ext cx="112471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Practice:  confidence intervals  |  ECDF  |  chi-squared test  |  two-sample KS test</a:t>
            </a:r>
            <a:endParaRPr lang="en-US" sz="1600" dirty="0"/>
          </a:p>
        </p:txBody>
      </p:sp>
      <p:sp>
        <p:nvSpPr>
          <p:cNvPr id="24" name="Text 22"/>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5" name="Text 23"/>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487168" cy="502920"/>
          </a:xfrm>
          <a:prstGeom prst="rect">
            <a:avLst/>
          </a:prstGeom>
          <a:solidFill>
            <a:srgbClr val="39C2D7"/>
          </a:solidFill>
          <a:ln/>
        </p:spPr>
      </p:sp>
      <p:sp>
        <p:nvSpPr>
          <p:cNvPr id="3" name="Text 1"/>
          <p:cNvSpPr txBox="1"/>
          <p:nvPr/>
        </p:nvSpPr>
        <p:spPr>
          <a:xfrm>
            <a:off x="457200" y="411480"/>
            <a:ext cx="2487168"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Part 2 recap</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~2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Probability &amp; statistics in 5 lines</a:t>
            </a:r>
            <a:endParaRPr lang="en-US" sz="2500" dirty="0"/>
          </a:p>
        </p:txBody>
      </p:sp>
      <p:sp>
        <p:nvSpPr>
          <p:cNvPr id="6" name="Shape 4"/>
          <p:cNvSpPr/>
          <p:nvPr/>
        </p:nvSpPr>
        <p:spPr>
          <a:xfrm>
            <a:off x="457200" y="1828800"/>
            <a:ext cx="11247120" cy="731520"/>
          </a:xfrm>
          <a:prstGeom prst="rect">
            <a:avLst/>
          </a:prstGeom>
          <a:solidFill>
            <a:srgbClr val="F6F6F6"/>
          </a:solidFill>
          <a:ln/>
        </p:spPr>
      </p:sp>
      <p:sp>
        <p:nvSpPr>
          <p:cNvPr id="7" name="Text 5"/>
          <p:cNvSpPr txBox="1"/>
          <p:nvPr/>
        </p:nvSpPr>
        <p:spPr>
          <a:xfrm>
            <a:off x="731520" y="1828800"/>
            <a:ext cx="274320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Direction</a:t>
            </a:r>
            <a:endParaRPr lang="en-US" sz="1700" dirty="0"/>
          </a:p>
        </p:txBody>
      </p:sp>
      <p:sp>
        <p:nvSpPr>
          <p:cNvPr id="8" name="Text 6"/>
          <p:cNvSpPr txBox="1"/>
          <p:nvPr/>
        </p:nvSpPr>
        <p:spPr>
          <a:xfrm>
            <a:off x="3566160" y="1828800"/>
            <a:ext cx="795528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probability predicts forward; statistics infers backward</a:t>
            </a:r>
            <a:endParaRPr lang="en-US" sz="1700" dirty="0"/>
          </a:p>
        </p:txBody>
      </p:sp>
      <p:sp>
        <p:nvSpPr>
          <p:cNvPr id="9" name="Shape 7"/>
          <p:cNvSpPr/>
          <p:nvPr/>
        </p:nvSpPr>
        <p:spPr>
          <a:xfrm>
            <a:off x="457200" y="2670048"/>
            <a:ext cx="11247120" cy="731520"/>
          </a:xfrm>
          <a:prstGeom prst="rect">
            <a:avLst/>
          </a:prstGeom>
          <a:solidFill>
            <a:srgbClr val="F6F6F6"/>
          </a:solidFill>
          <a:ln/>
        </p:spPr>
      </p:sp>
      <p:sp>
        <p:nvSpPr>
          <p:cNvPr id="10" name="Text 8"/>
          <p:cNvSpPr txBox="1"/>
          <p:nvPr/>
        </p:nvSpPr>
        <p:spPr>
          <a:xfrm>
            <a:off x="731520" y="2670048"/>
            <a:ext cx="274320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Bayes</a:t>
            </a:r>
            <a:endParaRPr lang="en-US" sz="1700" dirty="0"/>
          </a:p>
        </p:txBody>
      </p:sp>
      <p:sp>
        <p:nvSpPr>
          <p:cNvPr id="11" name="Text 9"/>
          <p:cNvSpPr txBox="1"/>
          <p:nvPr/>
        </p:nvSpPr>
        <p:spPr>
          <a:xfrm>
            <a:off x="3566160" y="2670048"/>
            <a:ext cx="795528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update belief with evidence - rare stays rare (17%!)</a:t>
            </a:r>
            <a:endParaRPr lang="en-US" sz="1700" dirty="0"/>
          </a:p>
        </p:txBody>
      </p:sp>
      <p:sp>
        <p:nvSpPr>
          <p:cNvPr id="12" name="Shape 10"/>
          <p:cNvSpPr/>
          <p:nvPr/>
        </p:nvSpPr>
        <p:spPr>
          <a:xfrm>
            <a:off x="457200" y="3511296"/>
            <a:ext cx="11247120" cy="731520"/>
          </a:xfrm>
          <a:prstGeom prst="rect">
            <a:avLst/>
          </a:prstGeom>
          <a:solidFill>
            <a:srgbClr val="F6F6F6"/>
          </a:solidFill>
          <a:ln/>
        </p:spPr>
      </p:sp>
      <p:sp>
        <p:nvSpPr>
          <p:cNvPr id="13" name="Text 11"/>
          <p:cNvSpPr txBox="1"/>
          <p:nvPr/>
        </p:nvSpPr>
        <p:spPr>
          <a:xfrm>
            <a:off x="731520" y="3511296"/>
            <a:ext cx="274320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Distributions</a:t>
            </a:r>
            <a:endParaRPr lang="en-US" sz="1700" dirty="0"/>
          </a:p>
        </p:txBody>
      </p:sp>
      <p:sp>
        <p:nvSpPr>
          <p:cNvPr id="14" name="Text 12"/>
          <p:cNvSpPr txBox="1"/>
          <p:nvPr/>
        </p:nvSpPr>
        <p:spPr>
          <a:xfrm>
            <a:off x="3566160" y="3511296"/>
            <a:ext cx="795528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Bernoulli, Binomial, Poisson / Gaussian, Uniform, Exponential</a:t>
            </a:r>
            <a:endParaRPr lang="en-US" sz="1700" dirty="0"/>
          </a:p>
        </p:txBody>
      </p:sp>
      <p:sp>
        <p:nvSpPr>
          <p:cNvPr id="15" name="Shape 13"/>
          <p:cNvSpPr/>
          <p:nvPr/>
        </p:nvSpPr>
        <p:spPr>
          <a:xfrm>
            <a:off x="457200" y="4352544"/>
            <a:ext cx="11247120" cy="731520"/>
          </a:xfrm>
          <a:prstGeom prst="rect">
            <a:avLst/>
          </a:prstGeom>
          <a:solidFill>
            <a:srgbClr val="F6F6F6"/>
          </a:solidFill>
          <a:ln/>
        </p:spPr>
      </p:sp>
      <p:sp>
        <p:nvSpPr>
          <p:cNvPr id="16" name="Text 14"/>
          <p:cNvSpPr txBox="1"/>
          <p:nvPr/>
        </p:nvSpPr>
        <p:spPr>
          <a:xfrm>
            <a:off x="731520" y="4352544"/>
            <a:ext cx="274320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LLN &amp; CLT</a:t>
            </a:r>
            <a:endParaRPr lang="en-US" sz="1700" dirty="0"/>
          </a:p>
        </p:txBody>
      </p:sp>
      <p:sp>
        <p:nvSpPr>
          <p:cNvPr id="17" name="Text 15"/>
          <p:cNvSpPr txBox="1"/>
          <p:nvPr/>
        </p:nvSpPr>
        <p:spPr>
          <a:xfrm>
            <a:off x="3566160" y="4352544"/>
            <a:ext cx="795528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more data -&gt; truer averages; averages -&gt; bell curve</a:t>
            </a:r>
            <a:endParaRPr lang="en-US" sz="1700" dirty="0"/>
          </a:p>
        </p:txBody>
      </p:sp>
      <p:sp>
        <p:nvSpPr>
          <p:cNvPr id="18" name="Shape 16"/>
          <p:cNvSpPr/>
          <p:nvPr/>
        </p:nvSpPr>
        <p:spPr>
          <a:xfrm>
            <a:off x="457200" y="5193792"/>
            <a:ext cx="11247120" cy="731520"/>
          </a:xfrm>
          <a:prstGeom prst="rect">
            <a:avLst/>
          </a:prstGeom>
          <a:solidFill>
            <a:srgbClr val="F6F6F6"/>
          </a:solidFill>
          <a:ln/>
        </p:spPr>
      </p:sp>
      <p:sp>
        <p:nvSpPr>
          <p:cNvPr id="19" name="Text 17"/>
          <p:cNvSpPr txBox="1"/>
          <p:nvPr/>
        </p:nvSpPr>
        <p:spPr>
          <a:xfrm>
            <a:off x="731520" y="5193792"/>
            <a:ext cx="2743200" cy="73152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Inference</a:t>
            </a:r>
            <a:endParaRPr lang="en-US" sz="1700" dirty="0"/>
          </a:p>
        </p:txBody>
      </p:sp>
      <p:sp>
        <p:nvSpPr>
          <p:cNvPr id="20" name="Text 18"/>
          <p:cNvSpPr txBox="1"/>
          <p:nvPr/>
        </p:nvSpPr>
        <p:spPr>
          <a:xfrm>
            <a:off x="3566160" y="5193792"/>
            <a:ext cx="7955280" cy="73152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p-values, confidence intervals; correlation is not causation</a:t>
            </a:r>
            <a:endParaRPr lang="en-US" sz="1700" dirty="0"/>
          </a:p>
        </p:txBody>
      </p:sp>
      <p:sp>
        <p:nvSpPr>
          <p:cNvPr id="21" name="Text 19"/>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2" name="Text 20"/>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Part 2  |  Probability &amp; Statistics - handling uncertainty</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4389120" cy="502920"/>
          </a:xfrm>
          <a:prstGeom prst="rect">
            <a:avLst/>
          </a:prstGeom>
          <a:solidFill>
            <a:srgbClr val="FFFFFF"/>
          </a:solidFill>
          <a:ln/>
        </p:spPr>
      </p:sp>
      <p:sp>
        <p:nvSpPr>
          <p:cNvPr id="3" name="Text 1"/>
          <p:cNvSpPr txBox="1"/>
          <p:nvPr/>
        </p:nvSpPr>
        <p:spPr>
          <a:xfrm>
            <a:off x="457200" y="411480"/>
            <a:ext cx="4389120"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Final challenge</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FFFFFF"/>
                </a:solidFill>
                <a:latin typeface="Calibri" pitchFamily="34" charset="0"/>
                <a:ea typeface="Calibri" pitchFamily="34" charset="-122"/>
                <a:cs typeface="Calibri" pitchFamily="34" charset="-120"/>
              </a:rPr>
              <a:t>~4 min</a:t>
            </a:r>
            <a:endParaRPr lang="en-US" sz="1300" dirty="0"/>
          </a:p>
        </p:txBody>
      </p:sp>
      <p:sp>
        <p:nvSpPr>
          <p:cNvPr id="5" name="Text 3"/>
          <p:cNvSpPr txBox="1"/>
          <p:nvPr/>
        </p:nvSpPr>
        <p:spPr>
          <a:xfrm>
            <a:off x="640080" y="1188720"/>
            <a:ext cx="10972800" cy="64008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Final challenge - quiz mode, leaderboard!</a:t>
            </a:r>
            <a:endParaRPr lang="en-US" sz="2800" dirty="0"/>
          </a:p>
        </p:txBody>
      </p:sp>
      <p:sp>
        <p:nvSpPr>
          <p:cNvPr id="6" name="Shape 4"/>
          <p:cNvSpPr/>
          <p:nvPr/>
        </p:nvSpPr>
        <p:spPr>
          <a:xfrm>
            <a:off x="822960" y="2057400"/>
            <a:ext cx="10515600" cy="621792"/>
          </a:xfrm>
          <a:prstGeom prst="rect">
            <a:avLst/>
          </a:prstGeom>
          <a:solidFill>
            <a:srgbClr val="FFFFFF"/>
          </a:solidFill>
          <a:ln/>
        </p:spPr>
      </p:sp>
      <p:sp>
        <p:nvSpPr>
          <p:cNvPr id="7" name="Text 5"/>
          <p:cNvSpPr txBox="1"/>
          <p:nvPr/>
        </p:nvSpPr>
        <p:spPr>
          <a:xfrm>
            <a:off x="1097280" y="2057400"/>
            <a:ext cx="10149840" cy="621792"/>
          </a:xfrm>
          <a:prstGeom prst="rect">
            <a:avLst/>
          </a:prstGeom>
          <a:noFill/>
          <a:ln/>
        </p:spPr>
        <p:txBody>
          <a:bodyPr wrap="square" lIns="0" tIns="0" rIns="0" bIns="0" rtlCol="0" anchor="ctr"/>
          <a:lstStyle/>
          <a:p>
            <a:pPr marL="0" indent="0">
              <a:buNone/>
            </a:pPr>
            <a:r>
              <a:rPr lang="en-US" sz="1800" dirty="0">
                <a:solidFill>
                  <a:srgbClr val="222222"/>
                </a:solidFill>
                <a:latin typeface="Calibri" pitchFamily="34" charset="0"/>
                <a:ea typeface="Calibri" pitchFamily="34" charset="-122"/>
                <a:cs typeface="Calibri" pitchFamily="34" charset="-120"/>
              </a:rPr>
              <a:t>1.  The gradient points... ?   (uphill / downhill / sideways)</a:t>
            </a:r>
            <a:endParaRPr lang="en-US" sz="1800" dirty="0"/>
          </a:p>
        </p:txBody>
      </p:sp>
      <p:sp>
        <p:nvSpPr>
          <p:cNvPr id="8" name="Shape 6"/>
          <p:cNvSpPr/>
          <p:nvPr/>
        </p:nvSpPr>
        <p:spPr>
          <a:xfrm>
            <a:off x="822960" y="2816352"/>
            <a:ext cx="10515600" cy="621792"/>
          </a:xfrm>
          <a:prstGeom prst="rect">
            <a:avLst/>
          </a:prstGeom>
          <a:solidFill>
            <a:srgbClr val="FFFFFF"/>
          </a:solidFill>
          <a:ln/>
        </p:spPr>
      </p:sp>
      <p:sp>
        <p:nvSpPr>
          <p:cNvPr id="9" name="Text 7"/>
          <p:cNvSpPr txBox="1"/>
          <p:nvPr/>
        </p:nvSpPr>
        <p:spPr>
          <a:xfrm>
            <a:off x="1097280" y="2816352"/>
            <a:ext cx="10149840" cy="621792"/>
          </a:xfrm>
          <a:prstGeom prst="rect">
            <a:avLst/>
          </a:prstGeom>
          <a:noFill/>
          <a:ln/>
        </p:spPr>
        <p:txBody>
          <a:bodyPr wrap="square" lIns="0" tIns="0" rIns="0" bIns="0" rtlCol="0" anchor="ctr"/>
          <a:lstStyle/>
          <a:p>
            <a:pPr marL="0" indent="0">
              <a:buNone/>
            </a:pPr>
            <a:r>
              <a:rPr lang="en-US" sz="1800" dirty="0">
                <a:solidFill>
                  <a:srgbClr val="222222"/>
                </a:solidFill>
                <a:latin typeface="Calibri" pitchFamily="34" charset="0"/>
                <a:ea typeface="Calibri" pitchFamily="34" charset="-122"/>
                <a:cs typeface="Calibri" pitchFamily="34" charset="-120"/>
              </a:rPr>
              <a:t>2.  lr too big -&gt; ?   (slow / overshoot / perfect)</a:t>
            </a:r>
            <a:endParaRPr lang="en-US" sz="1800" dirty="0"/>
          </a:p>
        </p:txBody>
      </p:sp>
      <p:sp>
        <p:nvSpPr>
          <p:cNvPr id="10" name="Shape 8"/>
          <p:cNvSpPr/>
          <p:nvPr/>
        </p:nvSpPr>
        <p:spPr>
          <a:xfrm>
            <a:off x="822960" y="3575304"/>
            <a:ext cx="10515600" cy="621792"/>
          </a:xfrm>
          <a:prstGeom prst="rect">
            <a:avLst/>
          </a:prstGeom>
          <a:solidFill>
            <a:srgbClr val="FFFFFF"/>
          </a:solidFill>
          <a:ln/>
        </p:spPr>
      </p:sp>
      <p:sp>
        <p:nvSpPr>
          <p:cNvPr id="11" name="Text 9"/>
          <p:cNvSpPr txBox="1"/>
          <p:nvPr/>
        </p:nvSpPr>
        <p:spPr>
          <a:xfrm>
            <a:off x="1097280" y="3575304"/>
            <a:ext cx="10149840" cy="621792"/>
          </a:xfrm>
          <a:prstGeom prst="rect">
            <a:avLst/>
          </a:prstGeom>
          <a:noFill/>
          <a:ln/>
        </p:spPr>
        <p:txBody>
          <a:bodyPr wrap="square" lIns="0" tIns="0" rIns="0" bIns="0" rtlCol="0" anchor="ctr"/>
          <a:lstStyle/>
          <a:p>
            <a:pPr marL="0" indent="0">
              <a:buNone/>
            </a:pPr>
            <a:r>
              <a:rPr lang="en-US" sz="1800" dirty="0">
                <a:solidFill>
                  <a:srgbClr val="222222"/>
                </a:solidFill>
                <a:latin typeface="Calibri" pitchFamily="34" charset="0"/>
                <a:ea typeface="Calibri" pitchFamily="34" charset="-122"/>
                <a:cs typeface="Calibri" pitchFamily="34" charset="-120"/>
              </a:rPr>
              <a:t>3.  Fair die: expected value = ?   (3 / 3.5 / 6)</a:t>
            </a:r>
            <a:endParaRPr lang="en-US" sz="1800" dirty="0"/>
          </a:p>
        </p:txBody>
      </p:sp>
      <p:sp>
        <p:nvSpPr>
          <p:cNvPr id="12" name="Shape 10"/>
          <p:cNvSpPr/>
          <p:nvPr/>
        </p:nvSpPr>
        <p:spPr>
          <a:xfrm>
            <a:off x="822960" y="4334256"/>
            <a:ext cx="10515600" cy="621792"/>
          </a:xfrm>
          <a:prstGeom prst="rect">
            <a:avLst/>
          </a:prstGeom>
          <a:solidFill>
            <a:srgbClr val="FFFFFF"/>
          </a:solidFill>
          <a:ln/>
        </p:spPr>
      </p:sp>
      <p:sp>
        <p:nvSpPr>
          <p:cNvPr id="13" name="Text 11"/>
          <p:cNvSpPr txBox="1"/>
          <p:nvPr/>
        </p:nvSpPr>
        <p:spPr>
          <a:xfrm>
            <a:off x="1097280" y="4334256"/>
            <a:ext cx="10149840" cy="621792"/>
          </a:xfrm>
          <a:prstGeom prst="rect">
            <a:avLst/>
          </a:prstGeom>
          <a:noFill/>
          <a:ln/>
        </p:spPr>
        <p:txBody>
          <a:bodyPr wrap="square" lIns="0" tIns="0" rIns="0" bIns="0" rtlCol="0" anchor="ctr"/>
          <a:lstStyle/>
          <a:p>
            <a:pPr marL="0" indent="0">
              <a:buNone/>
            </a:pPr>
            <a:r>
              <a:rPr lang="en-US" sz="1800" dirty="0">
                <a:solidFill>
                  <a:srgbClr val="222222"/>
                </a:solidFill>
                <a:latin typeface="Calibri" pitchFamily="34" charset="0"/>
                <a:ea typeface="Calibri" pitchFamily="34" charset="-122"/>
                <a:cs typeface="Calibri" pitchFamily="34" charset="-120"/>
              </a:rPr>
              <a:t>4.  Customers per hour follow a ...?   (Poisson / Gaussian / Uniform)</a:t>
            </a:r>
            <a:endParaRPr lang="en-US" sz="1800" dirty="0"/>
          </a:p>
        </p:txBody>
      </p:sp>
      <p:sp>
        <p:nvSpPr>
          <p:cNvPr id="14" name="Shape 12"/>
          <p:cNvSpPr/>
          <p:nvPr/>
        </p:nvSpPr>
        <p:spPr>
          <a:xfrm>
            <a:off x="822960" y="5093208"/>
            <a:ext cx="10515600" cy="621792"/>
          </a:xfrm>
          <a:prstGeom prst="rect">
            <a:avLst/>
          </a:prstGeom>
          <a:solidFill>
            <a:srgbClr val="FFFFFF"/>
          </a:solidFill>
          <a:ln/>
        </p:spPr>
      </p:sp>
      <p:sp>
        <p:nvSpPr>
          <p:cNvPr id="15" name="Text 13"/>
          <p:cNvSpPr txBox="1"/>
          <p:nvPr/>
        </p:nvSpPr>
        <p:spPr>
          <a:xfrm>
            <a:off x="1097280" y="5093208"/>
            <a:ext cx="10149840" cy="621792"/>
          </a:xfrm>
          <a:prstGeom prst="rect">
            <a:avLst/>
          </a:prstGeom>
          <a:noFill/>
          <a:ln/>
        </p:spPr>
        <p:txBody>
          <a:bodyPr wrap="square" lIns="0" tIns="0" rIns="0" bIns="0" rtlCol="0" anchor="ctr"/>
          <a:lstStyle/>
          <a:p>
            <a:pPr marL="0" indent="0">
              <a:buNone/>
            </a:pPr>
            <a:r>
              <a:rPr lang="en-US" sz="1800" dirty="0">
                <a:solidFill>
                  <a:srgbClr val="222222"/>
                </a:solidFill>
                <a:latin typeface="Calibri" pitchFamily="34" charset="0"/>
                <a:ea typeface="Calibri" pitchFamily="34" charset="-122"/>
                <a:cs typeface="Calibri" pitchFamily="34" charset="-120"/>
              </a:rPr>
              <a:t>5.  Outliers in data -&gt; use the ...?   (mean / median)</a:t>
            </a:r>
            <a:endParaRPr lang="en-US" sz="1800" dirty="0"/>
          </a:p>
        </p:txBody>
      </p:sp>
      <p:sp>
        <p:nvSpPr>
          <p:cNvPr id="16" name="Text 14"/>
          <p:cNvSpPr txBox="1"/>
          <p:nvPr/>
        </p:nvSpPr>
        <p:spPr>
          <a:xfrm>
            <a:off x="640080" y="5943600"/>
            <a:ext cx="100584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Fastest correct answers win - winner gets bragging rights!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40864" cy="502920"/>
          </a:xfrm>
          <a:prstGeom prst="rect">
            <a:avLst/>
          </a:prstGeom>
          <a:solidFill>
            <a:srgbClr val="39C2D7"/>
          </a:solidFill>
          <a:ln/>
        </p:spPr>
      </p:sp>
      <p:sp>
        <p:nvSpPr>
          <p:cNvPr id="3" name="Text 1"/>
          <p:cNvSpPr txBox="1"/>
          <p:nvPr/>
        </p:nvSpPr>
        <p:spPr>
          <a:xfrm>
            <a:off x="457200" y="411480"/>
            <a:ext cx="2340864"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Big picture</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464547"/>
                </a:solidFill>
                <a:latin typeface="Calibri" pitchFamily="34" charset="0"/>
                <a:ea typeface="Calibri" pitchFamily="34" charset="-122"/>
                <a:cs typeface="Calibri" pitchFamily="34" charset="-120"/>
              </a:rPr>
              <a:t>~2 min</a:t>
            </a:r>
            <a:endParaRPr lang="en-US" sz="1300" dirty="0"/>
          </a:p>
        </p:txBody>
      </p:sp>
      <p:sp>
        <p:nvSpPr>
          <p:cNvPr id="5" name="Text 3"/>
          <p:cNvSpPr txBox="1"/>
          <p:nvPr/>
        </p:nvSpPr>
        <p:spPr>
          <a:xfrm>
            <a:off x="457200" y="1024128"/>
            <a:ext cx="11247120" cy="594360"/>
          </a:xfrm>
          <a:prstGeom prst="rect">
            <a:avLst/>
          </a:prstGeom>
          <a:noFill/>
          <a:ln/>
        </p:spPr>
        <p:txBody>
          <a:bodyPr wrap="square" lIns="0" tIns="0" rIns="0" bIns="0" rtlCol="0" anchor="ctr"/>
          <a:lstStyle/>
          <a:p>
            <a:pPr marL="0" indent="0">
              <a:buNone/>
            </a:pPr>
            <a:r>
              <a:rPr lang="en-US" sz="2500" b="1" dirty="0">
                <a:solidFill>
                  <a:srgbClr val="222222"/>
                </a:solidFill>
                <a:latin typeface="Montserrat" pitchFamily="34" charset="0"/>
                <a:ea typeface="Montserrat" pitchFamily="34" charset="-122"/>
                <a:cs typeface="Montserrat" pitchFamily="34" charset="-120"/>
              </a:rPr>
              <a:t>How today's two topics work together</a:t>
            </a:r>
            <a:endParaRPr lang="en-US" sz="2500" dirty="0"/>
          </a:p>
        </p:txBody>
      </p:sp>
      <p:sp>
        <p:nvSpPr>
          <p:cNvPr id="6" name="Shape 4"/>
          <p:cNvSpPr/>
          <p:nvPr/>
        </p:nvSpPr>
        <p:spPr>
          <a:xfrm>
            <a:off x="457200" y="1920240"/>
            <a:ext cx="3657600" cy="2103120"/>
          </a:xfrm>
          <a:prstGeom prst="rect">
            <a:avLst/>
          </a:prstGeom>
          <a:solidFill>
            <a:srgbClr val="F6F6F6"/>
          </a:solidFill>
          <a:ln/>
        </p:spPr>
      </p:sp>
      <p:sp>
        <p:nvSpPr>
          <p:cNvPr id="7" name="Text 5"/>
          <p:cNvSpPr txBox="1"/>
          <p:nvPr/>
        </p:nvSpPr>
        <p:spPr>
          <a:xfrm>
            <a:off x="457200" y="2103120"/>
            <a:ext cx="3657600" cy="548640"/>
          </a:xfrm>
          <a:prstGeom prst="rect">
            <a:avLst/>
          </a:prstGeom>
          <a:noFill/>
          <a:ln/>
        </p:spPr>
        <p:txBody>
          <a:bodyPr wrap="square" lIns="0" tIns="0" rIns="0" bIns="0" rtlCol="0" anchor="ctr"/>
          <a:lstStyle/>
          <a:p>
            <a:pPr marL="0" indent="0" algn="ctr">
              <a:buNone/>
            </a:pPr>
            <a:r>
              <a:rPr lang="en-US" sz="2200" b="1" dirty="0">
                <a:solidFill>
                  <a:srgbClr val="39C2D7"/>
                </a:solidFill>
                <a:latin typeface="Montserrat" pitchFamily="34" charset="0"/>
                <a:ea typeface="Montserrat" pitchFamily="34" charset="-122"/>
                <a:cs typeface="Montserrat" pitchFamily="34" charset="-120"/>
              </a:rPr>
              <a:t>Calculus</a:t>
            </a:r>
            <a:endParaRPr lang="en-US" sz="2200" dirty="0"/>
          </a:p>
        </p:txBody>
      </p:sp>
      <p:sp>
        <p:nvSpPr>
          <p:cNvPr id="8" name="Text 6"/>
          <p:cNvSpPr txBox="1"/>
          <p:nvPr/>
        </p:nvSpPr>
        <p:spPr>
          <a:xfrm>
            <a:off x="640080" y="2743200"/>
            <a:ext cx="3291840" cy="1097280"/>
          </a:xfrm>
          <a:prstGeom prst="rect">
            <a:avLst/>
          </a:prstGeom>
          <a:noFill/>
          <a:ln/>
        </p:spPr>
        <p:txBody>
          <a:bodyPr wrap="square" lIns="0" tIns="0" rIns="0" bIns="0" rtlCol="0" anchor="ctr"/>
          <a:lstStyle/>
          <a:p>
            <a:pPr marL="0" indent="0" algn="ctr">
              <a:buNone/>
            </a:pPr>
            <a:r>
              <a:rPr lang="en-US" sz="1600" dirty="0">
                <a:solidFill>
                  <a:srgbClr val="222222"/>
                </a:solidFill>
                <a:latin typeface="Calibri" pitchFamily="34" charset="0"/>
                <a:ea typeface="Calibri" pitchFamily="34" charset="-122"/>
                <a:cs typeface="Calibri" pitchFamily="34" charset="-120"/>
              </a:rPr>
              <a:t>finds the best weights</a:t>
            </a:r>
            <a:endParaRPr lang="en-US" sz="1600" dirty="0"/>
          </a:p>
          <a:p>
            <a:pPr marL="0" indent="0" algn="ctr">
              <a:buNone/>
            </a:pPr>
            <a:r>
              <a:rPr lang="en-US" sz="1600" dirty="0">
                <a:solidFill>
                  <a:srgbClr val="222222"/>
                </a:solidFill>
                <a:latin typeface="Calibri" pitchFamily="34" charset="0"/>
                <a:ea typeface="Calibri" pitchFamily="34" charset="-122"/>
                <a:cs typeface="Calibri" pitchFamily="34" charset="-120"/>
              </a:rPr>
              <a:t>(gradient descent)</a:t>
            </a:r>
            <a:endParaRPr lang="en-US" sz="1600" dirty="0"/>
          </a:p>
        </p:txBody>
      </p:sp>
      <p:sp>
        <p:nvSpPr>
          <p:cNvPr id="9" name="Shape 7"/>
          <p:cNvSpPr/>
          <p:nvPr/>
        </p:nvSpPr>
        <p:spPr>
          <a:xfrm>
            <a:off x="4251960" y="1920240"/>
            <a:ext cx="3657600" cy="2103120"/>
          </a:xfrm>
          <a:prstGeom prst="rect">
            <a:avLst/>
          </a:prstGeom>
          <a:solidFill>
            <a:srgbClr val="F6F6F6"/>
          </a:solidFill>
          <a:ln/>
        </p:spPr>
      </p:sp>
      <p:sp>
        <p:nvSpPr>
          <p:cNvPr id="10" name="Text 8"/>
          <p:cNvSpPr txBox="1"/>
          <p:nvPr/>
        </p:nvSpPr>
        <p:spPr>
          <a:xfrm>
            <a:off x="4251960" y="2103120"/>
            <a:ext cx="3657600" cy="548640"/>
          </a:xfrm>
          <a:prstGeom prst="rect">
            <a:avLst/>
          </a:prstGeom>
          <a:noFill/>
          <a:ln/>
        </p:spPr>
        <p:txBody>
          <a:bodyPr wrap="square" lIns="0" tIns="0" rIns="0" bIns="0" rtlCol="0" anchor="ctr"/>
          <a:lstStyle/>
          <a:p>
            <a:pPr marL="0" indent="0" algn="ctr">
              <a:buNone/>
            </a:pPr>
            <a:r>
              <a:rPr lang="en-US" sz="2200" b="1" dirty="0">
                <a:solidFill>
                  <a:srgbClr val="39C2D7"/>
                </a:solidFill>
                <a:latin typeface="Montserrat" pitchFamily="34" charset="0"/>
                <a:ea typeface="Montserrat" pitchFamily="34" charset="-122"/>
                <a:cs typeface="Montserrat" pitchFamily="34" charset="-120"/>
              </a:rPr>
              <a:t>Probability</a:t>
            </a:r>
            <a:endParaRPr lang="en-US" sz="2200" dirty="0"/>
          </a:p>
        </p:txBody>
      </p:sp>
      <p:sp>
        <p:nvSpPr>
          <p:cNvPr id="11" name="Text 9"/>
          <p:cNvSpPr txBox="1"/>
          <p:nvPr/>
        </p:nvSpPr>
        <p:spPr>
          <a:xfrm>
            <a:off x="4434840" y="2743200"/>
            <a:ext cx="3291840" cy="1097280"/>
          </a:xfrm>
          <a:prstGeom prst="rect">
            <a:avLst/>
          </a:prstGeom>
          <a:noFill/>
          <a:ln/>
        </p:spPr>
        <p:txBody>
          <a:bodyPr wrap="square" lIns="0" tIns="0" rIns="0" bIns="0" rtlCol="0" anchor="ctr"/>
          <a:lstStyle/>
          <a:p>
            <a:pPr marL="0" indent="0" algn="ctr">
              <a:buNone/>
            </a:pPr>
            <a:r>
              <a:rPr lang="en-US" sz="1600" dirty="0">
                <a:solidFill>
                  <a:srgbClr val="222222"/>
                </a:solidFill>
                <a:latin typeface="Calibri" pitchFamily="34" charset="0"/>
                <a:ea typeface="Calibri" pitchFamily="34" charset="-122"/>
                <a:cs typeface="Calibri" pitchFamily="34" charset="-120"/>
              </a:rPr>
              <a:t>defines 'good'</a:t>
            </a:r>
            <a:endParaRPr lang="en-US" sz="1600" dirty="0"/>
          </a:p>
          <a:p>
            <a:pPr marL="0" indent="0" algn="ctr">
              <a:buNone/>
            </a:pPr>
            <a:r>
              <a:rPr lang="en-US" sz="1600" dirty="0">
                <a:solidFill>
                  <a:srgbClr val="222222"/>
                </a:solidFill>
                <a:latin typeface="Calibri" pitchFamily="34" charset="0"/>
                <a:ea typeface="Calibri" pitchFamily="34" charset="-122"/>
                <a:cs typeface="Calibri" pitchFamily="34" charset="-120"/>
              </a:rPr>
              <a:t>(loss = expected error, likelihood)</a:t>
            </a:r>
            <a:endParaRPr lang="en-US" sz="1600" dirty="0"/>
          </a:p>
        </p:txBody>
      </p:sp>
      <p:sp>
        <p:nvSpPr>
          <p:cNvPr id="12" name="Shape 10"/>
          <p:cNvSpPr/>
          <p:nvPr/>
        </p:nvSpPr>
        <p:spPr>
          <a:xfrm>
            <a:off x="8046720" y="1920240"/>
            <a:ext cx="3657600" cy="2103120"/>
          </a:xfrm>
          <a:prstGeom prst="rect">
            <a:avLst/>
          </a:prstGeom>
          <a:solidFill>
            <a:srgbClr val="39C2D7"/>
          </a:solidFill>
          <a:ln/>
        </p:spPr>
      </p:sp>
      <p:sp>
        <p:nvSpPr>
          <p:cNvPr id="13" name="Text 11"/>
          <p:cNvSpPr txBox="1"/>
          <p:nvPr/>
        </p:nvSpPr>
        <p:spPr>
          <a:xfrm>
            <a:off x="8046720" y="2103120"/>
            <a:ext cx="365760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Statistics</a:t>
            </a:r>
            <a:endParaRPr lang="en-US" sz="2200" dirty="0"/>
          </a:p>
        </p:txBody>
      </p:sp>
      <p:sp>
        <p:nvSpPr>
          <p:cNvPr id="14" name="Text 12"/>
          <p:cNvSpPr txBox="1"/>
          <p:nvPr/>
        </p:nvSpPr>
        <p:spPr>
          <a:xfrm>
            <a:off x="8229600" y="2743200"/>
            <a:ext cx="3291840" cy="109728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tells if we can TRUST it</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(tests, confidence intervals)</a:t>
            </a:r>
            <a:endParaRPr lang="en-US" sz="1600" dirty="0"/>
          </a:p>
        </p:txBody>
      </p:sp>
      <p:sp>
        <p:nvSpPr>
          <p:cNvPr id="15" name="Shape 13"/>
          <p:cNvSpPr/>
          <p:nvPr/>
        </p:nvSpPr>
        <p:spPr>
          <a:xfrm>
            <a:off x="457200" y="4389120"/>
            <a:ext cx="11247120" cy="1463040"/>
          </a:xfrm>
          <a:prstGeom prst="rect">
            <a:avLst/>
          </a:prstGeom>
          <a:solidFill>
            <a:srgbClr val="F6F6F6"/>
          </a:solidFill>
          <a:ln/>
        </p:spPr>
      </p:sp>
      <p:sp>
        <p:nvSpPr>
          <p:cNvPr id="16" name="Text 14"/>
          <p:cNvSpPr txBox="1"/>
          <p:nvPr/>
        </p:nvSpPr>
        <p:spPr>
          <a:xfrm>
            <a:off x="731520" y="4480560"/>
            <a:ext cx="10058400" cy="411480"/>
          </a:xfrm>
          <a:prstGeom prst="rect">
            <a:avLst/>
          </a:prstGeom>
          <a:noFill/>
          <a:ln/>
        </p:spPr>
        <p:txBody>
          <a:bodyPr wrap="square" lIns="0" tIns="0" rIns="0" bIns="0" rtlCol="0" anchor="ctr"/>
          <a:lstStyle/>
          <a:p>
            <a:pPr marL="0" indent="0">
              <a:buNone/>
            </a:pPr>
            <a:r>
              <a:rPr lang="en-US" sz="1700" b="1" dirty="0">
                <a:solidFill>
                  <a:srgbClr val="39C2D7"/>
                </a:solidFill>
                <a:latin typeface="Montserrat" pitchFamily="34" charset="0"/>
                <a:ea typeface="Montserrat" pitchFamily="34" charset="-122"/>
                <a:cs typeface="Montserrat" pitchFamily="34" charset="-120"/>
              </a:rPr>
              <a:t>Two things to remember</a:t>
            </a:r>
            <a:endParaRPr lang="en-US" sz="1700" dirty="0"/>
          </a:p>
        </p:txBody>
      </p:sp>
      <p:sp>
        <p:nvSpPr>
          <p:cNvPr id="17" name="Text 15"/>
          <p:cNvSpPr txBox="1"/>
          <p:nvPr/>
        </p:nvSpPr>
        <p:spPr>
          <a:xfrm>
            <a:off x="731520" y="4937760"/>
            <a:ext cx="10698480" cy="36576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1.  Training = rolling downhill to the lowest error.</a:t>
            </a:r>
            <a:endParaRPr lang="en-US" sz="1700" dirty="0"/>
          </a:p>
        </p:txBody>
      </p:sp>
      <p:sp>
        <p:nvSpPr>
          <p:cNvPr id="18" name="Text 16"/>
          <p:cNvSpPr txBox="1"/>
          <p:nvPr/>
        </p:nvSpPr>
        <p:spPr>
          <a:xfrm>
            <a:off x="731520" y="5349240"/>
            <a:ext cx="10698480" cy="36576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2.  ML = managing uncertainty with numbers - and being honest about it.</a:t>
            </a:r>
            <a:endParaRPr lang="en-US" sz="1700" dirty="0"/>
          </a:p>
        </p:txBody>
      </p:sp>
      <p:sp>
        <p:nvSpPr>
          <p:cNvPr id="19" name="Text 17"/>
          <p:cNvSpPr txBox="1"/>
          <p:nvPr/>
        </p:nvSpPr>
        <p:spPr>
          <a:xfrm>
            <a:off x="457200" y="6382512"/>
            <a:ext cx="1097280" cy="292608"/>
          </a:xfrm>
          <a:prstGeom prst="rect">
            <a:avLst/>
          </a:prstGeom>
          <a:noFill/>
          <a:ln/>
        </p:spPr>
        <p:txBody>
          <a:bodyPr wrap="square" lIns="0" tIns="0" rIns="0" bIns="0" rtlCol="0" anchor="ctr"/>
          <a:lstStyle/>
          <a:p>
            <a:pPr marL="0" indent="0">
              <a:buNone/>
            </a:pPr>
            <a:r>
              <a:rPr lang="en-US" sz="1300" b="1" dirty="0">
                <a:solidFill>
                  <a:srgbClr val="39C2D7"/>
                </a:solidFill>
                <a:latin typeface="Montserrat" pitchFamily="34" charset="0"/>
                <a:ea typeface="Montserrat" pitchFamily="34" charset="-122"/>
                <a:cs typeface="Montserrat" pitchFamily="34" charset="-120"/>
              </a:rPr>
              <a:t>iTPU</a:t>
            </a:r>
            <a:endParaRPr lang="en-US" sz="1300" dirty="0"/>
          </a:p>
        </p:txBody>
      </p:sp>
      <p:sp>
        <p:nvSpPr>
          <p:cNvPr id="20" name="Text 18"/>
          <p:cNvSpPr txBox="1"/>
          <p:nvPr/>
        </p:nvSpPr>
        <p:spPr>
          <a:xfrm>
            <a:off x="1371600" y="6400800"/>
            <a:ext cx="6400800" cy="256032"/>
          </a:xfrm>
          <a:prstGeom prst="rect">
            <a:avLst/>
          </a:prstGeom>
          <a:noFill/>
          <a:ln/>
        </p:spPr>
        <p:txBody>
          <a:bodyPr wrap="square" lIns="0" tIns="0" rIns="0" bIns="0" rtlCol="0" anchor="ctr"/>
          <a:lstStyle/>
          <a:p>
            <a:pPr marL="0" indent="0">
              <a:buNone/>
            </a:pPr>
            <a:r>
              <a:rPr lang="en-US" sz="900" dirty="0">
                <a:solidFill>
                  <a:srgbClr val="464547"/>
                </a:solidFill>
                <a:latin typeface="Calibri" pitchFamily="34" charset="0"/>
                <a:ea typeface="Calibri" pitchFamily="34" charset="-122"/>
                <a:cs typeface="Calibri" pitchFamily="34" charset="-120"/>
              </a:rPr>
              <a:t>Calculus &amp; Probability in ML</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39C2D7"/>
        </a:solidFill>
        <a:effectLst/>
      </p:bgPr>
    </p:bg>
    <p:spTree>
      <p:nvGrpSpPr>
        <p:cNvPr id="1" name=""/>
        <p:cNvGrpSpPr/>
        <p:nvPr/>
      </p:nvGrpSpPr>
      <p:grpSpPr>
        <a:xfrm>
          <a:off x="0" y="0"/>
          <a:ext cx="0" cy="0"/>
          <a:chOff x="0" y="0"/>
          <a:chExt cx="0" cy="0"/>
        </a:xfrm>
      </p:grpSpPr>
      <p:sp>
        <p:nvSpPr>
          <p:cNvPr id="2" name="Shape 0"/>
          <p:cNvSpPr/>
          <p:nvPr/>
        </p:nvSpPr>
        <p:spPr>
          <a:xfrm>
            <a:off x="457200" y="411480"/>
            <a:ext cx="5998464" cy="502920"/>
          </a:xfrm>
          <a:prstGeom prst="rect">
            <a:avLst/>
          </a:prstGeom>
          <a:solidFill>
            <a:srgbClr val="FFFFFF"/>
          </a:solidFill>
          <a:ln/>
        </p:spPr>
      </p:sp>
      <p:sp>
        <p:nvSpPr>
          <p:cNvPr id="3" name="Text 1"/>
          <p:cNvSpPr txBox="1"/>
          <p:nvPr/>
        </p:nvSpPr>
        <p:spPr>
          <a:xfrm>
            <a:off x="457200" y="411480"/>
            <a:ext cx="5998464" cy="502920"/>
          </a:xfrm>
          <a:prstGeom prst="rect">
            <a:avLst/>
          </a:prstGeom>
          <a:noFill/>
          <a:ln/>
        </p:spPr>
        <p:txBody>
          <a:bodyPr wrap="square" lIns="0" tIns="0" rIns="0" bIns="0" rtlCol="0" anchor="ctr"/>
          <a:lstStyle/>
          <a:p>
            <a:pPr marL="0" indent="0" algn="ctr">
              <a:buNone/>
            </a:pPr>
            <a:r>
              <a:rPr lang="en-US" sz="1400" b="1" dirty="0">
                <a:solidFill>
                  <a:srgbClr val="39C2D7"/>
                </a:solidFill>
                <a:latin typeface="Montserrat" pitchFamily="34" charset="0"/>
                <a:ea typeface="Montserrat" pitchFamily="34" charset="-122"/>
                <a:cs typeface="Montserrat" pitchFamily="34" charset="-120"/>
              </a:rPr>
              <a:t>MENTI  |  Open ended  -  exit ticket</a:t>
            </a:r>
            <a:endParaRPr lang="en-US" sz="1400" dirty="0"/>
          </a:p>
        </p:txBody>
      </p:sp>
      <p:sp>
        <p:nvSpPr>
          <p:cNvPr id="4" name="Text 2"/>
          <p:cNvSpPr txBox="1"/>
          <p:nvPr/>
        </p:nvSpPr>
        <p:spPr>
          <a:xfrm>
            <a:off x="10149840" y="457200"/>
            <a:ext cx="1600200" cy="411480"/>
          </a:xfrm>
          <a:prstGeom prst="rect">
            <a:avLst/>
          </a:prstGeom>
          <a:noFill/>
          <a:ln/>
        </p:spPr>
        <p:txBody>
          <a:bodyPr wrap="square" lIns="0" tIns="0" rIns="0" bIns="0" rtlCol="0" anchor="ctr"/>
          <a:lstStyle/>
          <a:p>
            <a:pPr marL="0" indent="0" algn="r">
              <a:buNone/>
            </a:pPr>
            <a:r>
              <a:rPr lang="en-US" sz="1300" i="1" dirty="0">
                <a:solidFill>
                  <a:srgbClr val="FFFFFF"/>
                </a:solidFill>
                <a:latin typeface="Calibri" pitchFamily="34" charset="0"/>
                <a:ea typeface="Calibri" pitchFamily="34" charset="-122"/>
                <a:cs typeface="Calibri" pitchFamily="34" charset="-120"/>
              </a:rPr>
              <a:t>~2 min</a:t>
            </a:r>
            <a:endParaRPr lang="en-US" sz="1300" dirty="0"/>
          </a:p>
        </p:txBody>
      </p:sp>
      <p:sp>
        <p:nvSpPr>
          <p:cNvPr id="5" name="Shape 3"/>
          <p:cNvSpPr/>
          <p:nvPr/>
        </p:nvSpPr>
        <p:spPr>
          <a:xfrm>
            <a:off x="7818120" y="1051560"/>
            <a:ext cx="3931920" cy="502920"/>
          </a:xfrm>
          <a:prstGeom prst="rect">
            <a:avLst/>
          </a:prstGeom>
          <a:solidFill>
            <a:srgbClr val="FFFFFF"/>
          </a:solidFill>
          <a:ln/>
        </p:spPr>
      </p:sp>
      <p:sp>
        <p:nvSpPr>
          <p:cNvPr id="6" name="Text 4"/>
          <p:cNvSpPr txBox="1"/>
          <p:nvPr/>
        </p:nvSpPr>
        <p:spPr>
          <a:xfrm>
            <a:off x="7818120" y="1051560"/>
            <a:ext cx="3931920" cy="502920"/>
          </a:xfrm>
          <a:prstGeom prst="rect">
            <a:avLst/>
          </a:prstGeom>
          <a:noFill/>
          <a:ln/>
        </p:spPr>
        <p:txBody>
          <a:bodyPr wrap="square" lIns="0" tIns="0" rIns="0" bIns="0" rtlCol="0" anchor="ctr"/>
          <a:lstStyle/>
          <a:p>
            <a:pPr marL="0" indent="0" algn="ctr">
              <a:buNone/>
            </a:pPr>
            <a:r>
              <a:rPr lang="en-US" sz="1300" b="1" dirty="0">
                <a:solidFill>
                  <a:srgbClr val="39C2D7"/>
                </a:solidFill>
                <a:latin typeface="Montserrat" pitchFamily="34" charset="0"/>
                <a:ea typeface="Montserrat" pitchFamily="34" charset="-122"/>
                <a:cs typeface="Montserrat" pitchFamily="34" charset="-120"/>
              </a:rPr>
              <a:t>menti.com   code:  ____ ____</a:t>
            </a:r>
            <a:endParaRPr lang="en-US" sz="1300" dirty="0"/>
          </a:p>
        </p:txBody>
      </p:sp>
      <p:sp>
        <p:nvSpPr>
          <p:cNvPr id="7" name="Text 5"/>
          <p:cNvSpPr txBox="1"/>
          <p:nvPr/>
        </p:nvSpPr>
        <p:spPr>
          <a:xfrm>
            <a:off x="640080" y="1691640"/>
            <a:ext cx="10972800" cy="1325880"/>
          </a:xfrm>
          <a:prstGeom prst="rect">
            <a:avLst/>
          </a:prstGeom>
          <a:noFill/>
          <a:ln/>
        </p:spPr>
        <p:txBody>
          <a:bodyPr wrap="square" lIns="0" tIns="0" rIns="0" bIns="0" rtlCol="0" anchor="t"/>
          <a:lstStyle/>
          <a:p>
            <a:pPr marL="0" indent="0">
              <a:buNone/>
            </a:pPr>
            <a:r>
              <a:rPr lang="en-US" sz="2700" b="1" dirty="0">
                <a:solidFill>
                  <a:srgbClr val="FFFFFF"/>
                </a:solidFill>
                <a:latin typeface="Montserrat" pitchFamily="34" charset="0"/>
                <a:ea typeface="Montserrat" pitchFamily="34" charset="-122"/>
                <a:cs typeface="Montserrat" pitchFamily="34" charset="-120"/>
              </a:rPr>
              <a:t>1) One thing I learned today.   2) One thing that is still confusing.</a:t>
            </a:r>
            <a:endParaRPr lang="en-US" sz="2700" dirty="0"/>
          </a:p>
        </p:txBody>
      </p:sp>
      <p:sp>
        <p:nvSpPr>
          <p:cNvPr id="8" name="Shape 6"/>
          <p:cNvSpPr/>
          <p:nvPr/>
        </p:nvSpPr>
        <p:spPr>
          <a:xfrm>
            <a:off x="822960" y="3108960"/>
            <a:ext cx="10515600" cy="2651760"/>
          </a:xfrm>
          <a:prstGeom prst="rect">
            <a:avLst/>
          </a:prstGeom>
          <a:solidFill>
            <a:srgbClr val="FFFFFF">
              <a:alpha val="20000"/>
            </a:srgbClr>
          </a:solidFill>
          <a:ln w="25400">
            <a:solidFill>
              <a:srgbClr val="FFFFFF"/>
            </a:solidFill>
            <a:prstDash val="dash"/>
          </a:ln>
        </p:spPr>
      </p:sp>
      <p:sp>
        <p:nvSpPr>
          <p:cNvPr id="9" name="Text 7"/>
          <p:cNvSpPr txBox="1"/>
          <p:nvPr/>
        </p:nvSpPr>
        <p:spPr>
          <a:xfrm>
            <a:off x="822960" y="3108960"/>
            <a:ext cx="10515600" cy="2651760"/>
          </a:xfrm>
          <a:prstGeom prst="rect">
            <a:avLst/>
          </a:prstGeom>
          <a:noFill/>
          <a:ln/>
        </p:spPr>
        <p:txBody>
          <a:bodyPr wrap="square" lIns="0" tIns="0" rIns="0" bIns="0" rtlCol="0" anchor="ctr"/>
          <a:lstStyle/>
          <a:p>
            <a:pPr marL="0" indent="0" algn="ctr">
              <a:buNone/>
            </a:pPr>
            <a:r>
              <a:rPr lang="en-US" sz="2200" b="1" dirty="0">
                <a:solidFill>
                  <a:srgbClr val="FFFFFF"/>
                </a:solidFill>
                <a:latin typeface="Montserrat" pitchFamily="34" charset="0"/>
                <a:ea typeface="Montserrat" pitchFamily="34" charset="-122"/>
                <a:cs typeface="Montserrat" pitchFamily="34" charset="-120"/>
              </a:rPr>
              <a:t>Live answers appear here on Menti</a:t>
            </a:r>
            <a:endParaRPr lang="en-US" sz="2200" dirty="0"/>
          </a:p>
        </p:txBody>
      </p:sp>
      <p:sp>
        <p:nvSpPr>
          <p:cNvPr id="10" name="Text 8"/>
          <p:cNvSpPr txBox="1"/>
          <p:nvPr/>
        </p:nvSpPr>
        <p:spPr>
          <a:xfrm>
            <a:off x="640080" y="5897880"/>
            <a:ext cx="100584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Answer both on menti.com before you leave</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39C2D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828800" cy="548640"/>
          </a:xfrm>
          <a:prstGeom prst="rect">
            <a:avLst/>
          </a:prstGeom>
          <a:noFill/>
          <a:ln/>
        </p:spPr>
        <p:txBody>
          <a:bodyPr wrap="square" lIns="0" tIns="0" rIns="0" bIns="0" rtlCol="0" anchor="ctr"/>
          <a:lstStyle/>
          <a:p>
            <a:pPr marL="0" indent="0">
              <a:buNone/>
            </a:pPr>
            <a:r>
              <a:rPr lang="en-US" sz="2400" b="1" dirty="0">
                <a:solidFill>
                  <a:srgbClr val="FFFFFF"/>
                </a:solidFill>
                <a:latin typeface="Montserrat" pitchFamily="34" charset="0"/>
                <a:ea typeface="Montserrat" pitchFamily="34" charset="-122"/>
                <a:cs typeface="Montserrat" pitchFamily="34" charset="-120"/>
              </a:rPr>
              <a:t>iTPU</a:t>
            </a:r>
            <a:endParaRPr lang="en-US" sz="2400" dirty="0"/>
          </a:p>
        </p:txBody>
      </p:sp>
      <p:sp>
        <p:nvSpPr>
          <p:cNvPr id="3" name="Text 1"/>
          <p:cNvSpPr txBox="1"/>
          <p:nvPr/>
        </p:nvSpPr>
        <p:spPr>
          <a:xfrm>
            <a:off x="731520" y="2377440"/>
            <a:ext cx="10058400" cy="914400"/>
          </a:xfrm>
          <a:prstGeom prst="rect">
            <a:avLst/>
          </a:prstGeom>
          <a:noFill/>
          <a:ln/>
        </p:spPr>
        <p:txBody>
          <a:bodyPr wrap="square" lIns="0" tIns="0" rIns="0" bIns="0" rtlCol="0" anchor="ctr"/>
          <a:lstStyle/>
          <a:p>
            <a:pPr marL="0" indent="0">
              <a:buNone/>
            </a:pPr>
            <a:r>
              <a:rPr lang="en-US" sz="5200" b="1" dirty="0">
                <a:solidFill>
                  <a:srgbClr val="FFFFFF"/>
                </a:solidFill>
                <a:latin typeface="Montserrat" pitchFamily="34" charset="0"/>
                <a:ea typeface="Montserrat" pitchFamily="34" charset="-122"/>
                <a:cs typeface="Montserrat" pitchFamily="34" charset="-120"/>
              </a:rPr>
              <a:t>Thank you!</a:t>
            </a:r>
            <a:endParaRPr lang="en-US" sz="5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5345</Words>
  <Application>Microsoft Office PowerPoint</Application>
  <PresentationFormat>Widescreen</PresentationFormat>
  <Paragraphs>621</Paragraphs>
  <Slides>48</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Dilrabo Khidirova</cp:lastModifiedBy>
  <cp:revision>2</cp:revision>
  <dcterms:created xsi:type="dcterms:W3CDTF">2026-09-23T06:52:15Z</dcterms:created>
  <dcterms:modified xsi:type="dcterms:W3CDTF">2026-09-23T10:15:27Z</dcterms:modified>
</cp:coreProperties>
</file>