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slide 5: a straight line can go above 1 or below 0; logistic regression squeezes the output into 0-1 with the sigmoid.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slide 5: lower it (e.g. 0.2); side effect: more normal payments get checked (more false alarms).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slide 5: Lasso - sets most weights to exactly 0 and keeps a short list; plain linear cannot even be solved with more features than patients.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slide 5: smv and workers are twins (correlation 0.91) - multicollinearity; fix with Ridge or keep only one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two or three student answers before revealing each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01752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1  |  on your own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411480"/>
            <a:ext cx="1783080" cy="502920"/>
          </a:xfrm>
          <a:prstGeom prst="rect">
            <a:avLst/>
          </a:prstGeom>
          <a:solidFill>
            <a:srgbClr val="26385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66960" y="411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minutes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weather app that says 105%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9  |  Regression Algorithms  |  Mini cases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6583680" cy="214884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965960"/>
            <a:ext cx="91440" cy="214884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1031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story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514600"/>
            <a:ext cx="6126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builds a "chance of rain" app using linear regression. On a very cloudy day, the app proudly shows: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of rain: 105%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4297680"/>
            <a:ext cx="6583680" cy="1874520"/>
          </a:xfrm>
          <a:prstGeom prst="rect">
            <a:avLst/>
          </a:prstGeom>
          <a:solidFill>
            <a:srgbClr val="FFFFFF"/>
          </a:solidFill>
          <a:ln w="25400">
            <a:solidFill>
              <a:srgbClr val="39C2D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4074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task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80060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wrong?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 should she use instead?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76072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answer in the chat - press Enter only when the teacher says GO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863840" y="1965960"/>
            <a:ext cx="3108960" cy="4206240"/>
          </a:xfrm>
          <a:prstGeom prst="rect">
            <a:avLst>
              <a:gd name="adj" fmla="val 8824"/>
            </a:avLst>
          </a:prstGeom>
          <a:solidFill>
            <a:srgbClr val="263852"/>
          </a:solidFill>
          <a:ln/>
        </p:spPr>
      </p:sp>
      <p:sp>
        <p:nvSpPr>
          <p:cNvPr id="18" name="Shape 16"/>
          <p:cNvSpPr/>
          <p:nvPr/>
        </p:nvSpPr>
        <p:spPr>
          <a:xfrm>
            <a:off x="8046720" y="2240280"/>
            <a:ext cx="2743200" cy="3566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4672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Tashkent  |  today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732520" y="2788920"/>
            <a:ext cx="1371600" cy="868680"/>
          </a:xfrm>
          <a:prstGeom prst="cloud">
            <a:avLst/>
          </a:prstGeom>
          <a:solidFill>
            <a:srgbClr val="F6F6F6"/>
          </a:solidFill>
          <a:ln w="19050">
            <a:solidFill>
              <a:srgbClr val="46454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Chance of rain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0" y="41605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D35D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105%</a:t>
            </a:r>
            <a:endParaRPr lang="en-US" sz="54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0" y="5120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645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???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01752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2  |  on your own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411480"/>
            <a:ext cx="1783080" cy="502920"/>
          </a:xfrm>
          <a:prstGeom prst="rect">
            <a:avLst/>
          </a:prstGeom>
          <a:solidFill>
            <a:srgbClr val="26385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66960" y="411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minutes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bank's fraud alarm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9  |  Regression Algorithms  |  Mini cases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6583680" cy="214884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965960"/>
            <a:ext cx="91440" cy="214884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1031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story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514600"/>
            <a:ext cx="6126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payment app flags a payment as FRAUD when P(fraud) ≥ 0.5.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payment had P(fraud) = 0.35, so it was NOT flagged. It was fraud: a customer lost $2,000.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 asks: "Should we raise the threshold or lower it?"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4297680"/>
            <a:ext cx="6583680" cy="1874520"/>
          </a:xfrm>
          <a:prstGeom prst="rect">
            <a:avLst/>
          </a:prstGeom>
          <a:solidFill>
            <a:srgbClr val="FFFFFF"/>
          </a:solidFill>
          <a:ln w="25400">
            <a:solidFill>
              <a:srgbClr val="39C2D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4074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task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80060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it or lower it?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side effect of your choice.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76072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answer in the chat - press Enter only when the teacher says GO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0" y="2103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P(fraud)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589520" y="3291840"/>
            <a:ext cx="4023360" cy="201168"/>
          </a:xfrm>
          <a:prstGeom prst="rect">
            <a:avLst/>
          </a:prstGeom>
          <a:solidFill>
            <a:srgbClr val="F6F6F6"/>
          </a:solidFill>
          <a:ln w="12700">
            <a:solidFill>
              <a:srgbClr val="4645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0" y="3291840"/>
            <a:ext cx="2011680" cy="201168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0" name="Shape 18"/>
          <p:cNvSpPr/>
          <p:nvPr/>
        </p:nvSpPr>
        <p:spPr>
          <a:xfrm>
            <a:off x="7589520" y="3200400"/>
            <a:ext cx="0" cy="384048"/>
          </a:xfrm>
          <a:prstGeom prst="line">
            <a:avLst/>
          </a:prstGeom>
          <a:noFill/>
          <a:ln w="19050">
            <a:solidFill>
              <a:srgbClr val="46454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23760" y="36118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1612880" y="3200400"/>
            <a:ext cx="0" cy="384048"/>
          </a:xfrm>
          <a:prstGeom prst="line">
            <a:avLst/>
          </a:prstGeom>
          <a:noFill/>
          <a:ln w="19050">
            <a:solidFill>
              <a:srgbClr val="46454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1247120" y="36118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601200" y="2834640"/>
            <a:ext cx="0" cy="457200"/>
          </a:xfrm>
          <a:prstGeom prst="line">
            <a:avLst/>
          </a:prstGeom>
          <a:noFill/>
          <a:ln w="38100">
            <a:solidFill>
              <a:srgbClr val="263852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8869680" y="2514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38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threshold 0.5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814816" y="3209544"/>
            <a:ext cx="365760" cy="365760"/>
          </a:xfrm>
          <a:prstGeom prst="ellipse">
            <a:avLst/>
          </a:prstGeom>
          <a:solidFill>
            <a:srgbClr val="D35D4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98080" y="40690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35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payment: 0.35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D35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flagged - but it was fraud!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601200" y="5029200"/>
            <a:ext cx="201168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601200" y="5029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as fraud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589520" y="5029200"/>
            <a:ext cx="2011680" cy="50292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589520" y="5029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01752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3  |  on your own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411480"/>
            <a:ext cx="1783080" cy="502920"/>
          </a:xfrm>
          <a:prstGeom prst="rect">
            <a:avLst/>
          </a:prstGeom>
          <a:solidFill>
            <a:srgbClr val="26385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66960" y="411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minutes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hospital's 20,000 genes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9  |  Regression Algorithms  |  Mini cases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6583680" cy="214884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965960"/>
            <a:ext cx="91440" cy="214884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1031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story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514600"/>
            <a:ext cx="6126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 has 200 patients and 20,000 gene measurements for each patient.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doctor says: "I don't want 20,000 numbers. Tell me which FEW genes really matter for this disease."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4297680"/>
            <a:ext cx="6583680" cy="1874520"/>
          </a:xfrm>
          <a:prstGeom prst="rect">
            <a:avLst/>
          </a:prstGeom>
          <a:solidFill>
            <a:srgbClr val="FFFFFF"/>
          </a:solidFill>
          <a:ln w="25400">
            <a:solidFill>
              <a:srgbClr val="39C2D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4074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task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80060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model: Linear, Ridge or Lasso?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one reason.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76072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answer in the chat - press Enter only when the teacher says GO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589520" y="2057400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27848" y="2057400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66176" y="2057400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04504" y="2057400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42832" y="2057400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81160" y="2057400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19488" y="2057400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57816" y="2057400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296144" y="2057400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634472" y="2057400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72800" y="2057400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311128" y="2057400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0" y="2395728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27848" y="2395728"/>
            <a:ext cx="274320" cy="274320"/>
          </a:xfrm>
          <a:prstGeom prst="rect">
            <a:avLst/>
          </a:prstGeom>
          <a:solidFill>
            <a:srgbClr val="39C2D7"/>
          </a:solidFill>
          <a:ln w="19050">
            <a:solidFill>
              <a:srgbClr val="26385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66176" y="2395728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04504" y="2395728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42832" y="2395728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281160" y="2395728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19488" y="2395728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957816" y="2395728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296144" y="2395728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634472" y="2395728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972800" y="2395728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311128" y="2395728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89520" y="2734056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27848" y="2734056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66176" y="2734056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604504" y="2734056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42832" y="2734056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281160" y="2734056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619488" y="2734056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957816" y="2734056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296144" y="2734056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634472" y="2734056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972800" y="2734056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311128" y="2734056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589520" y="3072384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927848" y="3072384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266176" y="3072384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604504" y="3072384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942832" y="3072384"/>
            <a:ext cx="274320" cy="274320"/>
          </a:xfrm>
          <a:prstGeom prst="rect">
            <a:avLst/>
          </a:prstGeom>
          <a:solidFill>
            <a:srgbClr val="39C2D7"/>
          </a:solidFill>
          <a:ln w="19050">
            <a:solidFill>
              <a:srgbClr val="26385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281160" y="3072384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619488" y="3072384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957816" y="3072384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296144" y="3072384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634472" y="3072384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972800" y="3072384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311128" y="3072384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589520" y="3410712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927848" y="3410712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266176" y="3410712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604504" y="3410712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942832" y="3410712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281160" y="3410712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619488" y="3410712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957816" y="3410712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296144" y="3410712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634472" y="3410712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972800" y="3410712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311128" y="3410712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589520" y="3749040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927848" y="3749040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266176" y="3749040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604504" y="3749040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942832" y="3749040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281160" y="3749040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619488" y="3749040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957816" y="3749040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296144" y="3749040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634472" y="3749040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972800" y="3749040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311128" y="3749040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589520" y="4087368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927848" y="4087368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266176" y="4087368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604504" y="4087368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942832" y="4087368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281160" y="4087368"/>
            <a:ext cx="274320" cy="274320"/>
          </a:xfrm>
          <a:prstGeom prst="rect">
            <a:avLst/>
          </a:prstGeom>
          <a:solidFill>
            <a:srgbClr val="39C2D7"/>
          </a:solidFill>
          <a:ln w="19050">
            <a:solidFill>
              <a:srgbClr val="26385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619488" y="4087368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957816" y="4087368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0296144" y="4087368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634472" y="4087368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972800" y="4087368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1311128" y="4087368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589520" y="4425696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927848" y="4425696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266176" y="4425696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604504" y="4425696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942832" y="4425696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281160" y="4425696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619488" y="4425696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9957816" y="4425696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296144" y="4425696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0634472" y="4425696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0972800" y="4425696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1311128" y="4425696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589520" y="4764024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927848" y="4764024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266176" y="4764024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604504" y="4764024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942832" y="4764024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9281160" y="4764024"/>
            <a:ext cx="274320" cy="274320"/>
          </a:xfrm>
          <a:prstGeom prst="rect">
            <a:avLst/>
          </a:prstGeom>
          <a:solidFill>
            <a:srgbClr val="39C2D7"/>
          </a:solidFill>
          <a:ln w="19050">
            <a:solidFill>
              <a:srgbClr val="263852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9619488" y="4764024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9957816" y="4764024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0296144" y="4764024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0634472" y="4764024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0972800" y="4764024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1311128" y="4764024"/>
            <a:ext cx="274320" cy="2743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7498080" y="52120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square = one gene  (imagine 20,000)</a:t>
            </a:r>
            <a:endParaRPr lang="en-US" sz="1300" dirty="0"/>
          </a:p>
        </p:txBody>
      </p:sp>
      <p:sp>
        <p:nvSpPr>
          <p:cNvPr id="126" name="Text 124"/>
          <p:cNvSpPr txBox="1"/>
          <p:nvPr/>
        </p:nvSpPr>
        <p:spPr>
          <a:xfrm>
            <a:off x="7498080" y="55321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Which few matter?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017520" cy="50292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4  |  on your own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411480"/>
            <a:ext cx="1783080" cy="502920"/>
          </a:xfrm>
          <a:prstGeom prst="rect">
            <a:avLst/>
          </a:prstGeom>
          <a:solidFill>
            <a:srgbClr val="26385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66960" y="411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minutes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confused analysis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iTPU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9  |  Regression Algorithms  |  Mini cases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6583680" cy="214884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965960"/>
            <a:ext cx="91440" cy="2148840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1031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story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514600"/>
            <a:ext cx="6126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analyst at the garment factory reports: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"More workers RAISE productivity (+0.079), but complex garments (smv) LOWER it by almost the same amount (-0.078)."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week, with new data, the two signs swap.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4297680"/>
            <a:ext cx="6583680" cy="1874520"/>
          </a:xfrm>
          <a:prstGeom prst="rect">
            <a:avLst/>
          </a:prstGeom>
          <a:solidFill>
            <a:srgbClr val="FFFFFF"/>
          </a:solidFill>
          <a:ln w="25400">
            <a:solidFill>
              <a:srgbClr val="39C2D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4074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task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80060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happening? Explain in one sentence.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fix it?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76072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answer in the chat - press Enter only when the teacher says GO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589520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1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589520" y="3611880"/>
            <a:ext cx="1920240" cy="0"/>
          </a:xfrm>
          <a:prstGeom prst="line">
            <a:avLst/>
          </a:prstGeom>
          <a:noFill/>
          <a:ln w="19050">
            <a:solidFill>
              <a:srgbClr val="4645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3611880"/>
            <a:ext cx="685800" cy="998525"/>
          </a:xfrm>
          <a:prstGeom prst="rect">
            <a:avLst/>
          </a:prstGeom>
          <a:solidFill>
            <a:srgbClr val="D35D4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35240" y="4628693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-0.078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635240" y="49834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smv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641080" y="2600554"/>
            <a:ext cx="685800" cy="1011326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503920" y="228051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+0.079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503920" y="49834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692640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2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692640" y="3611880"/>
            <a:ext cx="1920240" cy="0"/>
          </a:xfrm>
          <a:prstGeom prst="line">
            <a:avLst/>
          </a:prstGeom>
          <a:noFill/>
          <a:ln w="19050">
            <a:solidFill>
              <a:srgbClr val="46454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875520" y="2792578"/>
            <a:ext cx="685800" cy="819302"/>
          </a:xfrm>
          <a:prstGeom prst="rect">
            <a:avLst/>
          </a:prstGeom>
          <a:solidFill>
            <a:srgbClr val="39C2D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738360" y="247253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+0.064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738360" y="49834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smv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744200" y="3611880"/>
            <a:ext cx="685800" cy="742493"/>
          </a:xfrm>
          <a:prstGeom prst="rect">
            <a:avLst/>
          </a:prstGeom>
          <a:solidFill>
            <a:srgbClr val="D35D4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607040" y="4372661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-0.058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607040" y="49834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64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498080" y="53949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9C2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Same data source. Why do the weights flip?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9C2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Answers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11155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2377440" cy="1115568"/>
          </a:xfrm>
          <a:prstGeom prst="rect">
            <a:avLst/>
          </a:prstGeom>
          <a:solidFill>
            <a:srgbClr val="26385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21488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1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weather app: 105%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154680" y="1280160"/>
            <a:ext cx="83210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straight line can go above 1 or below 0, so it is not a probability.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LOGISTIC regression: the sigmoid keeps the output between 0 and 1.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532888"/>
            <a:ext cx="11064240" cy="11155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532888"/>
            <a:ext cx="2377440" cy="1115568"/>
          </a:xfrm>
          <a:prstGeom prst="rect">
            <a:avLst/>
          </a:prstGeom>
          <a:solidFill>
            <a:srgbClr val="2638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532888"/>
            <a:ext cx="21488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2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bank's fraud alarm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532888"/>
            <a:ext cx="83210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the threshold (e.g. 0.2): the 0.35 fraud would now be caught.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effect: more normal payments get checked - more false alarms. The threshold is a business choice.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785616"/>
            <a:ext cx="11064240" cy="11155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785616"/>
            <a:ext cx="2377440" cy="1115568"/>
          </a:xfrm>
          <a:prstGeom prst="rect">
            <a:avLst/>
          </a:prstGeom>
          <a:solidFill>
            <a:srgbClr val="26385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785616"/>
            <a:ext cx="21488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3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20,000 genes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154680" y="3785616"/>
            <a:ext cx="83210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LASSO: it sets most gene weights to exactly 0 and leaves a short list.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linear regression cannot even be solved when there are more features (20,000) than patients (200).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5038344"/>
            <a:ext cx="11064240" cy="11155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5038344"/>
            <a:ext cx="2377440" cy="1115568"/>
          </a:xfrm>
          <a:prstGeom prst="rect">
            <a:avLst/>
          </a:prstGeom>
          <a:solidFill>
            <a:srgbClr val="26385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5038344"/>
            <a:ext cx="21488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4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confused analysis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154680" y="5038344"/>
            <a:ext cx="83210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smv and workers are TWINS (correlation 0.91): big teams make complex garments. This is multicollinearity.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cannot tell them apart, so the weights fight and flip. Fix: RIDGE, or keep only one of the two features.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2026-09-26T06:19:04Z</dcterms:created>
  <dcterms:modified xsi:type="dcterms:W3CDTF">2026-09-26T06:19:04Z</dcterms:modified>
</cp:coreProperties>
</file>