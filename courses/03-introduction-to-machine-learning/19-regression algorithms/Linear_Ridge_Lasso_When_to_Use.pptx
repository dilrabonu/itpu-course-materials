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part answers three questions: are these separate models, can we combine them, and which one should we choose?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model, one choice. The prediction formula is the same; only the training loss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practical ways. The third one is what data scientists do every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Elastic Net mixes the two penalties. In sklearn, l1_ratio controls the mix: 1 = pure Lasso, 0 = pure 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very common workflow: Lasso for selection, then a simple model on the chosen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result: with few features, regularization adds stability, not accuracy. With thousands of features, the difference becomes large.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table row by row and ask students for an example of each situation.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questions from top to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add one more example from their own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rules prevent the most common mistakes.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raw weights reflect units. Right: standardised weights reflect importance.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sklearn: RidgeCV(alphas=...), LassoCV(alphas=...) do this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sentence together with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Linear, Ridge and Lasso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Separate models or together?  When do we use which?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results from the garment factory data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03904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Together or separate?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one is a separate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7607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model, you choose ONE method: Linear, Ridge or Lasso.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predict in the same way (ŷ = X · w). They differ only in how they are TRAINED: which penalty they add to the loss.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scikit-learn, each one is its own class.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λ = 0, Ridge and Lasso become plain linear regression.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92240" y="1783080"/>
            <a:ext cx="5212080" cy="3749040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20840" y="1892808"/>
            <a:ext cx="475488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LinearRegression, Ridge, Lasso, ElasticNet)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LinearRegression()     # no penalty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Ridge(alpha=1.0)       # L2 penalty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Lasso(alpha=0.01)      # L1 penalty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ElasticNet(alpha=0.01, l1_ratio=0.5)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# both penalties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sklearn, alpha = lambda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Ridge, Lasso  |  together or separate? when to use which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But...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ways to combine them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596640" cy="3657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8424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Elastic Net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3230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penalties in ONE model: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Lasso's feature selection + Ridge's stability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82440" y="1783080"/>
            <a:ext cx="3596640" cy="36576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4282440" y="178308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65320" y="198424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One after another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65320" y="2606040"/>
            <a:ext cx="3230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Lasso chooses the important features, then Linear or Ridge is trained only on them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07680" y="1783080"/>
            <a:ext cx="3596640" cy="36576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4" name="Shape 12"/>
          <p:cNvSpPr/>
          <p:nvPr/>
        </p:nvSpPr>
        <p:spPr>
          <a:xfrm>
            <a:off x="8107680" y="178308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90560" y="198424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Compare and choose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90560" y="2606040"/>
            <a:ext cx="3230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all of them, compare with cross-validation, keep the best one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most common way)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Ridge, Lasso  |  together or separate? when to use which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364992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Way 1: Elastic Net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Elastic Net: both penalties in one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7772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Loss  =  MSE  +  λ₁ × Σ |w|  +  λ₂ × Σ w²</a:t>
            </a:r>
            <a:endParaRPr lang="en-US" sz="2400" dirty="0"/>
          </a:p>
        </p:txBody>
      </p:sp>
      <p:pic>
        <p:nvPicPr>
          <p:cNvPr id="7" name="Image 0" descr="/home/claude/dl/coef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881333"/>
            <a:ext cx="7406640" cy="315273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2697480"/>
            <a:ext cx="3749040" cy="35204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0" y="2697480"/>
            <a:ext cx="3749040" cy="41148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18388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GARMENT RESULT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38160" y="3200400"/>
            <a:ext cx="352044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keeps 5 features and DROPS workers (= 0)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keeps 8 features and keeps BOTH twins, just smaller: -0.024 / +0.014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you have MANY features AND twins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may pick one twin at random; Elastic Net keeps the group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Ridge, Lasso  |  together or separate? when to use which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242816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242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Way 2: one after another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select with Lasso, then train Linear or Ridge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377440" cy="1371600"/>
          </a:xfrm>
          <a:prstGeom prst="rect">
            <a:avLst/>
          </a:prstGeom>
          <a:solidFill>
            <a:srgbClr val="F6F6F6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01168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features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926080" y="2468880"/>
            <a:ext cx="640080" cy="457200"/>
          </a:xfrm>
          <a:prstGeom prst="rightArrow">
            <a:avLst/>
          </a:prstGeom>
          <a:solidFill>
            <a:srgbClr val="39C2D7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2011680"/>
            <a:ext cx="2377440" cy="1371600"/>
          </a:xfrm>
          <a:prstGeom prst="rect">
            <a:avLst/>
          </a:prstGeom>
          <a:solidFill>
            <a:srgbClr val="39C2D7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67328" y="201168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(λ = 0.01)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126480" y="2468880"/>
            <a:ext cx="640080" cy="457200"/>
          </a:xfrm>
          <a:prstGeom prst="rightArrow">
            <a:avLst/>
          </a:prstGeom>
          <a:solidFill>
            <a:srgbClr val="39C2D7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2011680"/>
            <a:ext cx="2103120" cy="1371600"/>
          </a:xfrm>
          <a:prstGeom prst="rect">
            <a:avLst/>
          </a:prstGeom>
          <a:solidFill>
            <a:srgbClr val="F6F6F6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67728" y="201168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052560" y="2468880"/>
            <a:ext cx="640080" cy="457200"/>
          </a:xfrm>
          <a:prstGeom prst="rightArrow">
            <a:avLst/>
          </a:prstGeom>
          <a:solidFill>
            <a:srgbClr val="39C2D7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0" y="2011680"/>
            <a:ext cx="1920240" cy="1371600"/>
          </a:xfrm>
          <a:prstGeom prst="rect">
            <a:avLst/>
          </a:prstGeom>
          <a:solidFill>
            <a:srgbClr val="39C2D7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93808" y="201168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RIDGE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5486400" cy="246888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794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Features Lasso kept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251960"/>
            <a:ext cx="51206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targeted_productivity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smv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idle_men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no_of_style_change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3703320"/>
            <a:ext cx="5486400" cy="246888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794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2519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on 5 features: test MSE 0.0219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on all 9 features: test MSE 0.0217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the same accuracy with about HALF the features: a simpler model that is easier to explain.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Ridge, Lasso  |  together or separate? when to use which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389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Way 3: compare and choose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 them all, compare with cross-validation</a:t>
            </a:r>
            <a:endParaRPr lang="en-US" sz="2600" dirty="0"/>
          </a:p>
        </p:txBody>
      </p:sp>
      <p:pic>
        <p:nvPicPr>
          <p:cNvPr id="5" name="Image 0" descr="/home/claude/dl/cv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56524"/>
            <a:ext cx="7223760" cy="34422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737360"/>
            <a:ext cx="388620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1737360"/>
            <a:ext cx="388620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1000" y="2331720"/>
            <a:ext cx="361188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Cross-validation: train and test 5 times on different parts of the data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beat the baseline (0.0304)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small data (9 features) they score the SAME: about 0.0234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scores tie, choose the simplest and most stable model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001000" y="5120640"/>
            <a:ext cx="361188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5120640"/>
            <a:ext cx="3429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Remember: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is the one that is best on NEW data, not on training data.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Ridge, Lasso  |  together or separate? when to use which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364992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 which?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do we use which model?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03520" cy="713232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83080"/>
            <a:ext cx="508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60720" y="1783080"/>
            <a:ext cx="2011680" cy="713232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70448" y="1783080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0" y="1783080"/>
            <a:ext cx="3931920" cy="713232"/>
          </a:xfrm>
          <a:prstGeom prst="rect">
            <a:avLst/>
          </a:prstGeom>
          <a:solidFill>
            <a:srgbClr val="39C2D7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82128" y="1783080"/>
            <a:ext cx="3712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496312"/>
            <a:ext cx="508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 features, independent, no overfitting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60720" y="2496312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70448" y="2496312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0" y="2496312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82128" y="2496312"/>
            <a:ext cx="3712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penalty is needed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209544"/>
            <a:ext cx="5303520" cy="71323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209544"/>
            <a:ext cx="508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Similar features (twins), unstable weights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60720" y="3209544"/>
            <a:ext cx="2011680" cy="71323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70448" y="3209544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0" y="3209544"/>
            <a:ext cx="3931920" cy="71323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82128" y="3209544"/>
            <a:ext cx="3712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calms the weights down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922776"/>
            <a:ext cx="508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Very many features, you need a short list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60720" y="3922776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70448" y="3922776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72400" y="3922776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82128" y="3922776"/>
            <a:ext cx="3712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sets useless weights to 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636008"/>
            <a:ext cx="5303520" cy="71323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4636008"/>
            <a:ext cx="508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Many features AND twins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60720" y="4636008"/>
            <a:ext cx="2011680" cy="71323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70448" y="4636008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772400" y="4636008"/>
            <a:ext cx="3931920" cy="71323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82128" y="4636008"/>
            <a:ext cx="3712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advantages together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5349240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5349240"/>
            <a:ext cx="508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features than examples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60720" y="5349240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70448" y="5349240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/ Lasso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772400" y="5349240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82128" y="5349240"/>
            <a:ext cx="3712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linear cannot be solved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Ridge, Lasso  |  together or separate? when to use which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guide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simple decision guide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108960" cy="1005840"/>
          </a:xfrm>
          <a:prstGeom prst="rect">
            <a:avLst/>
          </a:prstGeom>
          <a:solidFill>
            <a:srgbClr val="F6F6F6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828800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model overfitting, or are the weights unstable?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0" y="2103120"/>
            <a:ext cx="640080" cy="457200"/>
          </a:xfrm>
          <a:prstGeom prst="rightArrow">
            <a:avLst/>
          </a:prstGeom>
          <a:solidFill>
            <a:srgbClr val="39C2D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645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2194560" cy="1005840"/>
          </a:xfrm>
          <a:prstGeom prst="rect">
            <a:avLst/>
          </a:prstGeom>
          <a:solidFill>
            <a:srgbClr val="39C2D7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182880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783080" y="2926080"/>
            <a:ext cx="457200" cy="594360"/>
          </a:xfrm>
          <a:prstGeom prst="downArrow">
            <a:avLst/>
          </a:prstGeom>
          <a:solidFill>
            <a:srgbClr val="39C2D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3172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45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3108960" cy="1005840"/>
          </a:xfrm>
          <a:prstGeom prst="rect">
            <a:avLst/>
          </a:prstGeom>
          <a:solidFill>
            <a:srgbClr val="F6F6F6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611880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need a SHORT LIST of features?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0" y="3886200"/>
            <a:ext cx="640080" cy="457200"/>
          </a:xfrm>
          <a:prstGeom prst="rightArrow">
            <a:avLst/>
          </a:prstGeom>
          <a:solidFill>
            <a:srgbClr val="39C2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645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3611880"/>
            <a:ext cx="2194560" cy="1005840"/>
          </a:xfrm>
          <a:prstGeom prst="rect">
            <a:avLst/>
          </a:prstGeom>
          <a:solidFill>
            <a:srgbClr val="39C2D7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98848" y="361188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783080" y="4709160"/>
            <a:ext cx="457200" cy="502920"/>
          </a:xfrm>
          <a:prstGeom prst="downArrow">
            <a:avLst/>
          </a:prstGeom>
          <a:solidFill>
            <a:srgbClr val="39C2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33172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45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3108960" cy="914400"/>
          </a:xfrm>
          <a:prstGeom prst="rect">
            <a:avLst/>
          </a:prstGeom>
          <a:solidFill>
            <a:srgbClr val="F6F6F6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530352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twin features among them?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0" y="5532120"/>
            <a:ext cx="640080" cy="457200"/>
          </a:xfrm>
          <a:prstGeom prst="rightArrow">
            <a:avLst/>
          </a:prstGeom>
          <a:solidFill>
            <a:srgbClr val="39C2D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657600" y="5138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645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5303520"/>
            <a:ext cx="2194560" cy="914400"/>
          </a:xfrm>
          <a:prstGeom prst="rect">
            <a:avLst/>
          </a:prstGeom>
          <a:solidFill>
            <a:srgbClr val="39C2D7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98848" y="53035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675120" y="5532120"/>
            <a:ext cx="640080" cy="457200"/>
          </a:xfrm>
          <a:prstGeom prst="rightArrow">
            <a:avLst/>
          </a:prstGeom>
          <a:solidFill>
            <a:srgbClr val="39C2D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75120" y="5138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645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06640" y="5303520"/>
            <a:ext cx="2194560" cy="914400"/>
          </a:xfrm>
          <a:prstGeom prst="rect">
            <a:avLst/>
          </a:prstGeom>
          <a:solidFill>
            <a:srgbClr val="39C2D7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16368" y="53035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315200" y="1828800"/>
            <a:ext cx="4389120" cy="28346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0" y="1828800"/>
            <a:ext cx="82296" cy="2834640"/>
          </a:xfrm>
          <a:prstGeom prst="rect">
            <a:avLst/>
          </a:prstGeom>
          <a:solidFill>
            <a:srgbClr val="D35D4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58952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5D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Whatever you choose: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589520" y="2423160"/>
            <a:ext cx="402336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the features first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λ with cross-validation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result on TEST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baseline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Ridge, Lasso  |  together or separate? when to use which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life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Real-life examples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40330" cy="39319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8424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 prices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227457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and number of rooms always grow together: twins.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RIDGE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326130" y="1783080"/>
            <a:ext cx="2640330" cy="39319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3326130" y="178308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09010" y="198424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09010" y="2606040"/>
            <a:ext cx="227457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patients, 20,000 genes. 'Which few genes matter?'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LASSO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195060" y="1783080"/>
            <a:ext cx="2640330" cy="39319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5060" y="178308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77940" y="198424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reviews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77940" y="2606040"/>
            <a:ext cx="227457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words. 'Which 20 words affect the rating most?'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LASSO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063990" y="1783080"/>
            <a:ext cx="2640330" cy="39319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8" name="Shape 16"/>
          <p:cNvSpPr/>
          <p:nvPr/>
        </p:nvSpPr>
        <p:spPr>
          <a:xfrm>
            <a:off x="9063990" y="1783080"/>
            <a:ext cx="264033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46870" y="1984248"/>
            <a:ext cx="22745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garment data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46870" y="2606040"/>
            <a:ext cx="227457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 features, 1,197 rows. Linear works well, but the twins make RIDGE more reliable.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LINEAR or RIDGE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Ridge, Lasso  |  together or separate? when to use which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 remember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rules to always remember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596640" cy="35661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8424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Standardise first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3230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StandardScaler before Ridge or Lasso. Otherwise the penalty is unfair.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82440" y="1783080"/>
            <a:ext cx="3596640" cy="35661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4282440" y="178308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65320" y="198424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Never penalise w₀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65320" y="2606040"/>
            <a:ext cx="3230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intercept only sets the general level. It does not cause overfitting.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07680" y="1783080"/>
            <a:ext cx="3596640" cy="35661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107680" y="1783080"/>
            <a:ext cx="3596640" cy="8229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90560" y="1984248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Choose λ with cross-validation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90560" y="2606040"/>
            <a:ext cx="3230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RidgeCV, LassoCV. Too small λ = plain linear. Too big λ = underfitting.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Ridge, Lasso  |  together or separate? when to use which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we must standardise first</a:t>
            </a:r>
            <a:endParaRPr lang="en-US" sz="2600" dirty="0"/>
          </a:p>
        </p:txBody>
      </p:sp>
      <p:pic>
        <p:nvPicPr>
          <p:cNvPr id="5" name="Image 0" descr="/home/claude/dl/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770" y="1737360"/>
            <a:ext cx="917398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983480"/>
            <a:ext cx="11247120" cy="12801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983480"/>
            <a:ext cx="82296" cy="128016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5029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over_time is in minutes (up to 25,920) -&gt; its weight is tiny and escapes the penalty     |     targeted_productivity is 0 to 0.8 -&gt; its weight is big and is punished unfairly     |     After standardising, weight size = importance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56875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Remember:  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penalty needs features on the same scale.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Ridge, Lasso  |  together or separate? when to use which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λ with cross-validation</a:t>
            </a:r>
            <a:endParaRPr lang="en-US" sz="2600" dirty="0"/>
          </a:p>
        </p:txBody>
      </p:sp>
      <p:pic>
        <p:nvPicPr>
          <p:cNvPr id="5" name="Image 0" descr="/home/claude/dl/lambda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25678"/>
            <a:ext cx="7223760" cy="35039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737360"/>
            <a:ext cx="3886200" cy="44805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1737360"/>
            <a:ext cx="3886200" cy="45720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IDEA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1000" y="2331720"/>
            <a:ext cx="361188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many λ values and score each one on validation data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small: the same as plain linear regression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big: underfitting, the error rises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best λ on our data: about 5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001000" y="5120640"/>
            <a:ext cx="361188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C2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5120640"/>
            <a:ext cx="3429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Remember: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 turns Ridge and Lasso back into plain linear regression.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Ridge, Lasso  |  together or separate? when to use which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one sentence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1069848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1168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and Lasso are linear regression with a penalty: Ridge shrinks all the weights and calms twin features, while Lasso sets useless weights to exactly zero and removes those features. Each one is a separate model, but Elastic Net combines both.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prediction  ŷ = X · w   |   different penalty in the loss   |   choose with cross-validation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2026-09-27T11:13:04Z</dcterms:created>
  <dcterms:modified xsi:type="dcterms:W3CDTF">2026-09-27T11:13:04Z</dcterms:modified>
</cp:coreProperties>
</file>