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learn the most-used family of ML models. Everything runs on one real dataset: productivity of garment factory teams - the same data the AutoCode test uses. Phones out for 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parts, each with activities you solve on your own and Menti quizzes.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answer: 0.94 (row 1 of the dataset). Show the spread of guesses. Say: your brain just combined several numbers into one prediction - that is exactly what regression does, but with learned weights instead of gut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session outcomes. Point at the band: every model today starts from the same weighted sum (Topic 6 dot product).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simplest and most interpretable model in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 number on a line. Right: a team dropped into a bucket. Ask: predicting exam SCORE vs predicting PASS/FAIL - which is which?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two meanings from the course outline. We focus on the narrow, statistical family. The noise assumption links back to the Gaussian from Topic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have you used without knowing? Loan apps, spam filters, delivery-time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R, 2 C, 3 R, 4 C, 5 R. Bonus question: 'Will the student pass?' is classification even though it comes from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row: a team on a given day. smv = standard minute value, how complex the garment is. The red line is the dumbest possible model: always predict 0.74. Everything today must beat it. Source: UCI Machine Learning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blue dot is a team-day. The red line is the fitted model. Interpretation is the superpower: raising a team's target by 0.1 raises real output by only 0.075 - teams reach about three quarters of any extra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with many features. Stress 'with the others held constant' - that is how we read a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bars push productivity up, red bars push it down. Complex garments (smv) lower productivity; idle workers lower it. Keep an eye on smv and workers - almost equal and opposite. We come back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next slide. Walk around (virtually) and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prepares the normalisation idea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Literally draw it: each error becomes a square. A line far from a point makes a huge square. Training = move the line until the total square area is as small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squaring punishes big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bowl from Topic 7. OLS is the calculus answer: set the gradient to zero and solve - one formula, no iterations.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Rings are equal-MSE lines. The red path is real gradient descent on our data, the star is the OLS answer. The long narrow valley shows why the path curves - the two weights are 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Inverting a 1,000,000 x 1,000,000 matrix is impossible in practice; gradient descent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situations. The next slides fix the curve (polynomial features) and the twins (feature selection and regularization).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14 points, three degrees. Degree 1 is too stiff, degree 4 follows the shape, degree 13 draws a crazy curve through every dot - including the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picture in ML. The model that is best on training data is NOT the best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A huge gap between training and test error is the signature of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cannot tell which twin deserves the credit, so it pushes one up and the other down. Link to Topic 6: nearly dependent columns make XᵀX almost impossible to invert.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on their own, then reveal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Q3 - there is no single right answer; the reasoning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 and twin features both show up as weights that are too big or too wild.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from the course: regularization reduces overfitting by restricting parameter values. λ (also called alpha in sklearn) is the knob.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Ridge path on our data. Left: plain regression values. Moving right, the red smv and blue workers lines approach each other and zero - the fight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lines hit the zero axis and stay there. Lasso keeps smv and drops its twin workers - it picks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picture. The solution is where the rings first touch the budget. Diamonds have sharp corners on the axes, circles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course's engaging question here: when is regularization important? Correlated features, more features than rows, need for a short list of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5-fold cross-validation on our data. Honest message: with 9 features and 1,197 rows the model barely overfits, so regularization mainly adds stability. With thousands of features, it becomes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raw weights - sizes reflect units, not importance, so the penalty would crush the wrong features. Right: after standardising, sizes mean importance. Link back to the 'Be the model' Q4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5: salary in dollars gets a tiny weight and is barely penalised, age gets penalised hard - unfair.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- the diamond's corners.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False. Standardise first so every weight is judged on the same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target is yes/no: is this team highly productive (actual &gt;= 0.75)?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dots: real teams at 0 or 1, spread by bonus. Left: the line escapes 0-1. Right: the sigmoid stays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slowly: compute the same weighted sum as before, then squash it. Big positive -&gt; near 1, big negative -&gt; near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curve fitted on our data. Grey dots are teams at 0 (not high) or 1 (high). The bonus clearly raises the chance of high productivity.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Leads straight into the threshold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test-set probabilities. Blue = really high, coral = really not. They overlap, so any threshold makes some mistakes. Slide the line in your head and ask which mistake you prefer.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When missing a positive is costly, lower the threshold and accept more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curve: true class 1. The loss explodes as the predicted probability goes to 0 - confident mistakes are very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depth. Positive weight -&gt; higher odds. Each extra 10 units of bonus multiplies the odds of high productivity by about 1.31.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- despite its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notes from the course outline. Point out: Ridge and Lasso are linear plus one term; logistic has the same shape as linear with a sigmoid inside. Check the base class for 1/n vs 1/(2n) and bias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8 Menti Quiz questions, 20 s each. Answers: 1 MSE, 2 overfit, 3 Lasso, 4 standardise, 5 sigmoid, 6 0.5, 7 low, 8 gradient descent.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sentence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some answers; use 'confusing' ones to open the practice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Invite questions and examples from their own work, as in the course outline.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Algorithms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a number, then a probability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90-minute interactive lesson  |  Real data: a garment factory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-  Polynomial  -  Ridge  -  Lasso  -  Logistic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journey - 90 minutes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37160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0-5 min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7830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Warm-up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78308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Menti: guess a team's productivity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33472"/>
            <a:ext cx="137160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6334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5-35 min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63347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 Linear regression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3347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line, MSE, OLS vs gradient descent, polynomial, overfitting, twin features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1124712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83864"/>
            <a:ext cx="137160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48386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35-58 min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4838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 Regularization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48386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(L2), Lasso (L1), choosing lambda, normalisation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334256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4256"/>
            <a:ext cx="137160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3342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58-82 min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433425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 Logistic regression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33425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sigmoid, threshold, log-loss, odds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184648"/>
            <a:ext cx="1124712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84648"/>
            <a:ext cx="137160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518464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82-90 min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51846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+ final challenge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18464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AutoCode preview, Menti leaderboard, exit ticket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  MENTI = vote on your phone      ACTIVITY = solve it yourself on paper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Open ended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sewing team: target 0.80, bonus 98, 59 workers, 7080 overtime minutes. Guess its REAL productivity (a number between 0 and 1.2).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2651760"/>
          </a:xfrm>
          <a:prstGeom prst="rect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answers appear here on Menti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one number on menti.com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end of today you can...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40330" cy="3108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227457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interpret a linear regression model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26130" y="1828800"/>
            <a:ext cx="2640330" cy="3108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3326130" y="182880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9010" y="202996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09010" y="2651760"/>
            <a:ext cx="227457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logistic regression and a threshold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95060" y="1828800"/>
            <a:ext cx="2640330" cy="3108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5060" y="182880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7940" y="202996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Regularize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2651760"/>
            <a:ext cx="227457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Ridge and Lasso to stop overfitting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63990" y="1828800"/>
            <a:ext cx="2640330" cy="3108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063990" y="182880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46870" y="202996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Distinguish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46870" y="2651760"/>
            <a:ext cx="227457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non-linear (polynomial) regression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11247120" cy="9601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525780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formula runs through everything today:   ŷ = X · w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best straight line through the data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jobs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vs classification</a:t>
            </a:r>
            <a:endParaRPr lang="en-US" sz="2500" dirty="0"/>
          </a:p>
        </p:txBody>
      </p:sp>
      <p:pic>
        <p:nvPicPr>
          <p:cNvPr id="6" name="Image 0" descr="/home/claude/d9/reg_vs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988" y="1691640"/>
            <a:ext cx="8875544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a NUMBER: price, temperature, productivity     |     CLASSIFICATION predicts a CATEGORY: spam or not, pass or fail     |     Trap: logistic REGRESSION does classification!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type decides the model and the loss function you use.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meanings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'Regression algorithm' has two meanings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09260" cy="384048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50926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 sense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51435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algorithm that predicts numbers.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k-nearest neighbours, neural networks, gradient boosting...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(later topics)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95060" y="1828800"/>
            <a:ext cx="5509260" cy="38404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Shape 9"/>
          <p:cNvSpPr/>
          <p:nvPr/>
        </p:nvSpPr>
        <p:spPr>
          <a:xfrm>
            <a:off x="6195060" y="1828800"/>
            <a:ext cx="550926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77940" y="2029968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Narrow sense  -  TODAY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77940" y="2651760"/>
            <a:ext cx="51435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born in STATISTICS: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formula(features) + random noise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usually Gaussian - Topic 8)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polynomial, Ridge, Lasso, logistic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Narrow-sense models are fast, simple and INTERPRETABLE: you can read every weight.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ML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these models work every day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4033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and car prices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shops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output planning (today!)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26130" y="1783080"/>
            <a:ext cx="264033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332613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901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Polynomial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09010" y="260604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over a day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use vs speed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95060" y="1783080"/>
            <a:ext cx="264033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506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794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/ Lasso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260604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genetics: 20,000 genes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thousands of words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many correlated indicators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063990" y="1783080"/>
            <a:ext cx="264033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06399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4687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246870" y="260604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approval (default: yes/no)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and fraud filters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risk scores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hospitals often prefer these simple models because every weight can be explained to a regulator or a doctor.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Quick fire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(number) or classification (category)?  Vote for each: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Tomorrow's temperature in Fergana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75888"/>
            <a:ext cx="10515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67588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Is this bank transaction fraud?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10515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24281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Price of an apartment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809744"/>
            <a:ext cx="10515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80974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 Which digit (0-9) is in this image?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376672"/>
            <a:ext cx="10515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37667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 A student's exam score out of 100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5 Menti questions: 'Regression' / 'Classification'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data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the garment factory dataset</a:t>
            </a:r>
            <a:endParaRPr lang="en-US" sz="2500" dirty="0"/>
          </a:p>
        </p:txBody>
      </p:sp>
      <p:pic>
        <p:nvPicPr>
          <p:cNvPr id="6" name="Image 0" descr="/home/claude/d9/target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92643"/>
            <a:ext cx="7315200" cy="33699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 team-days, sewing and finishing departments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actual_productivity (0.23 to 1.12)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target set by managers, smv (minutes per garment), overtime, bonus, idle time, number of workers...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always guess the average 0.74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model must beat the baseline - one AutoCode test checks exactly this.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regression: the best straight line</a:t>
            </a:r>
            <a:endParaRPr lang="en-US" sz="2500" dirty="0"/>
          </a:p>
        </p:txBody>
      </p:sp>
      <p:pic>
        <p:nvPicPr>
          <p:cNvPr id="6" name="Image 0" descr="/home/claude/d9/simple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60448"/>
            <a:ext cx="7315200" cy="3834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 · x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 = intercept (start value), b₁ = slope (effect of x)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model: actual = 0.187 + 0.751 × target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0.8 -&gt; predict 0.788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it: +0.1 in the target gives +0.075 in real productivity.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formula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 features: multiple linear regression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  =  b₀  +  b₁x₁  +  b₂x₂  +  ...  +  bₙxₙ   =   X · 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59664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01752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1868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  - 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323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we know: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overtime, bonus, workers...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2440" y="3017520"/>
            <a:ext cx="359664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301752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65320" y="321868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 -  weights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65320" y="3840480"/>
            <a:ext cx="323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feature,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intercept b₀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7680" y="3017520"/>
            <a:ext cx="359664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7680" y="301752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90560" y="321868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ŷ  -  prediction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90560" y="3840480"/>
            <a:ext cx="323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= a dot product (Topic 6)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= change in ŷ when that feature goes up by 1, with all other features held constant.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 weights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drives productivity? (all 9 features)</a:t>
            </a:r>
            <a:endParaRPr lang="en-US" sz="2500" dirty="0"/>
          </a:p>
        </p:txBody>
      </p:sp>
      <p:pic>
        <p:nvPicPr>
          <p:cNvPr id="6" name="Image 0" descr="/home/claude/d9/multi_co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59821"/>
            <a:ext cx="7315200" cy="38356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standardised: weight = effect of +1 standard deviation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productivity: workers +0.079, target +0.068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it: smv -0.078, idle men -0.031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 0.0217 vs baseline 0.0291 (25% better)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can read this chart - that is why linear models are used in industry.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on your own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 the model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20624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420624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8862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models on the right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on paper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minutes, then compare with a neighbour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Model: actual = 0.187 + 0.751 × target.   Predict for target = 0.7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2308174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92040" y="2884932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Same model, target = 0.5.   Prediction?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3455746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92040" y="4032504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House model (thousand $): price = 20 + 3 × size + 5 × rooms.   Size 50 m², 2 rooms?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4603318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892040" y="5180076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Which adds more to the price: +1 room or +2 m²?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5750890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 the model - answers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target 0.7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0.187 + 0.525 = 0.713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403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403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target 0.5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317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317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0.187 + 0.376 = 0.563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975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975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size 50, rooms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5890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5890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+ 150 + 10 = 180 thousand $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548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548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+1 room vs +2 m²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44462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44462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 vs +6  -&gt;  2 m² adds more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trap: you cannot compare raw weights (5 vs 3) - they depend on UNITS. Remember this for regularization!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it good?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Residuals and the mean squared error (MSE)</a:t>
            </a:r>
            <a:endParaRPr lang="en-US" sz="2500" dirty="0"/>
          </a:p>
        </p:txBody>
      </p:sp>
      <p:pic>
        <p:nvPicPr>
          <p:cNvPr id="6" name="Image 0" descr="/home/claude/d9/residual_squ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891" y="1737360"/>
            <a:ext cx="4664378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real - predicted (the red line)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it: no cancelling, big errors punished more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average of the red squares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line = the smallest MSE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is the LOSS the model minimises during training (Topic 7).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on your own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the MSE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20624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420624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8862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teams, two models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real - predicted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average of squared errors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better?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Real: 0.80, 0.70, 0.60.   Model A predicts 0.75, 0.70, 0.70.   Errors of A?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2308174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92040" y="2884932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MSE of model A?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3455746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92040" y="4032504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Model B predicts 0.78, 0.72, 0.62.   MSE of model B?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4603318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892040" y="5180076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Which model wins, and why?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5750890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the MSE - answers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Errors of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0.05,  0.00,  -0.10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403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403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MSE of 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317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317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(0.0025 + 0 + 0.0100) / 3 = 0.0042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975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975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MSE of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5890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5890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(0.0004 × 3) / 3 = 0.0004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548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548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Winner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44462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44462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B: small errors everywhere; A has one big miss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makes A's single 0.10 miss cost 25 times more than a 0.02 miss.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OLS: jump straight to the bottom</a:t>
            </a:r>
            <a:endParaRPr lang="en-US" sz="2500" dirty="0"/>
          </a:p>
        </p:txBody>
      </p:sp>
      <p:pic>
        <p:nvPicPr>
          <p:cNvPr id="6" name="Image 0" descr="/home/claude/d9/mse_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02074"/>
            <a:ext cx="7315200" cy="39511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against the weights is a bowl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solves it exactly: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(XᵀX)⁻¹ Xᵀ y   (Topic 6!)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slope found: 0.751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LinearRegression uses a stable version of this formula.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...but in practice gradient descent walks there</a:t>
            </a:r>
            <a:endParaRPr lang="en-US" sz="2500" dirty="0"/>
          </a:p>
        </p:txBody>
      </p:sp>
      <p:pic>
        <p:nvPicPr>
          <p:cNvPr id="6" name="Image 0" descr="/home/claude/d9/gd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20" y="1737360"/>
            <a:ext cx="5990721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XᵀX costs about n³ and needs all data in memory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w ← w - lr × gradient of MSE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steps, works with mini-batches and huge data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the same answer (0.187, 0.751)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AutoCode base class trains exactly like this - you write the gradient.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dataset has 1 million features. What is the best way to fit linear regression?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Use the OLS formula once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Gradient descent (with mini-batches)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Guess the weights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5358384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358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Delete features until OLS is fast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53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a straight line is not enough</a:t>
            </a:r>
            <a:endParaRPr lang="en-US" sz="2500" dirty="0"/>
          </a:p>
        </p:txBody>
      </p:sp>
      <p:pic>
        <p:nvPicPr>
          <p:cNvPr id="6" name="Image 0" descr="/home/claude/d9/four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4179"/>
            <a:ext cx="11247120" cy="27810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pattern: the line works     |     Curved pattern: the line misses it     |     Outliers pull the line (Topic 5)     |     Twin features: unstable weights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the data first - the pattern tells you which fix you need.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Polynomial regression: let the line bend</a:t>
            </a:r>
            <a:endParaRPr lang="en-US" sz="2500" dirty="0"/>
          </a:p>
        </p:txBody>
      </p:sp>
      <p:pic>
        <p:nvPicPr>
          <p:cNvPr id="6" name="Image 0" descr="/home/claude/d9/poly_f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7552"/>
            <a:ext cx="11247120" cy="31742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columns: x², x³, ... up to degree d     |     Still LINEAR in the weights -&gt; same algorithm     |     Or handcraft features: overtime², bonus × workers     |     More degree = more bending = more risk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(Topic 5) turns a linear model into a curve-fitter.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 vs under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Underfitting vs overfitting</a:t>
            </a:r>
            <a:endParaRPr lang="en-US" sz="2500" dirty="0"/>
          </a:p>
        </p:txBody>
      </p:sp>
      <p:pic>
        <p:nvPicPr>
          <p:cNvPr id="6" name="Image 0" descr="/home/claude/d9/train_test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8858"/>
            <a:ext cx="7315200" cy="35575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always falls as the model gets more complex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falls, then shoots up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Underfit: too simple.  Overfit: memorises noise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complexity with VALIDATION data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overfit model is great on last month's teams and useless on next month's.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MSE = 0.001, but test MSE = 0.40. What happened?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Underfitting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Overfitting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perfect model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5358384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358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test set is too small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53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Twin features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Multicollinearity: when features are twins</a:t>
            </a:r>
            <a:endParaRPr lang="en-US" sz="2500" dirty="0"/>
          </a:p>
        </p:txBody>
      </p:sp>
      <p:pic>
        <p:nvPicPr>
          <p:cNvPr id="6" name="Image 0" descr="/home/claude/d9/collin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612" y="1691640"/>
            <a:ext cx="8892297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 and workers: correlation 0.91     |     Complex garments are made by big teams     |     Plain linear regression: -0.078 vs +0.079 - they cancel     |     A small change in data can flip them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breaks. Fix: select features or regularize (Part 2).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on your own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Spot the twins</a:t>
            </a:r>
            <a:endParaRPr lang="en-US" sz="2500" dirty="0"/>
          </a:p>
        </p:txBody>
      </p:sp>
      <p:pic>
        <p:nvPicPr>
          <p:cNvPr id="6" name="Image 0" descr="/home/claude/d9/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19400"/>
            <a:ext cx="5394960" cy="4516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teal = strong positive,  coral = negative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240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pair of features has the strongest correlation?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35040" y="283464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035040" y="3566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List every other pair with correlation above 0.5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35040" y="416052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035040" y="4892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you could keep only one twin, which would you keep, and why?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35040" y="548640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Spot the twins - answers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Strongest pair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4864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smv - workers: 0.91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Other pairs above 0.5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88920"/>
            <a:ext cx="54864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889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overtime - workers 0.73;  overtime - smv 0.67;  idle time - idle men 0.56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822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611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Keep one twin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54864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703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e.g. workers: easy to measure and explain - or keep both and use Ridge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between FEATURES is a warning sign for linear models.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 in 6 lines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... = X · w  (weights are readable)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069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069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loss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5069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average squared error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308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2308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2308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formula b = (XᵀX)⁻¹Xᵀy - expensive for many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547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547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9547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w ← w - lr × gradient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6786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6786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Curves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6786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/ handcrafted features; watch overfitting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402580"/>
            <a:ext cx="11247120" cy="6324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402580"/>
            <a:ext cx="301752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5402580"/>
            <a:ext cx="74980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-&gt; unstable weights -&gt; select or regularize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Regularization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weights on a leash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idea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big weights cost something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 =  MSE  +  λ × penalty(weights)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4033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01752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1868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λ = 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22745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- no leash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326130" y="3017520"/>
            <a:ext cx="264033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326130" y="301752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09010" y="321868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09010" y="3840480"/>
            <a:ext cx="22745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shrinking - weights calm down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5060" y="3017520"/>
            <a:ext cx="264033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301752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321868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huge λ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3840480"/>
            <a:ext cx="22745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-&gt; 0: the model predicts the average (underfits)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063990" y="3017520"/>
            <a:ext cx="264033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3990" y="301752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46870" y="321868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b₀ is free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46870" y="3840480"/>
            <a:ext cx="22745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is NOT penalised - it only sets the level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budget. The model may still use features, but every unit of weight costs money.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(L2)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Ridge: shrink every weight</a:t>
            </a:r>
            <a:endParaRPr lang="en-US" sz="2500" dirty="0"/>
          </a:p>
        </p:txBody>
      </p:sp>
      <p:pic>
        <p:nvPicPr>
          <p:cNvPr id="6" name="Image 0" descr="/home/claude/d9/ridge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02500"/>
            <a:ext cx="7315200" cy="35502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= λ × Σ w²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shrink smoothly, rarely to exactly 0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at λ = 100 the twins calm to -0.037 / +0.031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multicollinearity and stable weights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splits the credit between twin features instead of letting them fight.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(L1)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Lasso: shrink AND select</a:t>
            </a:r>
            <a:endParaRPr lang="en-US" sz="2500" dirty="0"/>
          </a:p>
        </p:txBody>
      </p:sp>
      <p:pic>
        <p:nvPicPr>
          <p:cNvPr id="6" name="Image 0" descr="/home/claude/d9/lasso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02500"/>
            <a:ext cx="7315200" cy="35502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= λ × Σ |w|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weights become EXACTLY 0 -&gt; dropped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λ = 0.01 keeps 5 of 9 features; test MSE 0.0222 vs 0.0216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0.03: only 'target' survives = the most useful feature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selection -&gt; simpler, more interpretable models.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zeros?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Lasso makes exact zeros and Ridge does not</a:t>
            </a:r>
            <a:endParaRPr lang="en-US" sz="2500" dirty="0"/>
          </a:p>
        </p:txBody>
      </p:sp>
      <p:pic>
        <p:nvPicPr>
          <p:cNvPr id="6" name="Image 0" descr="/home/claude/d9/l1_l2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76258"/>
            <a:ext cx="7315200" cy="36027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= equal-MSE lines around the best (OLS) point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stay inside the budget shape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(Ridge): touches on the curve -&gt; both non-zero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(Lasso): touches a CORNER on an axis -&gt; a weight = 0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 features the diamond has many corners -&gt; many zeros.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or Lasso? Real ML situations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4206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(L2)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475488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1783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(L1)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25603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96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Penalty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249631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24963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Σ w²  (squares)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6640" y="2496312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24963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Σ |w|  (absolute values)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25603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095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108960" y="320954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2095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all, keeps all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06640" y="3209544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32095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weak weights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22776"/>
            <a:ext cx="25603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922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Twin features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108960" y="392277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46120" y="39227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credit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06640" y="3922776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43800" y="39227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one, drops the other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636008"/>
            <a:ext cx="25603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6360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when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108960" y="4636008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46120" y="4636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correlated; you want stability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06640" y="4636008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43800" y="46360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short list of drivers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25603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5349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108960" y="534924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46120" y="5349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area + rooms; sensor readings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406640" y="534924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43800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genes; 5,000 words in reviews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decide? Elastic Net mixes both penalties.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λ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choose λ: validation</a:t>
            </a:r>
            <a:endParaRPr lang="en-US" sz="2500" dirty="0"/>
          </a:p>
        </p:txBody>
      </p:sp>
      <p:pic>
        <p:nvPicPr>
          <p:cNvPr id="6" name="Image 0" descr="/home/claude/d9/lambda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03501"/>
            <a:ext cx="7315200" cy="35482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many λ values, score each on validation data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small: same as plain OLS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big: underfits, error rises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best λ ≈ 5 - but the gain is small with only 9 features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 / LassoCV / GridSearchCV try λ values for you.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Normalise!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normalise before regularizing</a:t>
            </a:r>
            <a:endParaRPr lang="en-US" sz="2500" dirty="0"/>
          </a:p>
        </p:txBody>
      </p:sp>
      <p:pic>
        <p:nvPicPr>
          <p:cNvPr id="6" name="Image 0" descr="/home/claude/d9/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403" y="1691640"/>
            <a:ext cx="9578715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weight's size depends on its feature's UNITS     |     overtime: 0 to 25,920 minutes -&gt; tiny weight     |     target: 0.07 to 0.8 -&gt; big weight     |     Standardise (Topic 5) so the penalty is fair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StandardScaler is the #1 regularization bug.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on your own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Ridge, Lasso or plain?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20624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420624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8862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situation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Ridge, Lasso, plain linear, or a warning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why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6812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20,000 genes, 200 patients - find the few genes that matter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2181941"/>
            <a:ext cx="6812280" cy="339498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92040" y="2655418"/>
            <a:ext cx="6812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House area and number of rooms both in the model; weights jump every retrain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3099999"/>
            <a:ext cx="6812280" cy="339498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92040" y="3573475"/>
            <a:ext cx="6812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3 features, 10,000 rows, train and test errors are similar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4018056"/>
            <a:ext cx="6812280" cy="339498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892040" y="4491533"/>
            <a:ext cx="6812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5,000 words to predict a review score; the manager wants a short list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4936114"/>
            <a:ext cx="6812280" cy="339498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892040" y="5409590"/>
            <a:ext cx="6812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 applied Ridge to raw features: salary in $ and age in years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92040" y="5854172"/>
            <a:ext cx="6812280" cy="339498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Ridge, Lasso or plain? - answers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20,000 genes, 200 patients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4864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- selects a few genes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2432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area + rooms, unstable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15768"/>
            <a:ext cx="54864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1576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- calms correlated twins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6557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3 features, no overfitting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557016"/>
            <a:ext cx="54864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55701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Plain linear - no need for a leash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06824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0682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5,000 words, short 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4398264"/>
            <a:ext cx="54864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439826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- zeros most words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148072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1480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Ridge on raw units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35040" y="5239512"/>
            <a:ext cx="54864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523951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WARNING: standardise first!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penalty can set a weight to EXACTLY zero?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Ridge (L2)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Lasso (L1)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Both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5358384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358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Neither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53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0965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True or false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'Regularization should be applied to raw, unscaled features.'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True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False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542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Regularization in 5 lines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MSE + λ × penalty; λ is the strength knob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(L2)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606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Σ w²: shrinks all; great for twin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(L1)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Σ |w|: exact zeros -&gt; feature selection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λ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251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cross-validation; too big underfits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Must 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5074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features first; don't penalise b₀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wearing a regression name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not a straight line for yes/no?</a:t>
            </a:r>
            <a:endParaRPr lang="en-US" sz="2500" dirty="0"/>
          </a:p>
        </p:txBody>
      </p:sp>
      <p:pic>
        <p:nvPicPr>
          <p:cNvPr id="6" name="Image 0" descr="/home/claude/d9/line_vs_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857" y="1691640"/>
            <a:ext cx="942180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0"/>
            <a:ext cx="11247120" cy="1261872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029200"/>
            <a:ext cx="82296" cy="126187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74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0 (no) or 1 (yes): high productivity?     |     A straight line gives -0.2 or 1.3: not a probability     |     We need an S-shaped squeeze into 0...1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output a probability we can trust and threshold.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Sigmoid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sigmoid function</a:t>
            </a:r>
            <a:endParaRPr lang="en-US" sz="2500" dirty="0"/>
          </a:p>
        </p:txBody>
      </p:sp>
      <p:pic>
        <p:nvPicPr>
          <p:cNvPr id="6" name="Image 0" descr="/home/claude/d9/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8858"/>
            <a:ext cx="7315200" cy="35575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b₀ + b₁x₁ + ...   (same linear formula, any number)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σ(z) = 1 / (1 + e⁻ᶻ)   (always between 0 and 1)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0 -&gt; 0.50;  z = 2 -&gt; 0.88;  z = -2 -&gt; 0.12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'regression': log-odds are linear in the features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= linear regression + sigmoid. The output is a Bernoulli probability (Topic 8).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model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model: does a bonus help?</a:t>
            </a:r>
            <a:endParaRPr lang="en-US" sz="2500" dirty="0"/>
          </a:p>
        </p:txBody>
      </p:sp>
      <p:pic>
        <p:nvPicPr>
          <p:cNvPr id="6" name="Image 0" descr="/home/claude/d9/logistic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6419"/>
            <a:ext cx="7315200" cy="35624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high productivity (actual ≥ 0.75) - 60% of team-days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P(high) = σ(-0.23 + 0.027 × bonus)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0 -&gt; 44%;  50 -&gt; 75%;  100 -&gt; 92%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features: 70% accuracy vs 60% baseline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lets managers rank teams and plan, not just label them.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on your own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 the classifier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20624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420624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8862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table:  z = -2 -&gt; 0.12,  -1 -&gt; 0.27,  0 -&gt; 0.50,  1 -&gt; 0.73,  2 -&gt; 0.88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σ(z)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HIGH if probability ≥ threshold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Team A has z = -1.  Probability?  Class with threshold 0.5?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2308174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92040" y="2884932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Team B has z = 2.  Probability?  Class with threshold 0.5?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3455746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92040" y="4032504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Team C has z = 0.  Class with threshold 0.5?  With 0.8?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4603318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892040" y="5180076"/>
            <a:ext cx="681228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Team D has z = 1.  Class with threshold 0.5?  With 0.8?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5750890"/>
            <a:ext cx="6812280" cy="435894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 the classifier - answers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z = -1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0.27 -&gt; NOT high (both thresholds)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403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403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z =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317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317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0.88 -&gt; HIGH (both thresholds)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9758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9758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 z =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58902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58902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0.50 -&gt; HIGH at 0.5;  NOT at 0.8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54830"/>
            <a:ext cx="11247120" cy="76581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54830"/>
            <a:ext cx="512064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 z = 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4446270"/>
            <a:ext cx="5486400" cy="58293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4446270"/>
            <a:ext cx="5257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0.73 -&gt; HIGH at 0.5;  NOT at 0.8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probabilities, different threshold -&gt; different decisions. The threshold is a choice.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Threshold: from probability to decision</a:t>
            </a:r>
            <a:endParaRPr lang="en-US" sz="2500" dirty="0"/>
          </a:p>
        </p:txBody>
      </p:sp>
      <p:pic>
        <p:nvPicPr>
          <p:cNvPr id="6" name="Image 0" descr="/home/claude/d9/threshold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25914"/>
            <a:ext cx="7315200" cy="33034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predict HIGH if p ≥ 0.5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threshold: catch more positives, more false alarms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threshold: cautious, miss some positives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the COST of each mistake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screening -&gt; low threshold; spam filter -&gt; high (never lose a real email).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bank flags FRAUD. Missing a fraud is very expensive; checking a normal payment is cheap. Which threshold?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0.2 (flag a lot)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0.5 (default)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0.9 (flag only when very sure)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04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learns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Maximum likelihood and log-loss</a:t>
            </a:r>
            <a:endParaRPr lang="en-US" sz="2500" dirty="0"/>
          </a:p>
        </p:txBody>
      </p:sp>
      <p:pic>
        <p:nvPicPr>
          <p:cNvPr id="6" name="Image 0" descr="/home/claude/d9/log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8858"/>
            <a:ext cx="7315200" cy="35575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737360"/>
            <a:ext cx="379476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Shape 5"/>
          <p:cNvSpPr/>
          <p:nvPr/>
        </p:nvSpPr>
        <p:spPr>
          <a:xfrm>
            <a:off x="7955280" y="1737360"/>
            <a:ext cx="379476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331720"/>
            <a:ext cx="3520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weights that make the observed labels MOST probable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minimise log-loss: -[y log p + (1-y) log(1-p)]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confident (p = 0.9): loss 0.11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and confident (p = 0.1): loss 2.30!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formula -&gt; always trained with gradient descent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92440" y="5120640"/>
            <a:ext cx="3520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120640"/>
            <a:ext cx="3337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ML: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punishes over-confident mistakes - it is also how neural classifiers train.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 logistic weights: odds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96640" cy="3200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Odds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3230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= p / (1 - 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0.75 -&gt; odds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('3 to 1')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2440" y="1783080"/>
            <a:ext cx="3596640" cy="3200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28244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6532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Log-odds are linear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2606040"/>
            <a:ext cx="3230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log(odds) = z = b₀ + b₁x₁ + 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'regression' in the name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7680" y="1783080"/>
            <a:ext cx="3596640" cy="3200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768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9056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-&gt; multiplier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90560" y="2606040"/>
            <a:ext cx="3230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e^(b₁) = how odds change per +1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e^0.027 = 1.027 (+2.7%)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bonus: × 1.31 (+31%)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5166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-0.23,  odds = 0.79,  p = 44%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715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bonus 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0.04,  odds = 1.04,  p = 51%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 is mainly used for...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08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Predicting a number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5876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Classification (yes/no, categories)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60857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Clustering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5358384"/>
            <a:ext cx="10515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358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Reducing the number of features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53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your phone now  -  45 seconds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 in 5 lines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σ(X · w): linear formula + sigmoid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606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if p ≥ threshold (default 0.5)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choice: which mistake costs more?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251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= minimise log-loss, via gradient descent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5074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e^(weight) = odds multiplier per +1 of the feature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Logistic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maths to code: your 4 AutoCode exercises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286000" cy="51206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3291840" cy="51206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7373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943600" cy="51206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of the loss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228600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0428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Linear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304288"/>
            <a:ext cx="329184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2304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X 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304288"/>
            <a:ext cx="594360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3042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(2/n) Xᵀ(Xw - 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Ridge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34640" y="2871216"/>
            <a:ext cx="3291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28712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X 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2871216"/>
            <a:ext cx="5943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87121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(2/n) Xᵀ(Xw - y)  +  2λw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228600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4381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Lasso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34640" y="3438144"/>
            <a:ext cx="329184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71800" y="34381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X 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438144"/>
            <a:ext cx="5943600" cy="5120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4381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(2/n) Xᵀ(Xw - y)  +  λ · sign(w)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0050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Logistic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834640" y="4005072"/>
            <a:ext cx="3291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40050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σ(X w);  class = p ≥ 0.5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4005072"/>
            <a:ext cx="5943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400507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Xᵀ(σ(Xw) - y)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11247120" cy="1508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709160"/>
            <a:ext cx="82296" cy="15087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773168"/>
            <a:ext cx="108813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already written in the base class AnalyticalModel (tasks/base.py) using gradient descent - you implement only the GRADIENT and the PREDICTION.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runs your models on this garment dataset (data/dataloader.py) and checks they beat the baseline.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 in AutoCode by unit tests.  Dataset info: archive.ics.uci.edu/dataset/597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389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Final challenge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challenge - quiz mode, leaderboard!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Linear regression minimises...?   (MSE / accuracy / log-loss)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8745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Train error tiny, test error huge = ?   (underfit / overfit / leakage)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620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Exact zeros come from...?   (Ridge / Lasso)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2862072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8620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Before Ridge or Lasso you must...?   (standardise / add noise / shuffle labels)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49624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Logistic output passes through the...?   (sigmoid / square / log)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9624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849624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σ(0) = ?   (0 / 0.5 / 1)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837176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83717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Fraud detection threshold should be...?   (low / 0.5 / high)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72200" y="4837176"/>
            <a:ext cx="5349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83717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Large data: OLS formula or gradient descent?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correct answers win!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picture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whole family on one page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286000" cy="54864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2834640" cy="54864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2194560" cy="54864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4114800" cy="54864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adds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22860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86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2386584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23865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60720" y="2386584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2386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238658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3865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X · 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990088"/>
            <a:ext cx="22860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990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Polynomial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34640" y="2990088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7180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(curved)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60720" y="2990088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299008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2990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x², x³... columns (watch overfitting)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3593592"/>
            <a:ext cx="22860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5935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(L2)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834640" y="3593592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760720" y="3593592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97880" y="3593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+ λΣw²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46720" y="359359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3593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stable weights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57200" y="4197096"/>
            <a:ext cx="22860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41970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(L1)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834640" y="4197096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71800" y="41970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760720" y="4197096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97880" y="4197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+ λΣ|w|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046720" y="41970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83880" y="4197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(zeros)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22860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834640" y="480060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7180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via a probability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760720" y="480060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897880" y="4800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046720" y="48006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8388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+ threshold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formula X · w, same gradient descent - only the LOSS and the OUTPUT change.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98464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  |  Open ended  -  exit ticket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14984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menti.com   code:  ____ ____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1) One regression model I could use in my own project.   2) One thing that is still confusing.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2651760"/>
          </a:xfrm>
          <a:prstGeom prst="rect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answers appear here on Menti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both on menti.com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Next: implement all four models in AutoCode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|  Ridge  |  Lasso  |  Logistic   -   gradient + prediction only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2026-09-26T04:18:06Z</dcterms:created>
  <dcterms:modified xsi:type="dcterms:W3CDTF">2026-09-26T04:18:06Z</dcterms:modified>
</cp:coreProperties>
</file>