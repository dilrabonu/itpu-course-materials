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objective, not a definition. Run the warm-up live poll (interactive app tab 1) before this slide finishes: 'Have you used something today that used ML?'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mirrors the EPAM learning-session structure. Tell students the shape so they know when Q&amp;A and the game are coming.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the live regression widget (interactive app, tab 2): add points, show the learned line — 'nobody typed this rule'. This is the aha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right column — knowing when NOT to use ML separates an engineer from a hype-follower.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Optional: run Google Teachable Machine live (60s webcam model) and name each term as it appears. Fastest way to make this stick.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classify-the-problem game now (interactive app tab 3). Include the debatable next-word example to show framing decides the family.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answers one at a time after the vote. Ask a student to justify each before you show the green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Differentiate game: thermostat = AI not ML; spam filter = ML; calculator = neither; A* game bot = AI not ML; ChatGPT = ML/DL.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10-min case. Have students name features, target, and family aloud. This bridges directly into Lab 01 and Assignment 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state the three recap lines, not you. Collect exit tickets via Google/Microsoft Forms; read 2-3 aloud next session as the recap hook.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828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2926080"/>
            <a:ext cx="5943600" cy="59436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· ML FOUNDATIONS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6459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Machine Learning?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 computer WHAT to do — without telling it HOW.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4023360"/>
            <a:ext cx="2926080" cy="6858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0233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ML problems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40480" y="4023360"/>
            <a:ext cx="2926080" cy="6858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40233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ML systems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040880" y="4023360"/>
            <a:ext cx="2926080" cy="6858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40233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vs AI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Interactive Session · Instructor: Dilrabo Khidirova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today runs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057400" cy="42062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25880" y="1645920"/>
            <a:ext cx="502920" cy="50292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132588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+ live poll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9377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min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88920" y="1371600"/>
            <a:ext cx="2057400" cy="42062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1645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880360" y="22860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26080" y="278892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 + micro-quiz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80360" y="49377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1371600"/>
            <a:ext cx="2057400" cy="42062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06440" y="1645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80644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120640" y="22860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+ Q&amp;A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66360" y="278892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families, ML vs AI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0" y="49377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69480" y="1371600"/>
            <a:ext cx="2057400" cy="42062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46720" y="1645920"/>
            <a:ext cx="502920" cy="50292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360920" y="22860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+ practice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406640" y="278892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filter, classify game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60920" y="49377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509760" y="1371600"/>
            <a:ext cx="2057400" cy="42062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287000" y="1645920"/>
            <a:ext cx="502920" cy="50292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9" name="Text 27"/>
          <p:cNvSpPr/>
          <p:nvPr/>
        </p:nvSpPr>
        <p:spPr>
          <a:xfrm>
            <a:off x="1028700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601200" y="22860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646920" y="278892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exit ticket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01200" y="49377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ITPU · Introduction to Machine Learning · Topic 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idea to remember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114800"/>
          </a:xfrm>
          <a:prstGeom prst="roundRect">
            <a:avLst>
              <a:gd name="adj" fmla="val 2667"/>
            </a:avLst>
          </a:prstGeom>
          <a:solidFill>
            <a:srgbClr val="13294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00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programming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8680" y="2103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the logic by hand.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4754880" cy="9144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area &gt; 80 and rooms &gt;= 3: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price = "high"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93192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DATA → </a:t>
            </a:r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5212080" cy="4114800"/>
          </a:xfrm>
          <a:prstGeom prst="roundRect">
            <a:avLst>
              <a:gd name="adj" fmla="val 2667"/>
            </a:avLst>
          </a:prstGeom>
          <a:solidFill>
            <a:srgbClr val="065A82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600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37960" y="2103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 writes the logic from examples.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2606040"/>
            <a:ext cx="4754880" cy="914400"/>
          </a:xfrm>
          <a:prstGeom prst="rect">
            <a:avLst/>
          </a:prstGeom>
          <a:solidFill>
            <a:srgbClr val="0B1E3A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10,000 sold houses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learn the pattern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393192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ANSWERS → </a:t>
            </a:r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"Where have YOU met ML today?"  — round-robin, keep it fast.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ITPU · Introduction to Machine Learning · Topic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reach for ML — and when not 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ML is worth it when…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🧩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63040" y="1810512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complex or fuzzy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faces, language, fraud — too hard to hand-code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8892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63040" y="2862072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cheap predictions needed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an occasional error is tolerable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84048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63040" y="3913632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environment keeps changing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rules rot — spam tactics evolve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89204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63040" y="4965192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actually have data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captures the pattern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  Skip ML when…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355080" y="1737360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FDECEC"/>
          </a:solidFill>
          <a:ln w="12700">
            <a:solidFill>
              <a:srgbClr val="F6C6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73736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269480" y="1810512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is exact &amp; known
</a:t>
            </a:r>
            <a:pPr indent="0" marL="0">
              <a:buNone/>
            </a:pPr>
            <a:r>
              <a:rPr lang="en-US" sz="1150" dirty="0">
                <a:solidFill>
                  <a:srgbClr val="9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tax, sorting → just program it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55080" y="2788920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FDECEC"/>
          </a:solidFill>
          <a:ln w="12700">
            <a:solidFill>
              <a:srgbClr val="F6C6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278892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🚨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269480" y="2862072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catastrophic
</a:t>
            </a:r>
            <a:pPr indent="0" marL="0">
              <a:buNone/>
            </a:pPr>
            <a:r>
              <a:rPr lang="en-US" sz="1150" dirty="0">
                <a:solidFill>
                  <a:srgbClr val="9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outputs must be explainable, no safeguards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55080" y="3840480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FDECEC"/>
          </a:solidFill>
          <a:ln w="12700">
            <a:solidFill>
              <a:srgbClr val="F6C6C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384048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🕳️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269480" y="3913632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almost no data
</a:t>
            </a:r>
            <a:pPr indent="0" marL="0">
              <a:buNone/>
            </a:pPr>
            <a:r>
              <a:rPr lang="en-US" sz="1150" dirty="0">
                <a:solidFill>
                  <a:srgbClr val="9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→ no ML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ITPU · Introduction to Machine Learning · Topic 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vocabulary you'll hear all semester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connected picture — predicting house prices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630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83280" y="1508760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collection of examples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0" y="150876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of 10,000 sold houses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58568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3294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5856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0" y="225856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/ one example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0" y="225856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specific house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6305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08376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3008376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input column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98080" y="3008376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area, rooms, district, floor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5818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3294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758184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/ label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83280" y="375818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we predict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98080" y="3758184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sale price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50799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6305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5079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83280" y="450799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learned features→target rule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98080" y="450799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price predictor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25780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3294B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25780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383280" y="5257800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model on new input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98080" y="525780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of a brand-new listing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ITPU · Introduction to Machine Learning · Topic 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families of machine learning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E3F0F7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5400000">
              <a:srgbClr val="AAAAAA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00200"/>
            <a:ext cx="3063240" cy="5486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"learn from an answer key"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data (inputs + known targets).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Jobs: classification, regression.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4805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detection · price prediction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137160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E1F2F1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AAAAAA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1600200"/>
            <a:ext cx="3063240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6002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34840" y="22860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patterns, no answer key"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29260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only, no target.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Jobs: clustering, dim. reduction.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26280" y="44805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 · anomalies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0" y="137160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BF3E0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76200" dist="25400" dir="5400000">
              <a:srgbClr val="AAAAAA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83880" y="1600200"/>
            <a:ext cx="3063240" cy="54864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16002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138160" y="22860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"learn from rewards, by doing"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0" y="29260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acts and gets reward/penalty.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 policy.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0" y="44805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agents · robot control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Reinforcement learning is named for completeness but is OUT OF SCOPE for this course.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ITPU · Introduction to Machine Learning · Topic 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6400800" cy="64008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🎮  Classify-the-problem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Vote: supervised · unsupervised · reinforcement · not ML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13294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0428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Predict tomorrow's temperature from weather history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Supervised (regression)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19456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13294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30428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Group 50,000 shoppers into similar segments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0" y="27432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Unsupervised (clustering)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42900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13294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53872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Flag a transaction as fraud / not-fraud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39776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Supervised (classification)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42900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13294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53872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Teach a robot to walk without falling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0" y="39776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Reinforcement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66344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13294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77316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Convert Celsius to Fahrenheit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52120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Not ML — exact formula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466344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13294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77316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Detect never-seen intrusions, no examples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0" y="52120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Unsupervised (anomaly)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ITPU · Introduction to Machine Learning · Topic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vs AI — how they relate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6035040" cy="4206240"/>
          </a:xfrm>
          <a:prstGeom prst="ellipse">
            <a:avLst/>
          </a:prstGeom>
          <a:solidFill>
            <a:srgbClr val="DBEAFE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2286000"/>
            <a:ext cx="4206240" cy="2926080"/>
          </a:xfrm>
          <a:prstGeom prst="ellipse">
            <a:avLst/>
          </a:prstGeom>
          <a:solidFill>
            <a:srgbClr val="BFDBFE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2926080"/>
            <a:ext cx="2377440" cy="1645920"/>
          </a:xfrm>
          <a:prstGeom prst="ellipse">
            <a:avLst/>
          </a:prstGeom>
          <a:solidFill>
            <a:srgbClr val="93C5FD"/>
          </a:solidFill>
          <a:ln w="25400">
            <a:solidFill>
              <a:srgbClr val="0B1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745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5146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77440" y="32004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2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0" y="1371600"/>
            <a:ext cx="46634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1371600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ML is AI 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not all AI is ML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0" y="2423160"/>
            <a:ext cx="46634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0" y="2423160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broad goal — machines acting 'smart', incl. hand-coded rule systems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49440" y="3474720"/>
            <a:ext cx="46634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3474720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subset that LEARNS from data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949440" y="4526280"/>
            <a:ext cx="46634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4526280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with multi-layer neural nets (Topic 20)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ITPU · Introduction to Machine Learning · Topic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Case: a spam filter, two 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13294B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463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rule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4937760" cy="54864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'free' in subject: spam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on:
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"Are you free Friday?" → wrongly flagged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spammers switch to "fr€e" → missed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endless rules to maintain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28016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065A82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463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from data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46520" y="2011680"/>
            <a:ext cx="4937760" cy="548640"/>
          </a:xfrm>
          <a:prstGeom prst="rect">
            <a:avLst/>
          </a:prstGeom>
          <a:solidFill>
            <a:srgbClr val="0B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 on 100,000 labelled emails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46520" y="274320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identify:
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Features: words, sender, links…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Target: spam / not-spam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Family: supervised classification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Adapts as spam evolves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ITPU · Introduction to Machine Learning · Topic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743200"/>
            <a:ext cx="6400800" cy="64008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 up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now…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7498080" cy="822960"/>
          </a:xfrm>
          <a:prstGeom prst="roundRect">
            <a:avLst>
              <a:gd name="adj" fmla="val 11111"/>
            </a:avLst>
          </a:prstGeom>
          <a:solidFill>
            <a:srgbClr val="13294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programming vs ML: data + answers → rules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7498080" cy="822960"/>
          </a:xfrm>
          <a:prstGeom prst="roundRect">
            <a:avLst>
              <a:gd name="adj" fmla="val 11111"/>
            </a:avLst>
          </a:prstGeom>
          <a:solidFill>
            <a:srgbClr val="13294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971800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(answer key) · unsupervised (no key) · reinforcement (rewards)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7498080" cy="822960"/>
          </a:xfrm>
          <a:prstGeom prst="roundRect">
            <a:avLst>
              <a:gd name="adj" fmla="val 11111"/>
            </a:avLst>
          </a:prstGeom>
          <a:solidFill>
            <a:srgbClr val="13294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931920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⊂ AI — all ML is AI, not all AI is ML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412480" y="2011680"/>
            <a:ext cx="3200400" cy="2697480"/>
          </a:xfrm>
          <a:prstGeom prst="roundRect">
            <a:avLst>
              <a:gd name="adj" fmla="val 4068"/>
            </a:avLst>
          </a:prstGeom>
          <a:solidFill>
            <a:srgbClr val="065A82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1945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595360" y="269748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did I learn?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What's still fuzzy?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ML app I now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recognise in my life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→ Topic 2: Types of ML Problems. Keep your classification game sharp.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ITPU · Introduction to Machine Learning · Topic 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IT Park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ITPU</dc:creator>
  <cp:lastModifiedBy>ITPU</cp:lastModifiedBy>
  <cp:revision>1</cp:revision>
  <dcterms:created xsi:type="dcterms:W3CDTF">2026-08-19T11:30:43Z</dcterms:created>
  <dcterms:modified xsi:type="dcterms:W3CDTF">2026-08-19T11:30:43Z</dcterms:modified>
</cp:coreProperties>
</file>