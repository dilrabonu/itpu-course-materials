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80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 &amp;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Algebra in ML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5 &amp; 6  |  90-minute lesson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messy data to the maths that powers every model.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Today's lesson - two parts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3566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5394960" cy="8229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 -  Feature Engineering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 feature engineering 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feature matrix &amp; vocabulary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- 5 techniques: encode, bin, impute,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15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outliers, scale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599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Manual vs automatic + selection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 leakage - the silent killer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5394960" cy="3566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2011680"/>
            <a:ext cx="5394960" cy="8229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011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 -  Linear Algebra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Scalars, vectors, matrices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Two roles: points &amp; transformations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Vector operations &amp; the dot product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215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Matrix operations (with examples)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599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Dependence vs independence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Why LA is the foundation of ML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raw, messy data into a clean numeric table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816352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FE?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engineering: from mess to model-ready</a:t>
            </a:r>
            <a:endParaRPr lang="en-US" sz="2400" dirty="0"/>
          </a:p>
        </p:txBody>
      </p:sp>
      <p:pic>
        <p:nvPicPr>
          <p:cNvPr id="5" name="Image 0" descr="/home/claude/imgs/featur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845" y="1691640"/>
            <a:ext cx="714983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Vocabulary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feature matrix - the words we will use</a:t>
            </a:r>
            <a:endParaRPr lang="en-US" sz="2400" dirty="0"/>
          </a:p>
        </p:txBody>
      </p:sp>
      <p:pic>
        <p:nvPicPr>
          <p:cNvPr id="5" name="Image 0" descr="/home/claude/imgs/matrix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932" y="1691640"/>
            <a:ext cx="7433656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check 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a feature matrix, what does ONE ROW represent?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383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One feature (a single column / property)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206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One sample (a single observation)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5029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target we want to predict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- 60 seconds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072384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techniques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5 core techniques (before -&gt; after)</a:t>
            </a:r>
            <a:endParaRPr lang="en-US" sz="2400" dirty="0"/>
          </a:p>
        </p:txBody>
      </p:sp>
      <p:pic>
        <p:nvPicPr>
          <p:cNvPr id="5" name="Image 0" descr="/home/claude/imgs/encoding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286" y="1691640"/>
            <a:ext cx="6026948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Encoding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Encoding text: one-hot vs ordinal</a:t>
            </a:r>
            <a:endParaRPr lang="en-US" sz="2400" dirty="0"/>
          </a:p>
        </p:txBody>
      </p:sp>
      <p:pic>
        <p:nvPicPr>
          <p:cNvPr id="5" name="Image 0" descr="/home/claude/imgs/encoding-dif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708" y="1691640"/>
            <a:ext cx="5692103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check 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column "city" has Fergana, Tashkent, Namangan. Which encoding?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383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Ordinal - map them to 1, 2, 3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206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One-hot - a 0/1 column per city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5029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Leave it as text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- 60 seconds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Imputation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Filling missing values - 5 strategies</a:t>
            </a:r>
            <a:endParaRPr lang="en-US" sz="2400" dirty="0"/>
          </a:p>
        </p:txBody>
      </p:sp>
      <p:pic>
        <p:nvPicPr>
          <p:cNvPr id="5" name="Image 0" descr="/home/claude/imgs/mean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436" y="1691640"/>
            <a:ext cx="5180648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Outliers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Handling outliers with the IQR rule</a:t>
            </a:r>
            <a:endParaRPr lang="en-US" sz="2400" dirty="0"/>
          </a:p>
        </p:txBody>
      </p:sp>
      <p:pic>
        <p:nvPicPr>
          <p:cNvPr id="5" name="Image 0" descr="/home/claude/imgs/outliers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887" y="1691640"/>
            <a:ext cx="4913745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check 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income column has one value of 999999 (an outlier). Best fill value for other gaps?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383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mean (average)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206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median (robust to the outlier)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5029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Zero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- 60 seconds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we scale - putting columns on one range</a:t>
            </a:r>
            <a:endParaRPr lang="en-US" sz="2400" dirty="0"/>
          </a:p>
        </p:txBody>
      </p:sp>
      <p:pic>
        <p:nvPicPr>
          <p:cNvPr id="5" name="Image 0" descr="/home/claude/imgs/scaling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748" y="1691640"/>
            <a:ext cx="5526024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584448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vs auto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vs automatic + feature selection</a:t>
            </a:r>
            <a:endParaRPr lang="en-US" sz="2400" dirty="0"/>
          </a:p>
        </p:txBody>
      </p:sp>
      <p:pic>
        <p:nvPicPr>
          <p:cNvPr id="5" name="Image 0" descr="/home/claude/imgs/manual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995" y="1691640"/>
            <a:ext cx="690753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Leakage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leakage - the silent killer</a:t>
            </a:r>
            <a:endParaRPr lang="en-US" sz="2400" dirty="0"/>
          </a:p>
        </p:txBody>
      </p:sp>
      <p:pic>
        <p:nvPicPr>
          <p:cNvPr id="5" name="Image 0" descr="/home/claude/imgs/leakag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032" y="1691640"/>
            <a:ext cx="6315456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recap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 - key answers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row =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92024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SAMPLE; one column = a FEATURE; y = the TARGET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6148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city (no order) -&gt;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761488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one-hot;   size low&lt;mid&lt;high -&gt;  ordinal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0273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outliers / skew -&gt;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602736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with MEDIAN, not mean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443984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44398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 -&gt;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443984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mean 0, std 1 (fit on TRAIN only)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85232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28523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leakage =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5285232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info reaching training -&gt; fake high score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Algebra in ML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mathematics that operates on the clean matrix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blocks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Scalar, vector, matrix</a:t>
            </a:r>
            <a:endParaRPr lang="en-US" sz="2400" dirty="0"/>
          </a:p>
        </p:txBody>
      </p:sp>
      <p:pic>
        <p:nvPicPr>
          <p:cNvPr id="5" name="Image 0" descr="/home/claude/imgs/linea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366" y="1691640"/>
            <a:ext cx="6466788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roles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Vectors are points; matrices are transformations</a:t>
            </a:r>
            <a:endParaRPr lang="en-US" sz="2400" dirty="0"/>
          </a:p>
        </p:txBody>
      </p:sp>
      <p:pic>
        <p:nvPicPr>
          <p:cNvPr id="5" name="Image 0" descr="/home/claude/imgs/v-m-in-ml-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902" y="1691640"/>
            <a:ext cx="5667717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check 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phone's GPS shows you at [latitude, longitude]. That is a...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383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Vector - a POINT in space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206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Matrix - a transformation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5029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Scalar - a single number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- 60 seconds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ops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operations: add, scale, dot</a:t>
            </a:r>
            <a:endParaRPr lang="en-US" sz="2400" dirty="0"/>
          </a:p>
        </p:txBody>
      </p:sp>
      <p:pic>
        <p:nvPicPr>
          <p:cNvPr id="5" name="Image 0" descr="/home/claude/imgs/addition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877" y="1691640"/>
            <a:ext cx="5347765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816352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Dot product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dot product = how a model predicts</a:t>
            </a:r>
            <a:endParaRPr lang="en-US" sz="2400" dirty="0"/>
          </a:p>
        </p:txBody>
      </p:sp>
      <p:pic>
        <p:nvPicPr>
          <p:cNvPr id="5" name="Image 0" descr="/home/claude/imgs/dots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333" y="1691640"/>
            <a:ext cx="6148854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check 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 = [1, 2, 0] and x = [3, 4, 5]. What is the dot product w . x 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383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11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206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12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5029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9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- 60 seconds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Matrix ops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Matrix operations (with worked examples)</a:t>
            </a:r>
            <a:endParaRPr lang="en-US" sz="2400" dirty="0"/>
          </a:p>
        </p:txBody>
      </p:sp>
      <p:pic>
        <p:nvPicPr>
          <p:cNvPr id="5" name="Image 0" descr="/home/claude/imgs/matrix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139" y="1691640"/>
            <a:ext cx="5391243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584448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Worked example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Matrix x matrix, step by step: A @ A</a:t>
            </a:r>
            <a:endParaRPr lang="en-US" sz="2400" dirty="0"/>
          </a:p>
        </p:txBody>
      </p:sp>
      <p:pic>
        <p:nvPicPr>
          <p:cNvPr id="5" name="Image 0" descr="/home/claude/imgs/matrix-A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914" y="1691640"/>
            <a:ext cx="4357693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Dependence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Dependence vs independence; LA as ML's foundation</a:t>
            </a:r>
            <a:endParaRPr lang="en-US" sz="2400" dirty="0"/>
          </a:p>
        </p:txBody>
      </p:sp>
      <p:pic>
        <p:nvPicPr>
          <p:cNvPr id="5" name="Image 0" descr="/home/claude/imgs/dependent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369" y="1691640"/>
            <a:ext cx="5142781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recap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Algebra - key answers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scalar / vector / matrix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9202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single number / 1-D list / 2-D grid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6148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=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6148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POINT;   matrix = a TRANSFORMATION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0273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dot product w.x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602736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multiply matching, sum -&gt; one prediction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443984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44398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@ A, A.T, inv(A)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443984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transform, flip rows&lt;-&gt;cols, undo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85232"/>
            <a:ext cx="1106424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28523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dependent columns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528523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(X^T X)^-1 -&gt; keep features independent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picture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two topics connect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291840" cy="16459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Topic 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builds the clean matrix 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2194560"/>
            <a:ext cx="3291840" cy="16459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Topic 6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operates on X (dot products, matmul)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2194560"/>
            <a:ext cx="3291840" cy="1645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learns and predicts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6517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6517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107899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things to remember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00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Clean the matrix first - feature quality sets the ceiling on model accuracy.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166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 is a matrix, and learning is solving matrix equations.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Linear Algebra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Next: hands-on breakout activities for both topics.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933</Words>
  <Application>Microsoft Office PowerPoint</Application>
  <PresentationFormat>Widescreen</PresentationFormat>
  <Paragraphs>200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Dilrabo Khidirova</cp:lastModifiedBy>
  <cp:revision>1</cp:revision>
  <dcterms:created xsi:type="dcterms:W3CDTF">2026-09-16T14:56:34Z</dcterms:created>
  <dcterms:modified xsi:type="dcterms:W3CDTF">2026-09-16T15:06:21Z</dcterms:modified>
</cp:coreProperties>
</file>