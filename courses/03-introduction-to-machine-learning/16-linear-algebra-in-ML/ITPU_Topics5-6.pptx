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9C2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1280160" cy="29260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2286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FOUNDATIONS</a:t>
            </a:r>
            <a:endParaRPr lang="en-US" sz="1600" dirty="0"/>
          </a:p>
        </p:txBody>
      </p:sp>
      <p:sp>
        <p:nvSpPr>
          <p:cNvPr id="4" name="Text 1"/>
          <p:cNvSpPr txBox="1"/>
          <p:nvPr/>
        </p:nvSpPr>
        <p:spPr>
          <a:xfrm>
            <a:off x="530352" y="26974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&amp; Linear Algebra in ML</a:t>
            </a:r>
            <a:endParaRPr lang="en-US" sz="4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297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8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5 &amp; 6  ·  Course Module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66928" y="4160520"/>
            <a:ext cx="2926080" cy="0"/>
          </a:xfrm>
          <a:prstGeom prst="line">
            <a:avLst/>
          </a:prstGeom>
          <a:noFill/>
          <a:ln w="38100">
            <a:solidFill>
              <a:srgbClr val="CEDB5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MODULE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49240" cy="1170432"/>
          </a:xfrm>
          <a:prstGeom prst="roundRect">
            <a:avLst>
              <a:gd name="adj" fmla="val 6250"/>
            </a:avLst>
          </a:prstGeom>
          <a:solidFill>
            <a:srgbClr val="F6F6F6"/>
          </a:solidFill>
          <a:ln/>
          <a:effectLst>
            <a:outerShdw sx="100000" sy="100000" kx="0" ky="0" algn="bl" rotWithShape="0" blurRad="101600" dist="25400" dir="5400000">
              <a:srgbClr val="BFC9D4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130552"/>
            <a:ext cx="566928" cy="566928"/>
          </a:xfrm>
          <a:prstGeom prst="ellipse">
            <a:avLst/>
          </a:prstGeom>
          <a:solidFill>
            <a:srgbClr val="39C2D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21305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0116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feature engineering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39572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vs what models require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828800"/>
            <a:ext cx="5349240" cy="1170432"/>
          </a:xfrm>
          <a:prstGeom prst="roundRect">
            <a:avLst>
              <a:gd name="adj" fmla="val 6250"/>
            </a:avLst>
          </a:prstGeom>
          <a:solidFill>
            <a:srgbClr val="F6F6F6"/>
          </a:solidFill>
          <a:ln/>
          <a:effectLst>
            <a:outerShdw sx="100000" sy="100000" kx="0" ky="0" algn="bl" rotWithShape="0" blurRad="101600" dist="25400" dir="5400000">
              <a:srgbClr val="BFC9D4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28232" y="2130552"/>
            <a:ext cx="566928" cy="566928"/>
          </a:xfrm>
          <a:prstGeom prst="ellipse">
            <a:avLst/>
          </a:prstGeom>
          <a:solidFill>
            <a:srgbClr val="008AC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28232" y="21305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20116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 techniques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7223760" y="239572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Encoding, scaling, imputation, outliers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200400"/>
            <a:ext cx="5349240" cy="1170432"/>
          </a:xfrm>
          <a:prstGeom prst="roundRect">
            <a:avLst>
              <a:gd name="adj" fmla="val 6250"/>
            </a:avLst>
          </a:prstGeom>
          <a:solidFill>
            <a:srgbClr val="F6F6F6"/>
          </a:solidFill>
          <a:ln/>
          <a:effectLst>
            <a:outerShdw sx="100000" sy="100000" kx="0" ky="0" algn="bl" rotWithShape="0" blurRad="101600" dist="25400" dir="5400000">
              <a:srgbClr val="BFC9D4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3502152"/>
            <a:ext cx="566928" cy="566928"/>
          </a:xfrm>
          <a:prstGeom prst="ellipse">
            <a:avLst/>
          </a:prstGeom>
          <a:solidFill>
            <a:srgbClr val="D35D4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04672" y="35021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3383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 &amp; leakage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376732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features, avoiding leakage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3200400"/>
            <a:ext cx="5349240" cy="1170432"/>
          </a:xfrm>
          <a:prstGeom prst="roundRect">
            <a:avLst>
              <a:gd name="adj" fmla="val 6250"/>
            </a:avLst>
          </a:prstGeom>
          <a:solidFill>
            <a:srgbClr val="F6F6F6"/>
          </a:solidFill>
          <a:ln/>
          <a:effectLst>
            <a:outerShdw sx="100000" sy="100000" kx="0" ky="0" algn="bl" rotWithShape="0" blurRad="101600" dist="25400" dir="5400000">
              <a:srgbClr val="BFC9D4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28232" y="3502152"/>
            <a:ext cx="566928" cy="566928"/>
          </a:xfrm>
          <a:prstGeom prst="ellipse">
            <a:avLst/>
          </a:prstGeom>
          <a:solidFill>
            <a:srgbClr val="26385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28232" y="35021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7223760" y="3383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algebra foundations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7223760" y="376732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Scalars, vectors, matrices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572000"/>
            <a:ext cx="5349240" cy="1170432"/>
          </a:xfrm>
          <a:prstGeom prst="roundRect">
            <a:avLst>
              <a:gd name="adj" fmla="val 6250"/>
            </a:avLst>
          </a:prstGeom>
          <a:solidFill>
            <a:srgbClr val="F6F6F6"/>
          </a:solidFill>
          <a:ln/>
          <a:effectLst>
            <a:outerShdw sx="100000" sy="100000" kx="0" ky="0" algn="bl" rotWithShape="0" blurRad="101600" dist="25400" dir="5400000">
              <a:srgbClr val="BFC9D4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4672" y="4873752"/>
            <a:ext cx="566928" cy="566928"/>
          </a:xfrm>
          <a:prstGeom prst="ellipse">
            <a:avLst/>
          </a:prstGeom>
          <a:solidFill>
            <a:srgbClr val="76CDD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04672" y="48737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1600200" y="47548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&amp; key concepts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1600200" y="513892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Products, dependence, norms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172200" y="4572000"/>
            <a:ext cx="5349240" cy="1170432"/>
          </a:xfrm>
          <a:prstGeom prst="roundRect">
            <a:avLst>
              <a:gd name="adj" fmla="val 6250"/>
            </a:avLst>
          </a:prstGeom>
          <a:solidFill>
            <a:srgbClr val="F6F6F6"/>
          </a:solidFill>
          <a:ln/>
          <a:effectLst>
            <a:outerShdw sx="100000" sy="100000" kx="0" ky="0" algn="bl" rotWithShape="0" blurRad="101600" dist="25400" dir="5400000">
              <a:srgbClr val="BFC9D4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28232" y="4873752"/>
            <a:ext cx="566928" cy="566928"/>
          </a:xfrm>
          <a:prstGeom prst="ellipse">
            <a:avLst/>
          </a:prstGeom>
          <a:solidFill>
            <a:srgbClr val="CEDB5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428232" y="48737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32" name="Text 30"/>
          <p:cNvSpPr txBox="1"/>
          <p:nvPr/>
        </p:nvSpPr>
        <p:spPr>
          <a:xfrm>
            <a:off x="7223760" y="47548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algebra in ML</a:t>
            </a:r>
            <a:endParaRPr lang="en-US" sz="1700" dirty="0"/>
          </a:p>
        </p:txBody>
      </p:sp>
      <p:sp>
        <p:nvSpPr>
          <p:cNvPr id="33" name="Text 31"/>
          <p:cNvSpPr txBox="1"/>
          <p:nvPr/>
        </p:nvSpPr>
        <p:spPr>
          <a:xfrm>
            <a:off x="7223760" y="513892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squares, PCA, the payoff</a:t>
            </a:r>
            <a:endParaRPr lang="en-US" sz="1250" dirty="0"/>
          </a:p>
        </p:txBody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55080"/>
            <a:ext cx="1051560" cy="240487"/>
          </a:xfrm>
          <a:prstGeom prst="rect">
            <a:avLst/>
          </a:prstGeom>
        </p:spPr>
      </p:pic>
      <p:sp>
        <p:nvSpPr>
          <p:cNvPr id="35" name="Text 32"/>
          <p:cNvSpPr txBox="1"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9C2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1280160" cy="29260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24688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CED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2000" dirty="0"/>
          </a:p>
        </p:txBody>
      </p:sp>
      <p:sp>
        <p:nvSpPr>
          <p:cNvPr id="4" name="Text 1"/>
          <p:cNvSpPr txBox="1"/>
          <p:nvPr/>
        </p:nvSpPr>
        <p:spPr>
          <a:xfrm>
            <a:off x="530352" y="2926080"/>
            <a:ext cx="10058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44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the ML Workflow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5262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8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raw, messy data into the structured input models require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 rarely fits the model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cake analogy: ingredients live in different places, some messy, some missing. The recipe needs the right amount of each, combined well, before baking. Feature engineering is that preparation step.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5349240" cy="3566160"/>
          </a:xfrm>
          <a:prstGeom prst="roundRect">
            <a:avLst>
              <a:gd name="adj" fmla="val 2051"/>
            </a:avLst>
          </a:prstGeom>
          <a:solidFill>
            <a:srgbClr val="FDEEEB"/>
          </a:solidFill>
          <a:ln/>
          <a:effectLst>
            <a:outerShdw sx="100000" sy="100000" kx="0" ky="0" algn="bl" rotWithShape="0" blurRad="101600" dist="25400" dir="5400000">
              <a:srgbClr val="BFC9D4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2743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35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2461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Stored across databases, files, blobs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7490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Heterogeneous: numeric, text, images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2519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Missing values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47548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Extreme / illogical values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52578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Wrong data types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09360" y="2514600"/>
            <a:ext cx="5349240" cy="3566160"/>
          </a:xfrm>
          <a:prstGeom prst="roundRect">
            <a:avLst>
              <a:gd name="adj" fmla="val 2051"/>
            </a:avLst>
          </a:prstGeom>
          <a:solidFill>
            <a:srgbClr val="EAF6EE"/>
          </a:solidFill>
          <a:ln/>
          <a:effectLst>
            <a:outerShdw sx="100000" sy="100000" kx="0" ky="0" algn="bl" rotWithShape="0" blurRad="101600" dist="25400" dir="5400000">
              <a:srgbClr val="BFC9D4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583680" y="2743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MODELS REQUIRE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629400" y="32461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Numeric input only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629400" y="37490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Tabular structure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629400" y="42519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Columns on the same scale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629400" y="47548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 missing values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629400" y="52578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Outliers handled</a:t>
            </a:r>
            <a:endParaRPr lang="en-US" sz="14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55080"/>
            <a:ext cx="1051560" cy="240487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TERMINOLOGY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feature matrix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of feature engineering: combine heterogeneous sources into ONE numeric feature matrix, where rows and columns have specific meaning.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148840" y="2194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(columns) →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148840" y="2651760"/>
            <a:ext cx="1600200" cy="548640"/>
          </a:xfrm>
          <a:prstGeom prst="rect">
            <a:avLst/>
          </a:prstGeom>
          <a:solidFill>
            <a:srgbClr val="26385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148840" y="26517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749040" y="2651760"/>
            <a:ext cx="1600200" cy="548640"/>
          </a:xfrm>
          <a:prstGeom prst="rect">
            <a:avLst/>
          </a:prstGeom>
          <a:solidFill>
            <a:srgbClr val="26385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749040" y="26517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349240" y="2651760"/>
            <a:ext cx="1600200" cy="548640"/>
          </a:xfrm>
          <a:prstGeom prst="rect">
            <a:avLst/>
          </a:prstGeom>
          <a:solidFill>
            <a:srgbClr val="26385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349240" y="26517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city→#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148840" y="3200400"/>
            <a:ext cx="16002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49040" y="3200400"/>
            <a:ext cx="16002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49240" y="3200400"/>
            <a:ext cx="16002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32004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1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148840" y="3749040"/>
            <a:ext cx="1600200" cy="548640"/>
          </a:xfrm>
          <a:prstGeom prst="rect">
            <a:avLst/>
          </a:prstGeom>
          <a:solidFill>
            <a:srgbClr val="F6F6F6"/>
          </a:solidFill>
          <a:ln w="12700">
            <a:solidFill>
              <a:srgbClr val="D5DBE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49040" y="3749040"/>
            <a:ext cx="1600200" cy="548640"/>
          </a:xfrm>
          <a:prstGeom prst="rect">
            <a:avLst/>
          </a:prstGeom>
          <a:solidFill>
            <a:srgbClr val="F6F6F6"/>
          </a:solidFill>
          <a:ln w="12700">
            <a:solidFill>
              <a:srgbClr val="D5DBE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49240" y="3749040"/>
            <a:ext cx="1600200" cy="548640"/>
          </a:xfrm>
          <a:prstGeom prst="rect">
            <a:avLst/>
          </a:prstGeom>
          <a:solidFill>
            <a:srgbClr val="F6F6F6"/>
          </a:solidFill>
          <a:ln w="12700">
            <a:solidFill>
              <a:srgbClr val="D5DBE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37490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2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148840" y="4297680"/>
            <a:ext cx="16002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49040" y="4297680"/>
            <a:ext cx="16002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49240" y="4297680"/>
            <a:ext cx="16002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" y="42976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3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2103120" y="4892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35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samples (rows)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858000" y="2468880"/>
            <a:ext cx="4754880" cy="1234440"/>
          </a:xfrm>
          <a:prstGeom prst="roundRect">
            <a:avLst>
              <a:gd name="adj" fmla="val 5926"/>
            </a:avLst>
          </a:prstGeom>
          <a:solidFill>
            <a:srgbClr val="F6F6F6"/>
          </a:solidFill>
          <a:ln/>
          <a:effectLst>
            <a:outerShdw sx="100000" sy="100000" kx="0" ky="0" algn="bl" rotWithShape="0" blurRad="101600" dist="25400" dir="5400000">
              <a:srgbClr val="BFC9D4">
                <a:alpha val="35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7086600" y="260604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 </a:t>
            </a:r>
            <a:pPr indent="0" marL="0">
              <a:buNone/>
            </a:pPr>
            <a:r>
              <a:rPr lang="en-US" sz="14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column — a variable / predictor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858000" y="3840480"/>
            <a:ext cx="4754880" cy="1234440"/>
          </a:xfrm>
          <a:prstGeom prst="roundRect">
            <a:avLst>
              <a:gd name="adj" fmla="val 5926"/>
            </a:avLst>
          </a:prstGeom>
          <a:solidFill>
            <a:srgbClr val="F6F6F6"/>
          </a:solidFill>
          <a:ln/>
          <a:effectLst>
            <a:outerShdw sx="100000" sy="100000" kx="0" ky="0" algn="bl" rotWithShape="0" blurRad="101600" dist="25400" dir="5400000">
              <a:srgbClr val="BFC9D4">
                <a:alpha val="35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7086600" y="397764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 </a:t>
            </a:r>
            <a:pPr indent="0" marL="0">
              <a:buNone/>
            </a:pPr>
            <a:r>
              <a:rPr lang="en-US" sz="14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row — one observation</a:t>
            </a:r>
            <a:endParaRPr lang="en-US" sz="1400" dirty="0"/>
          </a:p>
        </p:txBody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55080"/>
            <a:ext cx="1051560" cy="240487"/>
          </a:xfrm>
          <a:prstGeom prst="rect">
            <a:avLst/>
          </a:prstGeom>
        </p:spPr>
      </p:pic>
      <p:sp>
        <p:nvSpPr>
          <p:cNvPr id="30" name="Text 27"/>
          <p:cNvSpPr txBox="1"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APPROACHES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vs manual extraction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49240" cy="4023360"/>
          </a:xfrm>
          <a:prstGeom prst="roundRect">
            <a:avLst>
              <a:gd name="adj" fmla="val 1818"/>
            </a:avLst>
          </a:prstGeom>
          <a:solidFill>
            <a:srgbClr val="F6F6F6"/>
          </a:solidFill>
          <a:ln/>
          <a:effectLst>
            <a:outerShdw sx="100000" sy="100000" kx="0" ky="0" algn="bl" rotWithShape="0" blurRad="101600" dist="25400" dir="5400000">
              <a:srgbClr val="BFC9D4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94560"/>
            <a:ext cx="566928" cy="566928"/>
          </a:xfrm>
          <a:prstGeom prst="ellipse">
            <a:avLst/>
          </a:prstGeom>
          <a:solidFill>
            <a:srgbClr val="39C2D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2860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8803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Standard, domain-independent transforms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3832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One-hot encoding of categories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9776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Embeddings for text / images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45720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Routine preprocessing steps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09360" y="1920240"/>
            <a:ext cx="5349240" cy="4023360"/>
          </a:xfrm>
          <a:prstGeom prst="roundRect">
            <a:avLst>
              <a:gd name="adj" fmla="val 1818"/>
            </a:avLst>
          </a:prstGeom>
          <a:solidFill>
            <a:srgbClr val="F6F6F6"/>
          </a:solidFill>
          <a:ln/>
          <a:effectLst>
            <a:outerShdw sx="100000" sy="100000" kx="0" ky="0" algn="bl" rotWithShape="0" blurRad="101600" dist="25400" dir="5400000">
              <a:srgbClr val="BFC9D4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83680" y="2194560"/>
            <a:ext cx="566928" cy="566928"/>
          </a:xfrm>
          <a:prstGeom prst="ellipse">
            <a:avLst/>
          </a:prstGeom>
          <a:solidFill>
            <a:srgbClr val="D35D4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83680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7269480" y="22860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35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6629400" y="28803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domain knowledge to craft features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675120" y="33832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Combine fields into a ratio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675120" y="39776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Derive datetime / cyclical features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675120" y="45720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Encode expert insight</a:t>
            </a:r>
            <a:endParaRPr lang="en-US" sz="14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55080"/>
            <a:ext cx="1051560" cy="240487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TOOLBOX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 engineering techniques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6F6F6"/>
          </a:solidFill>
          <a:ln/>
          <a:effectLst>
            <a:outerShdw sx="100000" sy="100000" kx="0" ky="0" algn="bl" rotWithShape="0" blurRad="101600" dist="25400" dir="5400000">
              <a:srgbClr val="BFC9D4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12848"/>
            <a:ext cx="457200" cy="109728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377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8892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→ numeric (one-hot, ordinal, target)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15968" y="192024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6F6F6"/>
          </a:solidFill>
          <a:ln/>
          <a:effectLst>
            <a:outerShdw sx="100000" sy="100000" kx="0" ky="0" algn="bl" rotWithShape="0" blurRad="101600" dist="25400" dir="5400000">
              <a:srgbClr val="BFC9D4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90288" y="2212848"/>
            <a:ext cx="457200" cy="109728"/>
          </a:xfrm>
          <a:prstGeom prst="rect">
            <a:avLst/>
          </a:prstGeom>
          <a:solidFill>
            <a:srgbClr val="008AC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90288" y="2377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Discretization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590288" y="278892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→ bins (e.g. age groups)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83296" y="192024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6F6F6"/>
          </a:solidFill>
          <a:ln/>
          <a:effectLst>
            <a:outerShdw sx="100000" sy="100000" kx="0" ky="0" algn="bl" rotWithShape="0" blurRad="101600" dist="25400" dir="5400000">
              <a:srgbClr val="BFC9D4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57616" y="2212848"/>
            <a:ext cx="457200" cy="109728"/>
          </a:xfrm>
          <a:prstGeom prst="rect">
            <a:avLst/>
          </a:prstGeom>
          <a:solidFill>
            <a:srgbClr val="76CDD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357616" y="2377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Imputation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357616" y="278892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missing values (mean, median, mode)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6F6F6"/>
          </a:solidFill>
          <a:ln/>
          <a:effectLst>
            <a:outerShdw sx="100000" sy="100000" kx="0" ky="0" algn="bl" rotWithShape="0" blurRad="101600" dist="25400" dir="5400000">
              <a:srgbClr val="BFC9D4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" y="4178808"/>
            <a:ext cx="457200" cy="109728"/>
          </a:xfrm>
          <a:prstGeom prst="rect">
            <a:avLst/>
          </a:prstGeom>
          <a:solidFill>
            <a:srgbClr val="D35D4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43434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475488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or cap extreme values (IQR)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315968" y="388620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6F6F6"/>
          </a:solidFill>
          <a:ln/>
          <a:effectLst>
            <a:outerShdw sx="100000" sy="100000" kx="0" ky="0" algn="bl" rotWithShape="0" blurRad="101600" dist="25400" dir="5400000">
              <a:srgbClr val="BFC9D4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90288" y="4178808"/>
            <a:ext cx="457200" cy="109728"/>
          </a:xfrm>
          <a:prstGeom prst="rect">
            <a:avLst/>
          </a:prstGeom>
          <a:solidFill>
            <a:srgbClr val="26385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590288" y="43434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4590288" y="475488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columns to a common range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083296" y="388620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6F6F6"/>
          </a:solidFill>
          <a:ln/>
          <a:effectLst>
            <a:outerShdw sx="100000" sy="100000" kx="0" ky="0" algn="bl" rotWithShape="0" blurRad="101600" dist="25400" dir="5400000">
              <a:srgbClr val="BFC9D4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357616" y="4178808"/>
            <a:ext cx="457200" cy="109728"/>
          </a:xfrm>
          <a:prstGeom prst="rect">
            <a:avLst/>
          </a:prstGeom>
          <a:solidFill>
            <a:srgbClr val="CEDB5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357616" y="43434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Standardization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8357616" y="475488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 to mean 0, std 1</a:t>
            </a:r>
            <a:endParaRPr lang="en-US" sz="1250" dirty="0"/>
          </a:p>
        </p:txBody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55080"/>
            <a:ext cx="1051560" cy="240487"/>
          </a:xfrm>
          <a:prstGeom prst="rect">
            <a:avLst/>
          </a:prstGeom>
        </p:spPr>
      </p:pic>
      <p:sp>
        <p:nvSpPr>
          <p:cNvPr id="29" name="Text 26"/>
          <p:cNvSpPr txBox="1"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vs standardization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E7F0F9"/>
          </a:solidFill>
          <a:ln/>
          <a:effectLst>
            <a:outerShdw sx="100000" sy="100000" kx="0" ky="0" algn="bl" rotWithShape="0" blurRad="101600" dist="25400" dir="5400000">
              <a:srgbClr val="BFC9D4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2148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8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420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Min–max scaling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175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8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x′ = (x − xmin) / (xmax − xmin)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6118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Rescales values to a range between 0 and 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29768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8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bounded input needed, non-Gaussian data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192024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EAF6EE"/>
          </a:solidFill>
          <a:ln/>
          <a:effectLst>
            <a:outerShdw sx="100000" sy="100000" kx="0" ky="0" algn="bl" rotWithShape="0" blurRad="101600" dist="25400" dir="5400000">
              <a:srgbClr val="BFC9D4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583680" y="21488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STANDARDIZATION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25420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scaling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30175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8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x′ = (x − μ) / σ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36118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Centers data around 0 with a standard deviation of 1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429768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B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roughly Gaussian data, presence of outliers</a:t>
            </a:r>
            <a:endParaRPr lang="en-US" sz="13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55080"/>
            <a:ext cx="1051560" cy="240487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FEATURES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feature is relevant, interpretable, and useful for prediction. Selection keeps the features that maximize performance and minimize overfitting.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6F6F6"/>
          </a:solidFill>
          <a:ln/>
          <a:effectLst>
            <a:outerShdw sx="100000" sy="100000" kx="0" ky="0" algn="bl" rotWithShape="0" blurRad="101600" dist="25400" dir="5400000">
              <a:srgbClr val="BFC9D4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715768"/>
            <a:ext cx="566928" cy="566928"/>
          </a:xfrm>
          <a:prstGeom prst="ellipse">
            <a:avLst/>
          </a:prstGeom>
          <a:solidFill>
            <a:srgbClr val="39C2D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7157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6517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methods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754880" y="265176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tests rank features independently of any model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6F6F6"/>
          </a:solidFill>
          <a:ln/>
          <a:effectLst>
            <a:outerShdw sx="100000" sy="100000" kx="0" ky="0" algn="bl" rotWithShape="0" blurRad="101600" dist="25400" dir="5400000">
              <a:srgbClr val="BFC9D4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2960" y="3858768"/>
            <a:ext cx="566928" cy="566928"/>
          </a:xfrm>
          <a:prstGeom prst="ellipse">
            <a:avLst/>
          </a:prstGeom>
          <a:solidFill>
            <a:srgbClr val="008AC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38587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37947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Wrapper methods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379476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feature elimination — add/remove and re-test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80060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6F6F6"/>
          </a:solidFill>
          <a:ln/>
          <a:effectLst>
            <a:outerShdw sx="100000" sy="100000" kx="0" ky="0" algn="bl" rotWithShape="0" blurRad="101600" dist="25400" dir="5400000">
              <a:srgbClr val="BFC9D4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" y="5001768"/>
            <a:ext cx="566928" cy="566928"/>
          </a:xfrm>
          <a:prstGeom prst="ellipse">
            <a:avLst/>
          </a:prstGeom>
          <a:solidFill>
            <a:srgbClr val="D35D4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50017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49377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methods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4754880" y="493776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Tree-based importance — the model ranks features itself</a:t>
            </a:r>
            <a:endParaRPr lang="en-US" sz="14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55080"/>
            <a:ext cx="1051560" cy="240487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35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CRITICAL PITFALL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leakage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transforms (scaling, imputation) and feature selection "remember" characteristics of the data — a form of training. Fit them on the wrong data and information leaks.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1965960" cy="1097280"/>
          </a:xfrm>
          <a:prstGeom prst="roundRect">
            <a:avLst>
              <a:gd name="adj" fmla="val 6667"/>
            </a:avLst>
          </a:prstGeom>
          <a:solidFill>
            <a:srgbClr val="F6F6F6"/>
          </a:solidFill>
          <a:ln/>
          <a:effectLst>
            <a:outerShdw sx="100000" sy="100000" kx="0" ky="0" algn="bl" rotWithShape="0" blurRad="101600" dist="25400" dir="5400000">
              <a:srgbClr val="BFC9D4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260604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2578608" y="2606040"/>
            <a:ext cx="3840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926080" y="2606040"/>
            <a:ext cx="1965960" cy="1097280"/>
          </a:xfrm>
          <a:prstGeom prst="roundRect">
            <a:avLst>
              <a:gd name="adj" fmla="val 6667"/>
            </a:avLst>
          </a:prstGeom>
          <a:solidFill>
            <a:srgbClr val="F6F6F6"/>
          </a:solidFill>
          <a:ln/>
          <a:effectLst>
            <a:outerShdw sx="100000" sy="100000" kx="0" ky="0" algn="bl" rotWithShape="0" blurRad="101600" dist="25400" dir="5400000">
              <a:srgbClr val="BFC9D4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926080" y="260604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FIRST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864608" y="2606040"/>
            <a:ext cx="3840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212080" y="2606040"/>
            <a:ext cx="1965960" cy="1097280"/>
          </a:xfrm>
          <a:prstGeom prst="roundRect">
            <a:avLst>
              <a:gd name="adj" fmla="val 6667"/>
            </a:avLst>
          </a:prstGeom>
          <a:solidFill>
            <a:srgbClr val="F6F6F6"/>
          </a:solidFill>
          <a:ln/>
          <a:effectLst>
            <a:outerShdw sx="100000" sy="100000" kx="0" ky="0" algn="bl" rotWithShape="0" blurRad="101600" dist="25400" dir="5400000">
              <a:srgbClr val="BFC9D4">
                <a:alpha val="3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5212080" y="260604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on train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150608" y="2606040"/>
            <a:ext cx="3840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498080" y="2606040"/>
            <a:ext cx="1965960" cy="1097280"/>
          </a:xfrm>
          <a:prstGeom prst="roundRect">
            <a:avLst>
              <a:gd name="adj" fmla="val 6667"/>
            </a:avLst>
          </a:prstGeom>
          <a:solidFill>
            <a:srgbClr val="F6F6F6"/>
          </a:solidFill>
          <a:ln/>
          <a:effectLst>
            <a:outerShdw sx="100000" sy="100000" kx="0" ky="0" algn="bl" rotWithShape="0" blurRad="101600" dist="25400" dir="5400000">
              <a:srgbClr val="BFC9D4">
                <a:alpha val="3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498080" y="260604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6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76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9436608" y="2606040"/>
            <a:ext cx="3840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9784080" y="2606040"/>
            <a:ext cx="1965960" cy="1097280"/>
          </a:xfrm>
          <a:prstGeom prst="roundRect">
            <a:avLst>
              <a:gd name="adj" fmla="val 6667"/>
            </a:avLst>
          </a:prstGeom>
          <a:solidFill>
            <a:srgbClr val="F6F6F6"/>
          </a:solidFill>
          <a:ln/>
          <a:effectLst>
            <a:outerShdw sx="100000" sy="100000" kx="0" ky="0" algn="bl" rotWithShape="0" blurRad="101600" dist="25400" dir="5400000">
              <a:srgbClr val="BFC9D4">
                <a:alpha val="3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9784080" y="260604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8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4069080"/>
            <a:ext cx="11064240" cy="1783080"/>
          </a:xfrm>
          <a:prstGeom prst="roundRect">
            <a:avLst>
              <a:gd name="adj" fmla="val 4103"/>
            </a:avLst>
          </a:prstGeom>
          <a:solidFill>
            <a:srgbClr val="FDEEEB"/>
          </a:solidFill>
          <a:ln/>
          <a:effectLst>
            <a:outerShdw sx="100000" sy="100000" kx="0" ky="0" algn="bl" rotWithShape="0" blurRad="101600" dist="25400" dir="5400000">
              <a:srgbClr val="BFC9D4">
                <a:alpha val="3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22960" y="4251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35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The trap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46634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Fitting a scaler or imputer on ALL data before the split lets test-set statistics (mean, std) leak into training. Scores look great — then collapse in production.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53492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 split first  →  fit on train  →  transform both  →  wrap in one pipeline</a:t>
            </a:r>
            <a:endParaRPr lang="en-US" sz="14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55080"/>
            <a:ext cx="1051560" cy="240487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638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1280160" cy="29260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24688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CED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2000" dirty="0"/>
          </a:p>
        </p:txBody>
      </p:sp>
      <p:sp>
        <p:nvSpPr>
          <p:cNvPr id="4" name="Text 1"/>
          <p:cNvSpPr txBox="1"/>
          <p:nvPr/>
        </p:nvSpPr>
        <p:spPr>
          <a:xfrm>
            <a:off x="530352" y="292608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Algebra in ML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023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mathematical foundation beneath every ML algorithm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Scalars, vectors, matrices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hiking-trail analogy: elevation at one point is a scalar; the list of points along the path is a vector; the full grid of elevations is a matrix.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F6F6F6"/>
          </a:solidFill>
          <a:ln/>
          <a:effectLst>
            <a:outerShdw sx="100000" sy="100000" kx="0" ky="0" algn="bl" rotWithShape="0" blurRad="101600" dist="25400" dir="5400000">
              <a:srgbClr val="BFC9D4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920240" y="2788920"/>
            <a:ext cx="777240" cy="777240"/>
          </a:xfrm>
          <a:prstGeom prst="ellipse">
            <a:avLst/>
          </a:prstGeom>
          <a:solidFill>
            <a:srgbClr val="39C2D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920240" y="2788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7490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Scalar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22452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number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8920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9C2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315968" y="251460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F6F6F6"/>
          </a:solidFill>
          <a:ln/>
          <a:effectLst>
            <a:outerShdw sx="100000" sy="100000" kx="0" ky="0" algn="bl" rotWithShape="0" blurRad="101600" dist="25400" dir="5400000">
              <a:srgbClr val="BFC9D4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687568" y="2788920"/>
            <a:ext cx="777240" cy="777240"/>
          </a:xfrm>
          <a:prstGeom prst="ellipse">
            <a:avLst/>
          </a:prstGeom>
          <a:solidFill>
            <a:srgbClr val="008AC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687568" y="2788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4590288" y="37490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4590288" y="422452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1-D array of numbers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90288" y="48920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8A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[2, 5, 1]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083296" y="251460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F6F6F6"/>
          </a:solidFill>
          <a:ln/>
          <a:effectLst>
            <a:outerShdw sx="100000" sy="100000" kx="0" ky="0" algn="bl" rotWithShape="0" blurRad="101600" dist="25400" dir="5400000">
              <a:srgbClr val="BFC9D4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454896" y="2788920"/>
            <a:ext cx="777240" cy="777240"/>
          </a:xfrm>
          <a:prstGeom prst="ellipse">
            <a:avLst/>
          </a:prstGeom>
          <a:solidFill>
            <a:srgbClr val="26385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454896" y="2788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8357616" y="37490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8357616" y="422452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2-D array of numbers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357616" y="48920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38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[[1,2],[3,4]]</a:t>
            </a:r>
            <a:endParaRPr lang="en-US" sz="15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55080"/>
            <a:ext cx="1051560" cy="240487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MEAN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&amp; transformations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F6F6F6"/>
          </a:solidFill>
          <a:ln/>
          <a:effectLst>
            <a:outerShdw sx="100000" sy="100000" kx="0" ky="0" algn="bl" rotWithShape="0" blurRad="101600" dist="25400" dir="5400000">
              <a:srgbClr val="BFC9D4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94560"/>
            <a:ext cx="566928" cy="566928"/>
          </a:xfrm>
          <a:prstGeom prst="ellipse">
            <a:avLst/>
          </a:prstGeom>
          <a:solidFill>
            <a:srgbClr val="39C2D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2860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 are points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92608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vector locates a point in a vector space — the space of all values its components can take.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1148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feature matrix is just a stack of sample vectors.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09360" y="192024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F6F6F6"/>
          </a:solidFill>
          <a:ln/>
          <a:effectLst>
            <a:outerShdw sx="100000" sy="100000" kx="0" ky="0" algn="bl" rotWithShape="0" blurRad="101600" dist="25400" dir="5400000">
              <a:srgbClr val="BFC9D4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83680" y="2194560"/>
            <a:ext cx="566928" cy="566928"/>
          </a:xfrm>
          <a:prstGeom prst="ellipse">
            <a:avLst/>
          </a:prstGeom>
          <a:solidFill>
            <a:srgbClr val="26385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83680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7269480" y="22860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Matrices transform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629400" y="292608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matrix maps points from one space to another — it rotates, scales, or shears them.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629400" y="41148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@ v moves the vector v. That's what a matrix DOES — it's a transformation, not just a grid.</a:t>
            </a:r>
            <a:endParaRPr lang="en-US" sz="14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55080"/>
            <a:ext cx="1051560" cy="240487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operations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49240" cy="1170432"/>
          </a:xfrm>
          <a:prstGeom prst="roundRect">
            <a:avLst>
              <a:gd name="adj" fmla="val 6250"/>
            </a:avLst>
          </a:prstGeom>
          <a:solidFill>
            <a:srgbClr val="F6F6F6"/>
          </a:solidFill>
          <a:ln/>
          <a:effectLst>
            <a:outerShdw sx="100000" sy="100000" kx="0" ky="0" algn="bl" rotWithShape="0" blurRad="101600" dist="25400" dir="5400000">
              <a:srgbClr val="BFC9D4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76272"/>
            <a:ext cx="109728" cy="658368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2103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/ subtract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49631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Element-wise on same-shape vectors or matrices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920240"/>
            <a:ext cx="5349240" cy="1170432"/>
          </a:xfrm>
          <a:prstGeom prst="roundRect">
            <a:avLst>
              <a:gd name="adj" fmla="val 6250"/>
            </a:avLst>
          </a:prstGeom>
          <a:solidFill>
            <a:srgbClr val="F6F6F6"/>
          </a:solidFill>
          <a:ln/>
          <a:effectLst>
            <a:outerShdw sx="100000" sy="100000" kx="0" ky="0" algn="bl" rotWithShape="0" blurRad="101600" dist="25400" dir="5400000">
              <a:srgbClr val="BFC9D4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46520" y="2176272"/>
            <a:ext cx="109728" cy="658368"/>
          </a:xfrm>
          <a:prstGeom prst="rect">
            <a:avLst/>
          </a:prstGeom>
          <a:solidFill>
            <a:srgbClr val="008AC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720840" y="2103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Scalar multiply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720840" y="249631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every entry by one number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291840"/>
            <a:ext cx="5349240" cy="1170432"/>
          </a:xfrm>
          <a:prstGeom prst="roundRect">
            <a:avLst>
              <a:gd name="adj" fmla="val 6250"/>
            </a:avLst>
          </a:prstGeom>
          <a:solidFill>
            <a:srgbClr val="F6F6F6"/>
          </a:solidFill>
          <a:ln/>
          <a:effectLst>
            <a:outerShdw sx="100000" sy="100000" kx="0" ky="0" algn="bl" rotWithShape="0" blurRad="101600" dist="25400" dir="5400000">
              <a:srgbClr val="BFC9D4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" y="3547872"/>
            <a:ext cx="109728" cy="658368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97280" y="3474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× vector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86791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 transformation to a point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72200" y="3291840"/>
            <a:ext cx="5349240" cy="1170432"/>
          </a:xfrm>
          <a:prstGeom prst="roundRect">
            <a:avLst>
              <a:gd name="adj" fmla="val 6250"/>
            </a:avLst>
          </a:prstGeom>
          <a:solidFill>
            <a:srgbClr val="F6F6F6"/>
          </a:solidFill>
          <a:ln/>
          <a:effectLst>
            <a:outerShdw sx="100000" sy="100000" kx="0" ky="0" algn="bl" rotWithShape="0" blurRad="101600" dist="25400" dir="5400000">
              <a:srgbClr val="BFC9D4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46520" y="3547872"/>
            <a:ext cx="109728" cy="658368"/>
          </a:xfrm>
          <a:prstGeom prst="rect">
            <a:avLst/>
          </a:prstGeom>
          <a:solidFill>
            <a:srgbClr val="008AC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720840" y="3474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× matrix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720840" y="386791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two transformations (use @, not *)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663440"/>
            <a:ext cx="5349240" cy="1170432"/>
          </a:xfrm>
          <a:prstGeom prst="roundRect">
            <a:avLst>
              <a:gd name="adj" fmla="val 6250"/>
            </a:avLst>
          </a:prstGeom>
          <a:solidFill>
            <a:srgbClr val="F6F6F6"/>
          </a:solidFill>
          <a:ln/>
          <a:effectLst>
            <a:outerShdw sx="100000" sy="100000" kx="0" ky="0" algn="bl" rotWithShape="0" blurRad="101600" dist="25400" dir="5400000">
              <a:srgbClr val="BFC9D4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2960" y="4919472"/>
            <a:ext cx="109728" cy="658368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97280" y="4846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Transpose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" y="523951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 rows and columns: Aᵀ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172200" y="4663440"/>
            <a:ext cx="5349240" cy="1170432"/>
          </a:xfrm>
          <a:prstGeom prst="roundRect">
            <a:avLst>
              <a:gd name="adj" fmla="val 6250"/>
            </a:avLst>
          </a:prstGeom>
          <a:solidFill>
            <a:srgbClr val="F6F6F6"/>
          </a:solidFill>
          <a:ln/>
          <a:effectLst>
            <a:outerShdw sx="100000" sy="100000" kx="0" ky="0" algn="bl" rotWithShape="0" blurRad="101600" dist="25400" dir="5400000">
              <a:srgbClr val="BFC9D4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46520" y="4919472"/>
            <a:ext cx="109728" cy="658368"/>
          </a:xfrm>
          <a:prstGeom prst="rect">
            <a:avLst/>
          </a:prstGeom>
          <a:solidFill>
            <a:srgbClr val="008AC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720840" y="4846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720840" y="523951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 a transformation: A⁻¹</a:t>
            </a:r>
            <a:endParaRPr lang="en-US" sz="1250" dirty="0"/>
          </a:p>
        </p:txBody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55080"/>
            <a:ext cx="1051560" cy="240487"/>
          </a:xfrm>
          <a:prstGeom prst="rect">
            <a:avLst/>
          </a:prstGeom>
        </p:spPr>
      </p:pic>
      <p:sp>
        <p:nvSpPr>
          <p:cNvPr id="29" name="Text 26"/>
          <p:cNvSpPr txBox="1"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Combination, dependence, independence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6F6F6"/>
          </a:solidFill>
          <a:ln/>
          <a:effectLst>
            <a:outerShdw sx="100000" sy="100000" kx="0" ky="0" algn="bl" rotWithShape="0" blurRad="101600" dist="25400" dir="5400000">
              <a:srgbClr val="BFC9D4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9202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combination   </a:t>
            </a:r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weighted sum of vectors, where the weights are scalars.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108960"/>
            <a:ext cx="5349240" cy="2743200"/>
          </a:xfrm>
          <a:prstGeom prst="roundRect">
            <a:avLst>
              <a:gd name="adj" fmla="val 2667"/>
            </a:avLst>
          </a:prstGeom>
          <a:solidFill>
            <a:srgbClr val="EAF6EE"/>
          </a:solidFill>
          <a:ln/>
          <a:effectLst>
            <a:outerShdw sx="100000" sy="100000" kx="0" ky="0" algn="bl" rotWithShape="0" blurRad="101600" dist="25400" dir="5400000">
              <a:srgbClr val="BFC9D4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3291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74904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vector can be written as a combination of the others. Each adds a genuinely new direction — together they span more space.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349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B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information, no redundancy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3108960"/>
            <a:ext cx="5349240" cy="2743200"/>
          </a:xfrm>
          <a:prstGeom prst="roundRect">
            <a:avLst>
              <a:gd name="adj" fmla="val 2667"/>
            </a:avLst>
          </a:prstGeom>
          <a:solidFill>
            <a:srgbClr val="FDEEEB"/>
          </a:solidFill>
          <a:ln/>
          <a:effectLst>
            <a:outerShdw sx="100000" sy="100000" kx="0" ky="0" algn="bl" rotWithShape="0" blurRad="101600" dist="25400" dir="5400000">
              <a:srgbClr val="BFC9D4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583680" y="3291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35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374904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vector IS a combination of the others (e.g. 2v). It adds no new direction — pure redundancy.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5349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35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redundancy PCA removes</a:t>
            </a:r>
            <a:endParaRPr lang="en-US" sz="13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55080"/>
            <a:ext cx="1051560" cy="240487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MORE TOOLS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Determinant &amp; vector norms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349240" cy="3749040"/>
          </a:xfrm>
          <a:prstGeom prst="roundRect">
            <a:avLst>
              <a:gd name="adj" fmla="val 1951"/>
            </a:avLst>
          </a:prstGeom>
          <a:solidFill>
            <a:srgbClr val="F6F6F6"/>
          </a:solidFill>
          <a:ln/>
          <a:effectLst>
            <a:outerShdw sx="100000" sy="100000" kx="0" ky="0" algn="bl" rotWithShape="0" blurRad="101600" dist="25400" dir="5400000">
              <a:srgbClr val="BFC9D4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86000"/>
            <a:ext cx="566928" cy="566928"/>
          </a:xfrm>
          <a:prstGeom prst="ellipse">
            <a:avLst/>
          </a:prstGeom>
          <a:solidFill>
            <a:srgbClr val="008AC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286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|A|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3774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Determinant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0632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transformation scales area / volume.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74904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 = 0  →  space collapses; the matrix is not invertible.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48463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Characterizes the matrix and its transformation.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0" y="2011680"/>
            <a:ext cx="5349240" cy="3749040"/>
          </a:xfrm>
          <a:prstGeom prst="roundRect">
            <a:avLst>
              <a:gd name="adj" fmla="val 1951"/>
            </a:avLst>
          </a:prstGeom>
          <a:solidFill>
            <a:srgbClr val="F6F6F6"/>
          </a:solidFill>
          <a:ln/>
          <a:effectLst>
            <a:outerShdw sx="100000" sy="100000" kx="0" ky="0" algn="bl" rotWithShape="0" blurRad="101600" dist="25400" dir="5400000">
              <a:srgbClr val="BFC9D4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83680" y="2286000"/>
            <a:ext cx="566928" cy="566928"/>
          </a:xfrm>
          <a:prstGeom prst="ellipse">
            <a:avLst/>
          </a:prstGeom>
          <a:solidFill>
            <a:srgbClr val="39C2D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83680" y="2286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‖v‖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7360920" y="23774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norms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6629400" y="30632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the size / length of a vector.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629400" y="374904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(Euclidean) norm is the everyday "length".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629400" y="48463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distances, regularization, gradients.</a:t>
            </a:r>
            <a:endParaRPr lang="en-US" sz="13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55080"/>
            <a:ext cx="1051560" cy="240487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algebra is the foundation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221328" y="1965960"/>
            <a:ext cx="3749040" cy="868680"/>
          </a:xfrm>
          <a:prstGeom prst="roundRect">
            <a:avLst>
              <a:gd name="adj" fmla="val 8421"/>
            </a:avLst>
          </a:prstGeom>
          <a:solidFill>
            <a:srgbClr val="D35D47"/>
          </a:solidFill>
          <a:ln/>
          <a:effectLst>
            <a:outerShdw sx="100000" sy="100000" kx="0" ky="0" algn="bl" rotWithShape="0" blurRad="101600" dist="25400" dir="5400000">
              <a:srgbClr val="BFC9D4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4221328" y="196596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— vision, NLP, forecasting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26968" y="2944368"/>
            <a:ext cx="4937760" cy="868680"/>
          </a:xfrm>
          <a:prstGeom prst="roundRect">
            <a:avLst>
              <a:gd name="adj" fmla="val 8421"/>
            </a:avLst>
          </a:prstGeom>
          <a:solidFill>
            <a:srgbClr val="008ACF"/>
          </a:solidFill>
          <a:ln/>
          <a:effectLst>
            <a:outerShdw sx="100000" sy="100000" kx="0" ky="0" algn="bl" rotWithShape="0" blurRad="101600" dist="25400" dir="5400000">
              <a:srgbClr val="BFC9D4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626968" y="2944368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algorithms — regression, PCA, neural nets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032608" y="3922776"/>
            <a:ext cx="6126480" cy="868680"/>
          </a:xfrm>
          <a:prstGeom prst="roundRect">
            <a:avLst>
              <a:gd name="adj" fmla="val 8421"/>
            </a:avLst>
          </a:prstGeom>
          <a:solidFill>
            <a:srgbClr val="76CDD8"/>
          </a:solidFill>
          <a:ln/>
          <a:effectLst>
            <a:outerShdw sx="100000" sy="100000" kx="0" ky="0" algn="bl" rotWithShape="0" blurRad="101600" dist="25400" dir="5400000">
              <a:srgbClr val="BFC9D4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032608" y="3922776"/>
            <a:ext cx="6126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Calculus + probability — gradients, distributions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438248" y="4901184"/>
            <a:ext cx="7315200" cy="868680"/>
          </a:xfrm>
          <a:prstGeom prst="roundRect">
            <a:avLst>
              <a:gd name="adj" fmla="val 8421"/>
            </a:avLst>
          </a:prstGeom>
          <a:solidFill>
            <a:srgbClr val="263852"/>
          </a:solidFill>
          <a:ln/>
          <a:effectLst>
            <a:outerShdw sx="100000" sy="100000" kx="0" ky="0" algn="bl" rotWithShape="0" blurRad="101600" dist="25400" dir="5400000">
              <a:srgbClr val="BFC9D4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2438248" y="4901184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algebra — vectors, matrices, transforms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above rests on the base. Master the basics before the advanced algorithms.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PAYOFF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algebra in action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algebra formalizes ML's core objects — the feature matrix X and target y — and powers its algorithms.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263852"/>
          </a:solidFill>
          <a:ln/>
          <a:effectLst>
            <a:outerShdw sx="100000" sy="100000" kx="0" ky="0" algn="bl" rotWithShape="0" blurRad="101600" dist="25400" dir="5400000">
              <a:srgbClr val="BFC9D4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26060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squares  =  linear regression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632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EDB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 = (Xᵀ X)⁻¹ Xᵀ y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6949440" y="27432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for the weights that minimize squared error — pure linear algebra.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06908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6F6F6"/>
          </a:solidFill>
          <a:ln/>
          <a:effectLst>
            <a:outerShdw sx="100000" sy="100000" kx="0" ky="0" algn="bl" rotWithShape="0" blurRad="101600" dist="25400" dir="5400000">
              <a:srgbClr val="BFC9D4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22960" y="42976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8006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equations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15968" y="406908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6F6F6"/>
          </a:solidFill>
          <a:ln/>
          <a:effectLst>
            <a:outerShdw sx="100000" sy="100000" kx="0" ky="0" algn="bl" rotWithShape="0" blurRad="101600" dist="25400" dir="5400000">
              <a:srgbClr val="BFC9D4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590288" y="42976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590288" y="48006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eigenvectors of covariance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83296" y="406908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6F6F6"/>
          </a:solidFill>
          <a:ln/>
          <a:effectLst>
            <a:outerShdw sx="100000" sy="100000" kx="0" ky="0" algn="bl" rotWithShape="0" blurRad="101600" dist="25400" dir="5400000">
              <a:srgbClr val="BFC9D4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357616" y="42976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57616" y="48006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multiplies at every layer</a:t>
            </a:r>
            <a:endParaRPr lang="en-US" sz="13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55080"/>
            <a:ext cx="1051560" cy="240487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rgbClr val="39C2D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28800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bridges raw data and models   </a:t>
            </a:r>
            <a:pPr indent="0" marL="0">
              <a:buNone/>
            </a:pPr>
            <a:r>
              <a:rPr lang="en-US" sz="15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messy sources into one numeric feature matrix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670048"/>
            <a:ext cx="566928" cy="566928"/>
          </a:xfrm>
          <a:prstGeom prst="ellipse">
            <a:avLst/>
          </a:prstGeom>
          <a:solidFill>
            <a:srgbClr val="008AC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670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67004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Scale, encode, impute, handle outliers   </a:t>
            </a:r>
            <a:pPr indent="0" marL="0">
              <a:buNone/>
            </a:pPr>
            <a:r>
              <a:rPr lang="en-US" sz="15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transforms every dataset needs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11296"/>
            <a:ext cx="566928" cy="566928"/>
          </a:xfrm>
          <a:prstGeom prst="ellipse">
            <a:avLst/>
          </a:prstGeom>
          <a:solidFill>
            <a:srgbClr val="D35D4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5112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51129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against data leakage   </a:t>
            </a:r>
            <a:pPr indent="0" marL="0">
              <a:buNone/>
            </a:pPr>
            <a:r>
              <a:rPr lang="en-US" sz="15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first, fit on train, wrap in a pipeline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352544"/>
            <a:ext cx="566928" cy="566928"/>
          </a:xfrm>
          <a:prstGeom prst="ellipse">
            <a:avLst/>
          </a:prstGeom>
          <a:solidFill>
            <a:srgbClr val="26385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3525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4352544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algebra is the foundation   </a:t>
            </a:r>
            <a:pPr indent="0" marL="0">
              <a:buNone/>
            </a:pPr>
            <a:r>
              <a:rPr lang="en-US" sz="15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 are points; matrices are transformations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5193792"/>
            <a:ext cx="566928" cy="566928"/>
          </a:xfrm>
          <a:prstGeom prst="ellipse">
            <a:avLst/>
          </a:prstGeom>
          <a:solidFill>
            <a:srgbClr val="CEDB5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1937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519379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powers the algorithms   </a:t>
            </a:r>
            <a:pPr indent="0" marL="0">
              <a:buNone/>
            </a:pPr>
            <a:r>
              <a:rPr lang="en-US" sz="15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squares, PCA, and neural nets are linear algebra</a:t>
            </a:r>
            <a:endParaRPr lang="en-US" sz="15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55080"/>
            <a:ext cx="1051560" cy="240487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39C2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1280160" cy="29260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2377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ED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THROUGH-LINE</a:t>
            </a:r>
            <a:endParaRPr lang="en-US" sz="1600" dirty="0"/>
          </a:p>
        </p:txBody>
      </p:sp>
      <p:sp>
        <p:nvSpPr>
          <p:cNvPr id="4" name="Text 1"/>
          <p:cNvSpPr txBox="1"/>
          <p:nvPr/>
        </p:nvSpPr>
        <p:spPr>
          <a:xfrm>
            <a:off x="530352" y="2788920"/>
            <a:ext cx="10972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build the matrix.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learn what it is.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learns from it.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5029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8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 ·  Linear Algebra in ML  —  Topics 5 &amp; 6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2026-08-31T15:53:45Z</dcterms:created>
  <dcterms:modified xsi:type="dcterms:W3CDTF">2026-08-31T15:53:45Z</dcterms:modified>
</cp:coreProperties>
</file>