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9C2D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89" d="100"/>
          <a:sy n="89" d="100"/>
        </p:scale>
        <p:origin x="816" y="-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221770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Welcome. Two topics today: what ML is, and the types of ML problems. Set an interactive tone from the first minute.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Promise interactivity: polls, sorting games, and a breakout case study.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Part 1 recaps the foundation; keep it brisk if students are confident.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idea of the lesson. Point at each card. The learned rule = model.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Knowing when NOT to use ML separates an engineer from a hype-follower.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Features = questions we ask; target = the answer on past examples; model = the cheat-sheet.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One-liners: answer key / no answer key / rewards. Students reuse these all lesson.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Thermostat = AI not ML; spam filter = ML; calculator = neither.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 row is a real ML job. Naming the problem type correctly is the first engineering decision.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Part 2 is the heart of Lesson 2 — the problem-type taxonomy.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Anchor to Lesson 1's answer-key story before splitting into the two types.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Engaging question: give me one classification and one regression problem from your life.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Tie to the interactive playground: flip the toggle, same dots, boundary vs line.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Spend the most time on clustering — it's the workhorse.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Engaging question: give an example of each. Prioritise clustering answers.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Recommenders = application, not a family. Time-series = order matters.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Give students this as their reference card. Everything on one page.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Run as breakout rooms. Trap: teams calling segmentation 'classification' — ask what the labels are. There are none.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Naming the problem type correctly is the first real engineering decision — it decides everything after.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Ask students to state the recap lines. Exit ticket: learned / understood / can apply / still unanswered.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9C2D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686800" y="-2011680"/>
            <a:ext cx="6400800" cy="6400800"/>
          </a:xfrm>
          <a:prstGeom prst="ellipse">
            <a:avLst/>
          </a:prstGeom>
          <a:solidFill>
            <a:srgbClr val="FFFFFF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828800" y="3200400"/>
            <a:ext cx="5486400" cy="5486400"/>
          </a:xfrm>
          <a:prstGeom prst="ellipse">
            <a:avLst/>
          </a:prstGeom>
          <a:solidFill>
            <a:srgbClr val="263852">
              <a:alpha val="18000"/>
            </a:srgbClr>
          </a:solidFill>
          <a:ln/>
        </p:spPr>
      </p:sp>
      <p:pic>
        <p:nvPicPr>
          <p:cNvPr id="4" name="Image 0" descr="img/itpu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502920"/>
            <a:ext cx="1371600" cy="313639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20116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2638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TO MACHINE LEARNING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502920" y="2468880"/>
            <a:ext cx="10515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</a:t>
            </a:r>
            <a:endParaRPr lang="en-US" sz="4400" dirty="0"/>
          </a:p>
        </p:txBody>
      </p:sp>
      <p:sp>
        <p:nvSpPr>
          <p:cNvPr id="7" name="Text 4"/>
          <p:cNvSpPr/>
          <p:nvPr/>
        </p:nvSpPr>
        <p:spPr>
          <a:xfrm>
            <a:off x="548640" y="388620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2638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 — What Is Machine Learning?   •   Part 2 — Supervised &amp; Unsupervised Learning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548640" y="585216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300" dirty="0">
              <a:solidFill>
                <a:srgbClr val="12414B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r>
              <a:rPr lang="en-US" sz="1300" dirty="0">
                <a:solidFill>
                  <a:srgbClr val="1241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Lecturer: Dilrabo Khidirova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F6F8F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51560"/>
            <a:ext cx="12191695" cy="27432"/>
          </a:xfrm>
          <a:prstGeom prst="rect">
            <a:avLst/>
          </a:prstGeom>
          <a:solidFill>
            <a:srgbClr val="39C2D7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219456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39C2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45720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2638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we'll cover today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548640" y="1463040"/>
            <a:ext cx="5394960" cy="1371600"/>
          </a:xfrm>
          <a:prstGeom prst="roundRect">
            <a:avLst>
              <a:gd name="adj" fmla="val 6667"/>
            </a:avLst>
          </a:prstGeom>
          <a:solidFill>
            <a:srgbClr val="F6F8FB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77240" y="1847088"/>
            <a:ext cx="603504" cy="603504"/>
          </a:xfrm>
          <a:prstGeom prst="ellipse">
            <a:avLst/>
          </a:prstGeom>
          <a:solidFill>
            <a:srgbClr val="39C2D7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1847088"/>
            <a:ext cx="603504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554480" y="1737360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638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Big Flip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554480" y="2121408"/>
            <a:ext cx="4206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ML differs from traditional programming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172200" y="1463040"/>
            <a:ext cx="5394960" cy="1371600"/>
          </a:xfrm>
          <a:prstGeom prst="roundRect">
            <a:avLst>
              <a:gd name="adj" fmla="val 6667"/>
            </a:avLst>
          </a:prstGeom>
          <a:solidFill>
            <a:srgbClr val="F6F8FB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400800" y="1847088"/>
            <a:ext cx="603504" cy="603504"/>
          </a:xfrm>
          <a:prstGeom prst="ellipse">
            <a:avLst/>
          </a:prstGeom>
          <a:solidFill>
            <a:srgbClr val="008ACF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0" y="1847088"/>
            <a:ext cx="603504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7178040" y="1737360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638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vocabulary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7178040" y="2121408"/>
            <a:ext cx="4206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model, dataset, instance, feature, target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48640" y="3017520"/>
            <a:ext cx="5394960" cy="1371600"/>
          </a:xfrm>
          <a:prstGeom prst="roundRect">
            <a:avLst>
              <a:gd name="adj" fmla="val 6667"/>
            </a:avLst>
          </a:prstGeom>
          <a:solidFill>
            <a:srgbClr val="F6F8FB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77240" y="3401568"/>
            <a:ext cx="603504" cy="603504"/>
          </a:xfrm>
          <a:prstGeom prst="ellipse">
            <a:avLst/>
          </a:prstGeom>
          <a:solidFill>
            <a:srgbClr val="8A7CBB"/>
          </a:solidFill>
          <a:ln/>
        </p:spPr>
      </p:sp>
      <p:sp>
        <p:nvSpPr>
          <p:cNvPr id="18" name="Text 16"/>
          <p:cNvSpPr/>
          <p:nvPr/>
        </p:nvSpPr>
        <p:spPr>
          <a:xfrm>
            <a:off x="777240" y="3401568"/>
            <a:ext cx="603504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554480" y="3291840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638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vs ML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1554480" y="3675888"/>
            <a:ext cx="4206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they nest together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6172200" y="3017520"/>
            <a:ext cx="5394960" cy="1371600"/>
          </a:xfrm>
          <a:prstGeom prst="roundRect">
            <a:avLst>
              <a:gd name="adj" fmla="val 6667"/>
            </a:avLst>
          </a:prstGeom>
          <a:solidFill>
            <a:srgbClr val="F6F8FB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400800" y="3401568"/>
            <a:ext cx="603504" cy="603504"/>
          </a:xfrm>
          <a:prstGeom prst="ellipse">
            <a:avLst/>
          </a:prstGeom>
          <a:solidFill>
            <a:srgbClr val="D35D47"/>
          </a:solidFill>
          <a:ln/>
        </p:spPr>
      </p:sp>
      <p:sp>
        <p:nvSpPr>
          <p:cNvPr id="23" name="Text 21"/>
          <p:cNvSpPr/>
          <p:nvPr/>
        </p:nvSpPr>
        <p:spPr>
          <a:xfrm>
            <a:off x="6400800" y="3401568"/>
            <a:ext cx="603504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7178040" y="3291840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638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Supervised types</a:t>
            </a:r>
            <a:endParaRPr lang="en-US" sz="1700" dirty="0"/>
          </a:p>
        </p:txBody>
      </p:sp>
      <p:sp>
        <p:nvSpPr>
          <p:cNvPr id="25" name="Text 23"/>
          <p:cNvSpPr/>
          <p:nvPr/>
        </p:nvSpPr>
        <p:spPr>
          <a:xfrm>
            <a:off x="7178040" y="3675888"/>
            <a:ext cx="4206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 vs regression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548640" y="4572000"/>
            <a:ext cx="5394960" cy="1371600"/>
          </a:xfrm>
          <a:prstGeom prst="roundRect">
            <a:avLst>
              <a:gd name="adj" fmla="val 6667"/>
            </a:avLst>
          </a:prstGeom>
          <a:solidFill>
            <a:srgbClr val="F6F8FB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77240" y="4956048"/>
            <a:ext cx="603504" cy="603504"/>
          </a:xfrm>
          <a:prstGeom prst="ellipse">
            <a:avLst/>
          </a:prstGeom>
          <a:solidFill>
            <a:srgbClr val="CEDB56"/>
          </a:solidFill>
          <a:ln/>
        </p:spPr>
      </p:sp>
      <p:sp>
        <p:nvSpPr>
          <p:cNvPr id="28" name="Text 26"/>
          <p:cNvSpPr/>
          <p:nvPr/>
        </p:nvSpPr>
        <p:spPr>
          <a:xfrm>
            <a:off x="777240" y="4956048"/>
            <a:ext cx="603504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1554480" y="4846320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638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Unsupervised types</a:t>
            </a:r>
            <a:endParaRPr lang="en-US" sz="1700" dirty="0"/>
          </a:p>
        </p:txBody>
      </p:sp>
      <p:sp>
        <p:nvSpPr>
          <p:cNvPr id="30" name="Text 28"/>
          <p:cNvSpPr/>
          <p:nvPr/>
        </p:nvSpPr>
        <p:spPr>
          <a:xfrm>
            <a:off x="1554480" y="5230368"/>
            <a:ext cx="4206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clustering, dim. reduction, anomaly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6172200" y="4572000"/>
            <a:ext cx="5394960" cy="1371600"/>
          </a:xfrm>
          <a:prstGeom prst="roundRect">
            <a:avLst>
              <a:gd name="adj" fmla="val 6667"/>
            </a:avLst>
          </a:prstGeom>
          <a:solidFill>
            <a:srgbClr val="F6F8FB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400800" y="4956048"/>
            <a:ext cx="603504" cy="603504"/>
          </a:xfrm>
          <a:prstGeom prst="ellipse">
            <a:avLst/>
          </a:prstGeom>
          <a:solidFill>
            <a:srgbClr val="263852"/>
          </a:solidFill>
          <a:ln/>
        </p:spPr>
      </p:sp>
      <p:sp>
        <p:nvSpPr>
          <p:cNvPr id="33" name="Text 31"/>
          <p:cNvSpPr/>
          <p:nvPr/>
        </p:nvSpPr>
        <p:spPr>
          <a:xfrm>
            <a:off x="6400800" y="4956048"/>
            <a:ext cx="603504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7178040" y="4846320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638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study</a:t>
            </a:r>
            <a:endParaRPr lang="en-US" sz="1700" dirty="0"/>
          </a:p>
        </p:txBody>
      </p:sp>
      <p:sp>
        <p:nvSpPr>
          <p:cNvPr id="35" name="Text 33"/>
          <p:cNvSpPr/>
          <p:nvPr/>
        </p:nvSpPr>
        <p:spPr>
          <a:xfrm>
            <a:off x="7178040" y="5230368"/>
            <a:ext cx="4206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framing a real business problem</a:t>
            </a:r>
            <a:endParaRPr lang="en-US" sz="1250" dirty="0"/>
          </a:p>
        </p:txBody>
      </p:sp>
      <p:pic>
        <p:nvPicPr>
          <p:cNvPr id="36" name="Image 0" descr="img/itpu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6382512"/>
            <a:ext cx="822960" cy="188366"/>
          </a:xfrm>
          <a:prstGeom prst="rect">
            <a:avLst/>
          </a:prstGeom>
        </p:spPr>
      </p:pic>
      <p:sp>
        <p:nvSpPr>
          <p:cNvPr id="37" name="Text 34"/>
          <p:cNvSpPr/>
          <p:nvPr/>
        </p:nvSpPr>
        <p:spPr>
          <a:xfrm>
            <a:off x="1463040" y="6382512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to Machine Learning</a:t>
            </a:r>
            <a:endParaRPr lang="en-US" sz="900" dirty="0"/>
          </a:p>
        </p:txBody>
      </p:sp>
      <p:sp>
        <p:nvSpPr>
          <p:cNvPr id="38" name="Text 35"/>
          <p:cNvSpPr/>
          <p:nvPr/>
        </p:nvSpPr>
        <p:spPr>
          <a:xfrm>
            <a:off x="11430000" y="6382512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200400"/>
            <a:ext cx="12191695" cy="54864"/>
          </a:xfrm>
          <a:prstGeom prst="rect">
            <a:avLst/>
          </a:prstGeom>
          <a:solidFill>
            <a:srgbClr val="39C2D7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91440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kern="0" spc="400" dirty="0">
                <a:solidFill>
                  <a:srgbClr val="39C2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99403" y="2130552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Machine Learning?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548640" y="374904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CFE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Teaching a computer WHAT to do — without telling it HOW.</a:t>
            </a:r>
            <a:endParaRPr lang="en-US" sz="1800" dirty="0"/>
          </a:p>
        </p:txBody>
      </p:sp>
      <p:pic>
        <p:nvPicPr>
          <p:cNvPr id="6" name="Image 0" descr="img/itpu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6035040"/>
            <a:ext cx="1005840" cy="230429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F6F8F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51560"/>
            <a:ext cx="12191695" cy="27432"/>
          </a:xfrm>
          <a:prstGeom prst="rect">
            <a:avLst/>
          </a:prstGeom>
          <a:solidFill>
            <a:srgbClr val="39C2D7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219456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39C2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IDEA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45720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2638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Big Flip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548640" y="1417320"/>
            <a:ext cx="5212080" cy="2194560"/>
          </a:xfrm>
          <a:prstGeom prst="roundRect">
            <a:avLst>
              <a:gd name="adj" fmla="val 4167"/>
            </a:avLst>
          </a:prstGeom>
          <a:solidFill>
            <a:srgbClr val="F6F8FB"/>
          </a:solidFill>
          <a:ln w="19050">
            <a:solidFill>
              <a:srgbClr val="D35D4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160020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D35D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programming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77240" y="201168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write the rule by hand.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77240" y="2395728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638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area &gt; 80 and rooms ≥ 3 → "expensive"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77240" y="297180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D35D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 </a:t>
            </a:r>
            <a:r>
              <a:rPr lang="en-US" sz="1800" dirty="0">
                <a:solidFill>
                  <a:srgbClr val="2638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DATA → </a:t>
            </a:r>
            <a:r>
              <a:rPr lang="en-US" sz="1800" b="1" dirty="0">
                <a:solidFill>
                  <a:srgbClr val="008A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ANSWERS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6400800" y="1417320"/>
            <a:ext cx="5212080" cy="2194560"/>
          </a:xfrm>
          <a:prstGeom prst="roundRect">
            <a:avLst>
              <a:gd name="adj" fmla="val 4167"/>
            </a:avLst>
          </a:prstGeom>
          <a:solidFill>
            <a:srgbClr val="EAF6F9"/>
          </a:solidFill>
          <a:ln w="19050">
            <a:solidFill>
              <a:srgbClr val="39C2D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629400" y="160020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8A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6629400" y="201168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machine learns the rule from examples.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629400" y="2395728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638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show 10,000 sold houses → learn the pattern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629400" y="297180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8A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</a:t>
            </a:r>
            <a:r>
              <a:rPr lang="en-US" sz="1800" dirty="0">
                <a:solidFill>
                  <a:srgbClr val="2638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ANSWERS → </a:t>
            </a:r>
            <a:r>
              <a:rPr lang="en-US" sz="1800" b="1" dirty="0">
                <a:solidFill>
                  <a:srgbClr val="39C2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548640" y="3886200"/>
            <a:ext cx="11064240" cy="2103120"/>
          </a:xfrm>
          <a:prstGeom prst="roundRect">
            <a:avLst>
              <a:gd name="adj" fmla="val 4348"/>
            </a:avLst>
          </a:prstGeom>
          <a:solidFill>
            <a:srgbClr val="263852"/>
          </a:solidFill>
          <a:ln/>
        </p:spPr>
      </p:sp>
      <p:sp>
        <p:nvSpPr>
          <p:cNvPr id="17" name="Text 15"/>
          <p:cNvSpPr/>
          <p:nvPr/>
        </p:nvSpPr>
        <p:spPr>
          <a:xfrm>
            <a:off x="822960" y="4069080"/>
            <a:ext cx="10515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39C2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does a child learn "cat"?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822960" y="4526280"/>
            <a:ext cx="10515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parent recites rules about whiskers — they point: "cat… cat… that's a dog." After enough labelled examples, the child learns the pattern. Machine learning learns the same way. The rule it produces is called a MODEL.</a:t>
            </a:r>
            <a:endParaRPr lang="en-US" sz="1500" dirty="0"/>
          </a:p>
        </p:txBody>
      </p:sp>
      <p:pic>
        <p:nvPicPr>
          <p:cNvPr id="19" name="Image 0" descr="img/itpu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6382512"/>
            <a:ext cx="822960" cy="188366"/>
          </a:xfrm>
          <a:prstGeom prst="rect">
            <a:avLst/>
          </a:prstGeom>
        </p:spPr>
      </p:pic>
      <p:sp>
        <p:nvSpPr>
          <p:cNvPr id="20" name="Text 17"/>
          <p:cNvSpPr/>
          <p:nvPr/>
        </p:nvSpPr>
        <p:spPr>
          <a:xfrm>
            <a:off x="1463040" y="6382512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to Machine Learning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11430000" y="6382512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F6F8F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51560"/>
            <a:ext cx="12191695" cy="27432"/>
          </a:xfrm>
          <a:prstGeom prst="rect">
            <a:avLst/>
          </a:prstGeom>
          <a:solidFill>
            <a:srgbClr val="39C2D7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219456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39C2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JUDGEMENT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45720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2638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ML shines — and when it doesn't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548640" y="128016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8A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Reach for ML when…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8640" y="1737360"/>
            <a:ext cx="5486400" cy="914400"/>
          </a:xfrm>
          <a:prstGeom prst="roundRect">
            <a:avLst>
              <a:gd name="adj" fmla="val 8000"/>
            </a:avLst>
          </a:prstGeom>
          <a:solidFill>
            <a:srgbClr val="EAF6F9"/>
          </a:solidFill>
          <a:ln w="12700">
            <a:solidFill>
              <a:srgbClr val="39C2D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1847088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638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Repetitive patterns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77240" y="2167128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signal is in the data (spam, buying habits)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2788920"/>
            <a:ext cx="5486400" cy="914400"/>
          </a:xfrm>
          <a:prstGeom prst="roundRect">
            <a:avLst>
              <a:gd name="adj" fmla="val 8000"/>
            </a:avLst>
          </a:prstGeom>
          <a:solidFill>
            <a:srgbClr val="EAF6F9"/>
          </a:solidFill>
          <a:ln w="12700">
            <a:solidFill>
              <a:srgbClr val="39C2D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" y="2898648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638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77240" y="3218688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millions of cheap predictions a human can't make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3840480"/>
            <a:ext cx="5486400" cy="914400"/>
          </a:xfrm>
          <a:prstGeom prst="roundRect">
            <a:avLst>
              <a:gd name="adj" fmla="val 8000"/>
            </a:avLst>
          </a:prstGeom>
          <a:solidFill>
            <a:srgbClr val="EAF6F9"/>
          </a:solidFill>
          <a:ln w="12700">
            <a:solidFill>
              <a:srgbClr val="39C2D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" y="3950208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638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Error-tolerant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777240" y="4270248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occasional wrong answer is acceptable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4892040"/>
            <a:ext cx="5486400" cy="914400"/>
          </a:xfrm>
          <a:prstGeom prst="roundRect">
            <a:avLst>
              <a:gd name="adj" fmla="val 8000"/>
            </a:avLst>
          </a:prstGeom>
          <a:solidFill>
            <a:srgbClr val="EAF6F9"/>
          </a:solidFill>
          <a:ln w="12700">
            <a:solidFill>
              <a:srgbClr val="39C2D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77240" y="5001768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638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Changing world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777240" y="5321808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rules rot; retrain the model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355080" y="128016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D35D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 Skip ML when…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6355080" y="1737360"/>
            <a:ext cx="5257800" cy="91440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 w="12700">
            <a:solidFill>
              <a:srgbClr val="D35D4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583680" y="1847088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7A2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 known rule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583680" y="2167128"/>
            <a:ext cx="4846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B4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tax, sorting, unit conversion → just code it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355080" y="2788920"/>
            <a:ext cx="5257800" cy="91440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 w="12700">
            <a:solidFill>
              <a:srgbClr val="D35D4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583680" y="2898648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7A2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Catastrophic errors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6583680" y="3218688"/>
            <a:ext cx="4846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B4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unexplainable high-stakes output with no safeguard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6355080" y="3840480"/>
            <a:ext cx="5257800" cy="91440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 w="12700">
            <a:solidFill>
              <a:srgbClr val="D35D4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583680" y="3950208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7A2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data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6583680" y="4270248"/>
            <a:ext cx="4846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B4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data → nothing to learn from</a:t>
            </a:r>
            <a:endParaRPr lang="en-US" sz="1200" dirty="0"/>
          </a:p>
        </p:txBody>
      </p:sp>
      <p:pic>
        <p:nvPicPr>
          <p:cNvPr id="29" name="Image 0" descr="img/itpu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6382512"/>
            <a:ext cx="822960" cy="188366"/>
          </a:xfrm>
          <a:prstGeom prst="rect">
            <a:avLst/>
          </a:prstGeom>
        </p:spPr>
      </p:pic>
      <p:sp>
        <p:nvSpPr>
          <p:cNvPr id="30" name="Text 27"/>
          <p:cNvSpPr/>
          <p:nvPr/>
        </p:nvSpPr>
        <p:spPr>
          <a:xfrm>
            <a:off x="1463040" y="6382512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to Machine Learning</a:t>
            </a:r>
            <a:endParaRPr lang="en-US" sz="900" dirty="0"/>
          </a:p>
        </p:txBody>
      </p:sp>
      <p:sp>
        <p:nvSpPr>
          <p:cNvPr id="31" name="Text 28"/>
          <p:cNvSpPr/>
          <p:nvPr/>
        </p:nvSpPr>
        <p:spPr>
          <a:xfrm>
            <a:off x="11430000" y="6382512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F6F8F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51560"/>
            <a:ext cx="12191695" cy="27432"/>
          </a:xfrm>
          <a:prstGeom prst="rect">
            <a:avLst/>
          </a:prstGeom>
          <a:solidFill>
            <a:srgbClr val="39C2D7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219456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39C2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 OF ML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45720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2638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vocabulary in one picture</a:t>
            </a:r>
            <a:endParaRPr lang="en-US" sz="2700" dirty="0"/>
          </a:p>
        </p:txBody>
      </p:sp>
      <p:pic>
        <p:nvPicPr>
          <p:cNvPr id="6" name="Image 0" descr="img/vocab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371600"/>
            <a:ext cx="7315200" cy="4535424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8138160" y="1417320"/>
            <a:ext cx="3474720" cy="822960"/>
          </a:xfrm>
          <a:prstGeom prst="roundRect">
            <a:avLst>
              <a:gd name="adj" fmla="val 8889"/>
            </a:avLst>
          </a:prstGeom>
          <a:solidFill>
            <a:srgbClr val="F6F8FB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321040" y="1527048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8A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8321040" y="1837944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the examples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8138160" y="2350008"/>
            <a:ext cx="3474720" cy="822960"/>
          </a:xfrm>
          <a:prstGeom prst="roundRect">
            <a:avLst>
              <a:gd name="adj" fmla="val 8889"/>
            </a:avLst>
          </a:prstGeom>
          <a:solidFill>
            <a:srgbClr val="F6F8FB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321040" y="2459736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8A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Instance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8321040" y="2770632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row / example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8138160" y="3282696"/>
            <a:ext cx="3474720" cy="822960"/>
          </a:xfrm>
          <a:prstGeom prst="roundRect">
            <a:avLst>
              <a:gd name="adj" fmla="val 8889"/>
            </a:avLst>
          </a:prstGeom>
          <a:solidFill>
            <a:srgbClr val="F6F8FB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321040" y="3392424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8A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8321040" y="370332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input column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8138160" y="4215384"/>
            <a:ext cx="3474720" cy="822960"/>
          </a:xfrm>
          <a:prstGeom prst="roundRect">
            <a:avLst>
              <a:gd name="adj" fmla="val 8889"/>
            </a:avLst>
          </a:prstGeom>
          <a:solidFill>
            <a:srgbClr val="F6F8FB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8321040" y="4325112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8A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8321040" y="4636008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answer to predict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8138160" y="5148072"/>
            <a:ext cx="3474720" cy="822960"/>
          </a:xfrm>
          <a:prstGeom prst="roundRect">
            <a:avLst>
              <a:gd name="adj" fmla="val 8889"/>
            </a:avLst>
          </a:prstGeom>
          <a:solidFill>
            <a:srgbClr val="F6F8FB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8321040" y="525780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8A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1400" dirty="0"/>
          </a:p>
        </p:txBody>
      </p:sp>
      <p:sp>
        <p:nvSpPr>
          <p:cNvPr id="21" name="Text 18"/>
          <p:cNvSpPr/>
          <p:nvPr/>
        </p:nvSpPr>
        <p:spPr>
          <a:xfrm>
            <a:off x="8321040" y="5568696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learned rule</a:t>
            </a:r>
            <a:endParaRPr lang="en-US" sz="1200" dirty="0"/>
          </a:p>
        </p:txBody>
      </p:sp>
      <p:pic>
        <p:nvPicPr>
          <p:cNvPr id="22" name="Image 1" descr="img/itpu_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6382512"/>
            <a:ext cx="822960" cy="188366"/>
          </a:xfrm>
          <a:prstGeom prst="rect">
            <a:avLst/>
          </a:prstGeom>
        </p:spPr>
      </p:pic>
      <p:sp>
        <p:nvSpPr>
          <p:cNvPr id="23" name="Text 19"/>
          <p:cNvSpPr/>
          <p:nvPr/>
        </p:nvSpPr>
        <p:spPr>
          <a:xfrm>
            <a:off x="1463040" y="6382512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to Machine Learning</a:t>
            </a:r>
            <a:endParaRPr lang="en-US" sz="900" dirty="0"/>
          </a:p>
        </p:txBody>
      </p:sp>
      <p:sp>
        <p:nvSpPr>
          <p:cNvPr id="24" name="Text 20"/>
          <p:cNvSpPr/>
          <p:nvPr/>
        </p:nvSpPr>
        <p:spPr>
          <a:xfrm>
            <a:off x="11430000" y="6382512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F6F8F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51560"/>
            <a:ext cx="12191695" cy="27432"/>
          </a:xfrm>
          <a:prstGeom prst="rect">
            <a:avLst/>
          </a:prstGeom>
          <a:solidFill>
            <a:srgbClr val="39C2D7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219456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39C2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MAP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45720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2638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families of machine learning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548640" y="1554480"/>
            <a:ext cx="3520440" cy="3474720"/>
          </a:xfrm>
          <a:prstGeom prst="roundRect">
            <a:avLst>
              <a:gd name="adj" fmla="val 3158"/>
            </a:avLst>
          </a:prstGeom>
          <a:solidFill>
            <a:srgbClr val="F6F8FB"/>
          </a:solidFill>
          <a:ln w="19050">
            <a:solidFill>
              <a:srgbClr val="39C2D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77240" y="1783080"/>
            <a:ext cx="3063240" cy="548640"/>
          </a:xfrm>
          <a:prstGeom prst="roundRect">
            <a:avLst>
              <a:gd name="adj" fmla="val 50000"/>
            </a:avLst>
          </a:prstGeom>
          <a:solidFill>
            <a:srgbClr val="39C2D7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1783080"/>
            <a:ext cx="3063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Supervised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22960" y="2560320"/>
            <a:ext cx="2971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2638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"learns from an ANSWER KEY"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22960" y="3383280"/>
            <a:ext cx="2971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labelled data → spam, price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251960" y="1554480"/>
            <a:ext cx="3520440" cy="3474720"/>
          </a:xfrm>
          <a:prstGeom prst="roundRect">
            <a:avLst>
              <a:gd name="adj" fmla="val 3158"/>
            </a:avLst>
          </a:prstGeom>
          <a:solidFill>
            <a:srgbClr val="F6F8FB"/>
          </a:solidFill>
          <a:ln w="19050">
            <a:solidFill>
              <a:srgbClr val="008AC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480560" y="1783080"/>
            <a:ext cx="3063240" cy="548640"/>
          </a:xfrm>
          <a:prstGeom prst="roundRect">
            <a:avLst>
              <a:gd name="adj" fmla="val 50000"/>
            </a:avLst>
          </a:prstGeom>
          <a:solidFill>
            <a:srgbClr val="008ACF"/>
          </a:solidFill>
          <a:ln/>
        </p:spPr>
      </p:sp>
      <p:sp>
        <p:nvSpPr>
          <p:cNvPr id="13" name="Text 11"/>
          <p:cNvSpPr/>
          <p:nvPr/>
        </p:nvSpPr>
        <p:spPr>
          <a:xfrm>
            <a:off x="4480560" y="1783080"/>
            <a:ext cx="3063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Unsupervised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526280" y="2560320"/>
            <a:ext cx="2971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2638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"finds patterns, NO answer key"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526280" y="3383280"/>
            <a:ext cx="2971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segments, anomalies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7955280" y="1554480"/>
            <a:ext cx="3520440" cy="3474720"/>
          </a:xfrm>
          <a:prstGeom prst="roundRect">
            <a:avLst>
              <a:gd name="adj" fmla="val 3158"/>
            </a:avLst>
          </a:prstGeom>
          <a:solidFill>
            <a:srgbClr val="F6F8FB"/>
          </a:solidFill>
          <a:ln w="19050">
            <a:solidFill>
              <a:srgbClr val="5A6B7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183880" y="1783080"/>
            <a:ext cx="3063240" cy="548640"/>
          </a:xfrm>
          <a:prstGeom prst="roundRect">
            <a:avLst>
              <a:gd name="adj" fmla="val 50000"/>
            </a:avLst>
          </a:prstGeom>
          <a:solidFill>
            <a:srgbClr val="5A6B7B"/>
          </a:solidFill>
          <a:ln/>
        </p:spPr>
      </p:sp>
      <p:sp>
        <p:nvSpPr>
          <p:cNvPr id="18" name="Text 16"/>
          <p:cNvSpPr/>
          <p:nvPr/>
        </p:nvSpPr>
        <p:spPr>
          <a:xfrm>
            <a:off x="8183880" y="1783080"/>
            <a:ext cx="3063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Reinforcement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8229600" y="2560320"/>
            <a:ext cx="2971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2638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"learns from REWARDS, by doing"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8229600" y="3383280"/>
            <a:ext cx="2971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game agents, robots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731520" y="5212080"/>
            <a:ext cx="10698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300" dirty="0"/>
          </a:p>
        </p:txBody>
      </p:sp>
      <p:pic>
        <p:nvPicPr>
          <p:cNvPr id="23" name="Image 0" descr="img/itpu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6382512"/>
            <a:ext cx="822960" cy="188366"/>
          </a:xfrm>
          <a:prstGeom prst="rect">
            <a:avLst/>
          </a:prstGeom>
        </p:spPr>
      </p:pic>
      <p:sp>
        <p:nvSpPr>
          <p:cNvPr id="24" name="Text 21"/>
          <p:cNvSpPr/>
          <p:nvPr/>
        </p:nvSpPr>
        <p:spPr>
          <a:xfrm>
            <a:off x="1463040" y="6382512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to Machine Learning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11430000" y="6382512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F6F8F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51560"/>
            <a:ext cx="12191695" cy="27432"/>
          </a:xfrm>
          <a:prstGeom prst="rect">
            <a:avLst/>
          </a:prstGeom>
          <a:solidFill>
            <a:srgbClr val="39C2D7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219456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39C2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RELATIONSHIP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45720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2638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vs ML — how they nest</a:t>
            </a:r>
            <a:endParaRPr lang="en-US" sz="2700" dirty="0"/>
          </a:p>
        </p:txBody>
      </p:sp>
      <p:pic>
        <p:nvPicPr>
          <p:cNvPr id="6" name="Image 0" descr="img/hero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325880"/>
            <a:ext cx="7040880" cy="365760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7772400" y="1417320"/>
            <a:ext cx="3886200" cy="3566160"/>
          </a:xfrm>
          <a:prstGeom prst="roundRect">
            <a:avLst>
              <a:gd name="adj" fmla="val 2564"/>
            </a:avLst>
          </a:prstGeom>
          <a:solidFill>
            <a:srgbClr val="F6F8FB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001000" y="160020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638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nesting rule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8001000" y="2103120"/>
            <a:ext cx="342900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8A7CBB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138160" y="219456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8A7C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8138160" y="2487168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machine acting "smart", incl. hand-coded rules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8001000" y="2971800"/>
            <a:ext cx="342900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008ACF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138160" y="306324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08A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</a:t>
            </a:r>
            <a:endParaRPr lang="en-US" sz="1350" dirty="0"/>
          </a:p>
        </p:txBody>
      </p:sp>
      <p:sp>
        <p:nvSpPr>
          <p:cNvPr id="14" name="Text 11"/>
          <p:cNvSpPr/>
          <p:nvPr/>
        </p:nvSpPr>
        <p:spPr>
          <a:xfrm>
            <a:off x="8138160" y="3355848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subset that LEARNS from data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8001000" y="3840480"/>
            <a:ext cx="342900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39C2D7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8138160" y="393192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39C2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learning</a:t>
            </a:r>
            <a:endParaRPr lang="en-US" sz="1350" dirty="0"/>
          </a:p>
        </p:txBody>
      </p:sp>
      <p:sp>
        <p:nvSpPr>
          <p:cNvPr id="17" name="Text 14"/>
          <p:cNvSpPr/>
          <p:nvPr/>
        </p:nvSpPr>
        <p:spPr>
          <a:xfrm>
            <a:off x="8138160" y="4224528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built on neural networks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8001000" y="461772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i="1" dirty="0">
                <a:solidFill>
                  <a:srgbClr val="2638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ML is AI — but not all AI is ML.</a:t>
            </a:r>
            <a:endParaRPr lang="en-US" sz="1300" dirty="0"/>
          </a:p>
        </p:txBody>
      </p:sp>
      <p:pic>
        <p:nvPicPr>
          <p:cNvPr id="19" name="Image 1" descr="img/itpu_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6382512"/>
            <a:ext cx="822960" cy="188366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1463040" y="6382512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to Machine Learning</a:t>
            </a:r>
            <a:endParaRPr lang="en-US" sz="900" dirty="0"/>
          </a:p>
        </p:txBody>
      </p:sp>
      <p:sp>
        <p:nvSpPr>
          <p:cNvPr id="21" name="Text 17"/>
          <p:cNvSpPr/>
          <p:nvPr/>
        </p:nvSpPr>
        <p:spPr>
          <a:xfrm>
            <a:off x="11430000" y="6382512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F6F8F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51560"/>
            <a:ext cx="12191695" cy="27432"/>
          </a:xfrm>
          <a:prstGeom prst="rect">
            <a:avLst/>
          </a:prstGeom>
          <a:solidFill>
            <a:srgbClr val="39C2D7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219456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39C2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45720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2638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across industries</a:t>
            </a:r>
            <a:endParaRPr lang="en-US" sz="2700" dirty="0"/>
          </a:p>
        </p:txBody>
      </p:sp>
      <p:pic>
        <p:nvPicPr>
          <p:cNvPr id="6" name="Image 0" descr="img/industries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68880" y="1371600"/>
            <a:ext cx="7223760" cy="4992624"/>
          </a:xfrm>
          <a:prstGeom prst="rect">
            <a:avLst/>
          </a:prstGeom>
        </p:spPr>
      </p:pic>
      <p:pic>
        <p:nvPicPr>
          <p:cNvPr id="7" name="Image 1" descr="img/itpu_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6382512"/>
            <a:ext cx="822960" cy="188366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463040" y="6382512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to Machine Learning</a:t>
            </a:r>
            <a:endParaRPr lang="en-US" sz="900" dirty="0"/>
          </a:p>
        </p:txBody>
      </p:sp>
      <p:sp>
        <p:nvSpPr>
          <p:cNvPr id="9" name="Text 5"/>
          <p:cNvSpPr/>
          <p:nvPr/>
        </p:nvSpPr>
        <p:spPr>
          <a:xfrm>
            <a:off x="11430000" y="6382512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200400"/>
            <a:ext cx="12191695" cy="54864"/>
          </a:xfrm>
          <a:prstGeom prst="rect">
            <a:avLst/>
          </a:prstGeom>
          <a:solidFill>
            <a:srgbClr val="CEDB56"/>
          </a:solidFill>
          <a:ln/>
        </p:spPr>
      </p:sp>
      <p:sp>
        <p:nvSpPr>
          <p:cNvPr id="3" name="Text 1"/>
          <p:cNvSpPr/>
          <p:nvPr/>
        </p:nvSpPr>
        <p:spPr>
          <a:xfrm>
            <a:off x="419244" y="592531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kern="0" spc="400" dirty="0">
                <a:solidFill>
                  <a:srgbClr val="CEDB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19244" y="1491749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Supervised &amp; Unsupervised Learning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548640" y="374904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800" dirty="0"/>
          </a:p>
        </p:txBody>
      </p:sp>
      <p:pic>
        <p:nvPicPr>
          <p:cNvPr id="6" name="Image 0" descr="img/itpu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6035040"/>
            <a:ext cx="1005840" cy="230429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F6F8F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51560"/>
            <a:ext cx="12191695" cy="27432"/>
          </a:xfrm>
          <a:prstGeom prst="rect">
            <a:avLst/>
          </a:prstGeom>
          <a:solidFill>
            <a:srgbClr val="39C2D7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219456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39C2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FAMILY 1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45720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2638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Supervised learning — has an answer key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548640" y="1417320"/>
            <a:ext cx="11064240" cy="1097280"/>
          </a:xfrm>
          <a:prstGeom prst="roundRect">
            <a:avLst>
              <a:gd name="adj" fmla="val 8333"/>
            </a:avLst>
          </a:prstGeom>
          <a:solidFill>
            <a:srgbClr val="EAF6F9"/>
          </a:solidFill>
          <a:ln w="12700">
            <a:solidFill>
              <a:srgbClr val="39C2D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1417320"/>
            <a:ext cx="10515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638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from labelled examples — the data comes with the right answers. The model studies past cases, then answers new ones.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48640" y="27432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638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problem types live here: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48640" y="3246120"/>
            <a:ext cx="2743200" cy="384048"/>
          </a:xfrm>
          <a:prstGeom prst="roundRect">
            <a:avLst>
              <a:gd name="adj" fmla="val 19048"/>
            </a:avLst>
          </a:prstGeom>
          <a:solidFill>
            <a:srgbClr val="39C2D7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3246120"/>
            <a:ext cx="2743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429000" y="3246120"/>
            <a:ext cx="3657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a category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48640" y="3840480"/>
            <a:ext cx="2743200" cy="384048"/>
          </a:xfrm>
          <a:prstGeom prst="roundRect">
            <a:avLst>
              <a:gd name="adj" fmla="val 19048"/>
            </a:avLst>
          </a:prstGeom>
          <a:solidFill>
            <a:srgbClr val="008ACF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3840480"/>
            <a:ext cx="2743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REGRESSION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429000" y="3840480"/>
            <a:ext cx="3657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a number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7315200" y="3154680"/>
            <a:ext cx="4297680" cy="2377440"/>
          </a:xfrm>
          <a:prstGeom prst="roundRect">
            <a:avLst>
              <a:gd name="adj" fmla="val 3846"/>
            </a:avLst>
          </a:prstGeom>
          <a:solidFill>
            <a:srgbClr val="F6F8FB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543800" y="329184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638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Remember from Lesson 1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7543800" y="3703320"/>
            <a:ext cx="38404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Supervised = "studying with a solved answer key." Every example already carries its correct label, so the machine has something to check itself against.</a:t>
            </a:r>
            <a:endParaRPr lang="en-US" sz="1300" dirty="0"/>
          </a:p>
        </p:txBody>
      </p:sp>
      <p:pic>
        <p:nvPicPr>
          <p:cNvPr id="18" name="Image 0" descr="img/itpu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6382512"/>
            <a:ext cx="822960" cy="188366"/>
          </a:xfrm>
          <a:prstGeom prst="rect">
            <a:avLst/>
          </a:prstGeom>
        </p:spPr>
      </p:pic>
      <p:sp>
        <p:nvSpPr>
          <p:cNvPr id="19" name="Text 16"/>
          <p:cNvSpPr/>
          <p:nvPr/>
        </p:nvSpPr>
        <p:spPr>
          <a:xfrm>
            <a:off x="1463040" y="6382512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to Machine Learning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11430000" y="6382512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F6F8F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51560"/>
            <a:ext cx="12191695" cy="27432"/>
          </a:xfrm>
          <a:prstGeom prst="rect">
            <a:avLst/>
          </a:prstGeom>
          <a:solidFill>
            <a:srgbClr val="39C2D7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219456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39C2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SUPERVISED TYPES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45720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2638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 vs Regression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548640" y="1417320"/>
            <a:ext cx="5394960" cy="4480560"/>
          </a:xfrm>
          <a:prstGeom prst="roundRect">
            <a:avLst>
              <a:gd name="adj" fmla="val 2449"/>
            </a:avLst>
          </a:prstGeom>
          <a:solidFill>
            <a:srgbClr val="FFFFFF"/>
          </a:solidFill>
          <a:ln w="22225">
            <a:solidFill>
              <a:srgbClr val="39C2D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1417320"/>
            <a:ext cx="5394960" cy="685800"/>
          </a:xfrm>
          <a:prstGeom prst="roundRect">
            <a:avLst>
              <a:gd name="adj" fmla="val 16000"/>
            </a:avLst>
          </a:prstGeom>
          <a:solidFill>
            <a:srgbClr val="39C2D7"/>
          </a:solidFill>
          <a:ln/>
        </p:spPr>
      </p:sp>
      <p:sp>
        <p:nvSpPr>
          <p:cNvPr id="8" name="Shape 6"/>
          <p:cNvSpPr/>
          <p:nvPr/>
        </p:nvSpPr>
        <p:spPr>
          <a:xfrm>
            <a:off x="548640" y="1828800"/>
            <a:ext cx="5394960" cy="274320"/>
          </a:xfrm>
          <a:prstGeom prst="rect">
            <a:avLst/>
          </a:prstGeom>
          <a:solidFill>
            <a:srgbClr val="39C2D7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1417320"/>
            <a:ext cx="48463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📥  Classification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822960" y="2331720"/>
            <a:ext cx="1737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9C2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2560320" y="2331720"/>
            <a:ext cx="3108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638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category / label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22960" y="3081528"/>
            <a:ext cx="4846320" cy="0"/>
          </a:xfrm>
          <a:prstGeom prst="line">
            <a:avLst/>
          </a:prstGeom>
          <a:noFill/>
          <a:ln w="12700">
            <a:solidFill>
              <a:srgbClr val="D9E2E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2960" y="3200400"/>
            <a:ext cx="1737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9C2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Analogy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2560320" y="3200400"/>
            <a:ext cx="3108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638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sorting mail into bins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822960" y="3950208"/>
            <a:ext cx="4846320" cy="0"/>
          </a:xfrm>
          <a:prstGeom prst="line">
            <a:avLst/>
          </a:prstGeom>
          <a:noFill/>
          <a:ln w="12700">
            <a:solidFill>
              <a:srgbClr val="D9E2E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2960" y="4069080"/>
            <a:ext cx="1737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9C2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2560320" y="4069080"/>
            <a:ext cx="3108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638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spam / not-spam, disease / no-disease, churn yes / no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822960" y="4818888"/>
            <a:ext cx="4846320" cy="0"/>
          </a:xfrm>
          <a:prstGeom prst="line">
            <a:avLst/>
          </a:prstGeom>
          <a:noFill/>
          <a:ln w="12700">
            <a:solidFill>
              <a:srgbClr val="D9E2E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22960" y="4937760"/>
            <a:ext cx="1737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9C2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2560320" y="4937760"/>
            <a:ext cx="3108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638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of a few fixed options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263640" y="1417320"/>
            <a:ext cx="5394960" cy="4480560"/>
          </a:xfrm>
          <a:prstGeom prst="roundRect">
            <a:avLst>
              <a:gd name="adj" fmla="val 2449"/>
            </a:avLst>
          </a:prstGeom>
          <a:solidFill>
            <a:srgbClr val="FFFFFF"/>
          </a:solidFill>
          <a:ln w="22225">
            <a:solidFill>
              <a:srgbClr val="008AC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263640" y="1417320"/>
            <a:ext cx="5394960" cy="685800"/>
          </a:xfrm>
          <a:prstGeom prst="roundRect">
            <a:avLst>
              <a:gd name="adj" fmla="val 16000"/>
            </a:avLst>
          </a:prstGeom>
          <a:solidFill>
            <a:srgbClr val="008ACF"/>
          </a:solidFill>
          <a:ln/>
        </p:spPr>
      </p:sp>
      <p:sp>
        <p:nvSpPr>
          <p:cNvPr id="23" name="Shape 21"/>
          <p:cNvSpPr/>
          <p:nvPr/>
        </p:nvSpPr>
        <p:spPr>
          <a:xfrm>
            <a:off x="6263640" y="1828800"/>
            <a:ext cx="5394960" cy="274320"/>
          </a:xfrm>
          <a:prstGeom prst="rect">
            <a:avLst/>
          </a:prstGeom>
          <a:solidFill>
            <a:srgbClr val="008ACF"/>
          </a:solidFill>
          <a:ln/>
        </p:spPr>
      </p:sp>
      <p:sp>
        <p:nvSpPr>
          <p:cNvPr id="24" name="Text 22"/>
          <p:cNvSpPr/>
          <p:nvPr/>
        </p:nvSpPr>
        <p:spPr>
          <a:xfrm>
            <a:off x="6537960" y="1417320"/>
            <a:ext cx="48463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📈  Regression</a:t>
            </a:r>
            <a:endParaRPr lang="en-US" sz="1900" dirty="0"/>
          </a:p>
        </p:txBody>
      </p:sp>
      <p:sp>
        <p:nvSpPr>
          <p:cNvPr id="25" name="Text 23"/>
          <p:cNvSpPr/>
          <p:nvPr/>
        </p:nvSpPr>
        <p:spPr>
          <a:xfrm>
            <a:off x="6537960" y="2331720"/>
            <a:ext cx="1737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8A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Predicts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8275320" y="2331720"/>
            <a:ext cx="3108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638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number on a scale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6537960" y="3081528"/>
            <a:ext cx="4846320" cy="0"/>
          </a:xfrm>
          <a:prstGeom prst="line">
            <a:avLst/>
          </a:prstGeom>
          <a:noFill/>
          <a:ln w="12700">
            <a:solidFill>
              <a:srgbClr val="D9E2E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537960" y="3200400"/>
            <a:ext cx="1737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8A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Analogy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8275320" y="3200400"/>
            <a:ext cx="3108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638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a value off a dial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6537960" y="3950208"/>
            <a:ext cx="4846320" cy="0"/>
          </a:xfrm>
          <a:prstGeom prst="line">
            <a:avLst/>
          </a:prstGeom>
          <a:noFill/>
          <a:ln w="12700">
            <a:solidFill>
              <a:srgbClr val="D9E2E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537960" y="4069080"/>
            <a:ext cx="1737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8A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Examples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8275320" y="4069080"/>
            <a:ext cx="3108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638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house price, temperature, sales, delivery ETA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6537960" y="4818888"/>
            <a:ext cx="4846320" cy="0"/>
          </a:xfrm>
          <a:prstGeom prst="line">
            <a:avLst/>
          </a:prstGeom>
          <a:noFill/>
          <a:ln w="12700">
            <a:solidFill>
              <a:srgbClr val="D9E2EC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537960" y="4937760"/>
            <a:ext cx="1737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8A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8275320" y="4937760"/>
            <a:ext cx="3108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638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value in a range</a:t>
            </a:r>
            <a:endParaRPr lang="en-US" sz="1300" dirty="0"/>
          </a:p>
        </p:txBody>
      </p:sp>
      <p:pic>
        <p:nvPicPr>
          <p:cNvPr id="36" name="Image 0" descr="img/itpu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6382512"/>
            <a:ext cx="822960" cy="188366"/>
          </a:xfrm>
          <a:prstGeom prst="rect">
            <a:avLst/>
          </a:prstGeom>
        </p:spPr>
      </p:pic>
      <p:sp>
        <p:nvSpPr>
          <p:cNvPr id="37" name="Text 34"/>
          <p:cNvSpPr/>
          <p:nvPr/>
        </p:nvSpPr>
        <p:spPr>
          <a:xfrm>
            <a:off x="1463040" y="6382512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to Machine Learning</a:t>
            </a:r>
            <a:endParaRPr lang="en-US" sz="900" dirty="0"/>
          </a:p>
        </p:txBody>
      </p:sp>
      <p:sp>
        <p:nvSpPr>
          <p:cNvPr id="38" name="Text 35"/>
          <p:cNvSpPr/>
          <p:nvPr/>
        </p:nvSpPr>
        <p:spPr>
          <a:xfrm>
            <a:off x="11430000" y="6382512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F6F8F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51560"/>
            <a:ext cx="12191695" cy="27432"/>
          </a:xfrm>
          <a:prstGeom prst="rect">
            <a:avLst/>
          </a:prstGeom>
          <a:solidFill>
            <a:srgbClr val="39C2D7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219456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39C2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THE DIFFERENCE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45720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2638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Boundary vs line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548640" y="1417320"/>
            <a:ext cx="5440680" cy="4023360"/>
          </a:xfrm>
          <a:prstGeom prst="roundRect">
            <a:avLst>
              <a:gd name="adj" fmla="val 2273"/>
            </a:avLst>
          </a:prstGeom>
          <a:solidFill>
            <a:srgbClr val="F6F8FB"/>
          </a:solidFill>
          <a:ln w="15875">
            <a:solidFill>
              <a:srgbClr val="39C2D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600200"/>
            <a:ext cx="5440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39C2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 — splitting categories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1371600" y="3931920"/>
            <a:ext cx="164592" cy="164592"/>
          </a:xfrm>
          <a:prstGeom prst="ellipse">
            <a:avLst/>
          </a:prstGeom>
          <a:solidFill>
            <a:srgbClr val="39C2D7"/>
          </a:solidFill>
          <a:ln/>
        </p:spPr>
      </p:sp>
      <p:sp>
        <p:nvSpPr>
          <p:cNvPr id="9" name="Shape 7"/>
          <p:cNvSpPr/>
          <p:nvPr/>
        </p:nvSpPr>
        <p:spPr>
          <a:xfrm>
            <a:off x="1828800" y="3566160"/>
            <a:ext cx="164592" cy="164592"/>
          </a:xfrm>
          <a:prstGeom prst="ellipse">
            <a:avLst/>
          </a:prstGeom>
          <a:solidFill>
            <a:srgbClr val="39C2D7"/>
          </a:solidFill>
          <a:ln/>
        </p:spPr>
      </p:sp>
      <p:sp>
        <p:nvSpPr>
          <p:cNvPr id="10" name="Shape 8"/>
          <p:cNvSpPr/>
          <p:nvPr/>
        </p:nvSpPr>
        <p:spPr>
          <a:xfrm>
            <a:off x="2194560" y="4206240"/>
            <a:ext cx="164592" cy="164592"/>
          </a:xfrm>
          <a:prstGeom prst="ellipse">
            <a:avLst/>
          </a:prstGeom>
          <a:solidFill>
            <a:srgbClr val="39C2D7"/>
          </a:solidFill>
          <a:ln/>
        </p:spPr>
      </p:sp>
      <p:sp>
        <p:nvSpPr>
          <p:cNvPr id="11" name="Shape 9"/>
          <p:cNvSpPr/>
          <p:nvPr/>
        </p:nvSpPr>
        <p:spPr>
          <a:xfrm>
            <a:off x="1645920" y="4480560"/>
            <a:ext cx="164592" cy="164592"/>
          </a:xfrm>
          <a:prstGeom prst="ellipse">
            <a:avLst/>
          </a:prstGeom>
          <a:solidFill>
            <a:srgbClr val="39C2D7"/>
          </a:solidFill>
          <a:ln/>
        </p:spPr>
      </p:sp>
      <p:sp>
        <p:nvSpPr>
          <p:cNvPr id="12" name="Shape 10"/>
          <p:cNvSpPr/>
          <p:nvPr/>
        </p:nvSpPr>
        <p:spPr>
          <a:xfrm>
            <a:off x="2377440" y="3749040"/>
            <a:ext cx="164592" cy="164592"/>
          </a:xfrm>
          <a:prstGeom prst="ellipse">
            <a:avLst/>
          </a:prstGeom>
          <a:solidFill>
            <a:srgbClr val="39C2D7"/>
          </a:solidFill>
          <a:ln/>
        </p:spPr>
      </p:sp>
      <p:sp>
        <p:nvSpPr>
          <p:cNvPr id="13" name="Shape 11"/>
          <p:cNvSpPr/>
          <p:nvPr/>
        </p:nvSpPr>
        <p:spPr>
          <a:xfrm>
            <a:off x="3931920" y="3383280"/>
            <a:ext cx="164592" cy="164592"/>
          </a:xfrm>
          <a:prstGeom prst="ellipse">
            <a:avLst/>
          </a:prstGeom>
          <a:solidFill>
            <a:srgbClr val="D35D47"/>
          </a:solidFill>
          <a:ln/>
        </p:spPr>
      </p:sp>
      <p:sp>
        <p:nvSpPr>
          <p:cNvPr id="14" name="Shape 12"/>
          <p:cNvSpPr/>
          <p:nvPr/>
        </p:nvSpPr>
        <p:spPr>
          <a:xfrm>
            <a:off x="4389120" y="3840480"/>
            <a:ext cx="164592" cy="164592"/>
          </a:xfrm>
          <a:prstGeom prst="ellipse">
            <a:avLst/>
          </a:prstGeom>
          <a:solidFill>
            <a:srgbClr val="D35D47"/>
          </a:solidFill>
          <a:ln/>
        </p:spPr>
      </p:sp>
      <p:sp>
        <p:nvSpPr>
          <p:cNvPr id="15" name="Shape 13"/>
          <p:cNvSpPr/>
          <p:nvPr/>
        </p:nvSpPr>
        <p:spPr>
          <a:xfrm>
            <a:off x="4572000" y="3200400"/>
            <a:ext cx="164592" cy="164592"/>
          </a:xfrm>
          <a:prstGeom prst="ellipse">
            <a:avLst/>
          </a:prstGeom>
          <a:solidFill>
            <a:srgbClr val="D35D47"/>
          </a:solidFill>
          <a:ln/>
        </p:spPr>
      </p:sp>
      <p:sp>
        <p:nvSpPr>
          <p:cNvPr id="16" name="Shape 14"/>
          <p:cNvSpPr/>
          <p:nvPr/>
        </p:nvSpPr>
        <p:spPr>
          <a:xfrm>
            <a:off x="4114800" y="4389120"/>
            <a:ext cx="164592" cy="164592"/>
          </a:xfrm>
          <a:prstGeom prst="ellipse">
            <a:avLst/>
          </a:prstGeom>
          <a:solidFill>
            <a:srgbClr val="D35D47"/>
          </a:solidFill>
          <a:ln/>
        </p:spPr>
      </p:sp>
      <p:sp>
        <p:nvSpPr>
          <p:cNvPr id="17" name="Shape 15"/>
          <p:cNvSpPr/>
          <p:nvPr/>
        </p:nvSpPr>
        <p:spPr>
          <a:xfrm>
            <a:off x="3749040" y="3657600"/>
            <a:ext cx="164592" cy="164592"/>
          </a:xfrm>
          <a:prstGeom prst="ellipse">
            <a:avLst/>
          </a:prstGeom>
          <a:solidFill>
            <a:srgbClr val="D35D47"/>
          </a:solidFill>
          <a:ln/>
        </p:spPr>
      </p:sp>
      <p:sp>
        <p:nvSpPr>
          <p:cNvPr id="18" name="Shape 16"/>
          <p:cNvSpPr/>
          <p:nvPr/>
        </p:nvSpPr>
        <p:spPr>
          <a:xfrm>
            <a:off x="3108960" y="2286000"/>
            <a:ext cx="0" cy="2651760"/>
          </a:xfrm>
          <a:prstGeom prst="line">
            <a:avLst/>
          </a:prstGeom>
          <a:noFill/>
          <a:ln w="31750">
            <a:solidFill>
              <a:srgbClr val="D35D47"/>
            </a:solidFill>
            <a:prstDash val="dash"/>
          </a:ln>
        </p:spPr>
      </p:sp>
      <p:sp>
        <p:nvSpPr>
          <p:cNvPr id="19" name="Shape 17"/>
          <p:cNvSpPr/>
          <p:nvPr/>
        </p:nvSpPr>
        <p:spPr>
          <a:xfrm>
            <a:off x="6172200" y="1417320"/>
            <a:ext cx="5440680" cy="4023360"/>
          </a:xfrm>
          <a:prstGeom prst="roundRect">
            <a:avLst>
              <a:gd name="adj" fmla="val 2273"/>
            </a:avLst>
          </a:prstGeom>
          <a:solidFill>
            <a:srgbClr val="EAF6F9"/>
          </a:solidFill>
          <a:ln w="15875">
            <a:solidFill>
              <a:srgbClr val="008A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172200" y="1600200"/>
            <a:ext cx="5440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8A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Regression — predicting a number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6675120" y="4663440"/>
            <a:ext cx="164592" cy="164592"/>
          </a:xfrm>
          <a:prstGeom prst="ellipse">
            <a:avLst/>
          </a:prstGeom>
          <a:solidFill>
            <a:srgbClr val="8A7CBB"/>
          </a:solidFill>
          <a:ln/>
        </p:spPr>
      </p:sp>
      <p:sp>
        <p:nvSpPr>
          <p:cNvPr id="22" name="Shape 20"/>
          <p:cNvSpPr/>
          <p:nvPr/>
        </p:nvSpPr>
        <p:spPr>
          <a:xfrm>
            <a:off x="7315200" y="4389120"/>
            <a:ext cx="164592" cy="164592"/>
          </a:xfrm>
          <a:prstGeom prst="ellipse">
            <a:avLst/>
          </a:prstGeom>
          <a:solidFill>
            <a:srgbClr val="8A7CBB"/>
          </a:solidFill>
          <a:ln/>
        </p:spPr>
      </p:sp>
      <p:sp>
        <p:nvSpPr>
          <p:cNvPr id="23" name="Shape 21"/>
          <p:cNvSpPr/>
          <p:nvPr/>
        </p:nvSpPr>
        <p:spPr>
          <a:xfrm>
            <a:off x="7955280" y="4114800"/>
            <a:ext cx="164592" cy="164592"/>
          </a:xfrm>
          <a:prstGeom prst="ellipse">
            <a:avLst/>
          </a:prstGeom>
          <a:solidFill>
            <a:srgbClr val="8A7CBB"/>
          </a:solidFill>
          <a:ln/>
        </p:spPr>
      </p:sp>
      <p:sp>
        <p:nvSpPr>
          <p:cNvPr id="24" name="Shape 22"/>
          <p:cNvSpPr/>
          <p:nvPr/>
        </p:nvSpPr>
        <p:spPr>
          <a:xfrm>
            <a:off x="8595360" y="3749040"/>
            <a:ext cx="164592" cy="164592"/>
          </a:xfrm>
          <a:prstGeom prst="ellipse">
            <a:avLst/>
          </a:prstGeom>
          <a:solidFill>
            <a:srgbClr val="8A7CBB"/>
          </a:solidFill>
          <a:ln/>
        </p:spPr>
      </p:sp>
      <p:sp>
        <p:nvSpPr>
          <p:cNvPr id="25" name="Shape 23"/>
          <p:cNvSpPr/>
          <p:nvPr/>
        </p:nvSpPr>
        <p:spPr>
          <a:xfrm>
            <a:off x="9235440" y="3474720"/>
            <a:ext cx="164592" cy="164592"/>
          </a:xfrm>
          <a:prstGeom prst="ellipse">
            <a:avLst/>
          </a:prstGeom>
          <a:solidFill>
            <a:srgbClr val="8A7CBB"/>
          </a:solidFill>
          <a:ln/>
        </p:spPr>
      </p:sp>
      <p:sp>
        <p:nvSpPr>
          <p:cNvPr id="26" name="Shape 24"/>
          <p:cNvSpPr/>
          <p:nvPr/>
        </p:nvSpPr>
        <p:spPr>
          <a:xfrm>
            <a:off x="9875520" y="3108960"/>
            <a:ext cx="164592" cy="164592"/>
          </a:xfrm>
          <a:prstGeom prst="ellipse">
            <a:avLst/>
          </a:prstGeom>
          <a:solidFill>
            <a:srgbClr val="8A7CBB"/>
          </a:solidFill>
          <a:ln/>
        </p:spPr>
      </p:sp>
      <p:sp>
        <p:nvSpPr>
          <p:cNvPr id="27" name="Shape 25"/>
          <p:cNvSpPr/>
          <p:nvPr/>
        </p:nvSpPr>
        <p:spPr>
          <a:xfrm>
            <a:off x="10515600" y="2743200"/>
            <a:ext cx="164592" cy="164592"/>
          </a:xfrm>
          <a:prstGeom prst="ellipse">
            <a:avLst/>
          </a:prstGeom>
          <a:solidFill>
            <a:srgbClr val="8A7CBB"/>
          </a:solidFill>
          <a:ln/>
        </p:spPr>
      </p:sp>
      <p:sp>
        <p:nvSpPr>
          <p:cNvPr id="28" name="Shape 26"/>
          <p:cNvSpPr/>
          <p:nvPr/>
        </p:nvSpPr>
        <p:spPr>
          <a:xfrm>
            <a:off x="6583680" y="4846320"/>
            <a:ext cx="4114800" cy="0"/>
          </a:xfrm>
          <a:prstGeom prst="line">
            <a:avLst/>
          </a:prstGeom>
          <a:noFill/>
          <a:ln w="31750">
            <a:solidFill>
              <a:srgbClr val="008AC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48640" y="557784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Same-style data, two different questions: a boundary that separates categories vs a line that predicts a value.</a:t>
            </a:r>
            <a:endParaRPr lang="en-US" sz="1300" dirty="0"/>
          </a:p>
        </p:txBody>
      </p:sp>
      <p:pic>
        <p:nvPicPr>
          <p:cNvPr id="30" name="Image 0" descr="img/itpu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6382512"/>
            <a:ext cx="822960" cy="188366"/>
          </a:xfrm>
          <a:prstGeom prst="rect">
            <a:avLst/>
          </a:prstGeom>
        </p:spPr>
      </p:pic>
      <p:sp>
        <p:nvSpPr>
          <p:cNvPr id="31" name="Text 28"/>
          <p:cNvSpPr/>
          <p:nvPr/>
        </p:nvSpPr>
        <p:spPr>
          <a:xfrm>
            <a:off x="1463040" y="6382512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to Machine Learning</a:t>
            </a:r>
            <a:endParaRPr lang="en-US" sz="900" dirty="0"/>
          </a:p>
        </p:txBody>
      </p:sp>
      <p:sp>
        <p:nvSpPr>
          <p:cNvPr id="32" name="Text 29"/>
          <p:cNvSpPr/>
          <p:nvPr/>
        </p:nvSpPr>
        <p:spPr>
          <a:xfrm>
            <a:off x="11430000" y="6382512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F6F8F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51560"/>
            <a:ext cx="12191695" cy="27432"/>
          </a:xfrm>
          <a:prstGeom prst="rect">
            <a:avLst/>
          </a:prstGeom>
          <a:solidFill>
            <a:srgbClr val="39C2D7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219456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39C2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FAMILY 2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45720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2638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Unsupervised learning — no answer key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548640" y="1417320"/>
            <a:ext cx="11064240" cy="1097280"/>
          </a:xfrm>
          <a:prstGeom prst="roundRect">
            <a:avLst>
              <a:gd name="adj" fmla="val 8333"/>
            </a:avLst>
          </a:prstGeom>
          <a:solidFill>
            <a:srgbClr val="F4F7E7"/>
          </a:solidFill>
          <a:ln w="19050">
            <a:solidFill>
              <a:srgbClr val="CEDB5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1417320"/>
            <a:ext cx="10515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638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patterns in data with no labels — you discover the structure yourself. There is no "right answer" to check against.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48640" y="278892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638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problem types live here: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48640" y="3291840"/>
            <a:ext cx="3108960" cy="384048"/>
          </a:xfrm>
          <a:prstGeom prst="roundRect">
            <a:avLst>
              <a:gd name="adj" fmla="val 19048"/>
            </a:avLst>
          </a:prstGeom>
          <a:solidFill>
            <a:srgbClr val="008ACF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3291840"/>
            <a:ext cx="3108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CLUSTERING (main)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794760" y="3291840"/>
            <a:ext cx="3657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similar items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3840480"/>
            <a:ext cx="3108960" cy="384048"/>
          </a:xfrm>
          <a:prstGeom prst="roundRect">
            <a:avLst>
              <a:gd name="adj" fmla="val 19048"/>
            </a:avLst>
          </a:prstGeom>
          <a:solidFill>
            <a:srgbClr val="8A7CBB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3840480"/>
            <a:ext cx="3108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DIM. REDUCTION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794760" y="3840480"/>
            <a:ext cx="3657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 features → a few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48640" y="4389120"/>
            <a:ext cx="3108960" cy="384048"/>
          </a:xfrm>
          <a:prstGeom prst="roundRect">
            <a:avLst>
              <a:gd name="adj" fmla="val 19048"/>
            </a:avLst>
          </a:prstGeom>
          <a:solidFill>
            <a:srgbClr val="D35D47"/>
          </a:solidFill>
          <a:ln/>
        </p:spPr>
      </p:sp>
      <p:sp>
        <p:nvSpPr>
          <p:cNvPr id="16" name="Text 14"/>
          <p:cNvSpPr/>
          <p:nvPr/>
        </p:nvSpPr>
        <p:spPr>
          <a:xfrm>
            <a:off x="548640" y="4389120"/>
            <a:ext cx="3108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ANOMALY DETECTION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794760" y="4389120"/>
            <a:ext cx="3657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 the odd one out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7772400" y="3200400"/>
            <a:ext cx="3840480" cy="2194560"/>
          </a:xfrm>
          <a:prstGeom prst="roundRect">
            <a:avLst>
              <a:gd name="adj" fmla="val 4167"/>
            </a:avLst>
          </a:prstGeom>
          <a:solidFill>
            <a:srgbClr val="F6F8FB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973568" y="333756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638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Contrast with supervised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7973568" y="3749040"/>
            <a:ext cx="347472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Supervised has the answers and learns to reproduce them. Unsupervised has none — it invents structure from the data alone.</a:t>
            </a:r>
            <a:endParaRPr lang="en-US" sz="1300" dirty="0"/>
          </a:p>
        </p:txBody>
      </p:sp>
      <p:pic>
        <p:nvPicPr>
          <p:cNvPr id="21" name="Image 0" descr="img/itpu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6382512"/>
            <a:ext cx="822960" cy="188366"/>
          </a:xfrm>
          <a:prstGeom prst="rect">
            <a:avLst/>
          </a:prstGeom>
        </p:spPr>
      </p:pic>
      <p:sp>
        <p:nvSpPr>
          <p:cNvPr id="22" name="Text 19"/>
          <p:cNvSpPr/>
          <p:nvPr/>
        </p:nvSpPr>
        <p:spPr>
          <a:xfrm>
            <a:off x="1463040" y="6382512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to Machine Learning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11430000" y="6382512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F6F8F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51560"/>
            <a:ext cx="12191695" cy="27432"/>
          </a:xfrm>
          <a:prstGeom prst="rect">
            <a:avLst/>
          </a:prstGeom>
          <a:solidFill>
            <a:srgbClr val="39C2D7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219456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39C2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UNSUPERVISED TYPES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45720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2638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Clustering · Dimensionality reduction · Anomaly detection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548640" y="1508760"/>
            <a:ext cx="3520440" cy="4343400"/>
          </a:xfrm>
          <a:prstGeom prst="roundRect">
            <a:avLst>
              <a:gd name="adj" fmla="val 3117"/>
            </a:avLst>
          </a:prstGeom>
          <a:solidFill>
            <a:srgbClr val="FFFFFF"/>
          </a:solidFill>
          <a:ln w="22225">
            <a:solidFill>
              <a:srgbClr val="008AC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1508760"/>
            <a:ext cx="3520440" cy="868680"/>
          </a:xfrm>
          <a:prstGeom prst="roundRect">
            <a:avLst>
              <a:gd name="adj" fmla="val 12632"/>
            </a:avLst>
          </a:prstGeom>
          <a:solidFill>
            <a:srgbClr val="008ACF"/>
          </a:solidFill>
          <a:ln/>
        </p:spPr>
      </p:sp>
      <p:sp>
        <p:nvSpPr>
          <p:cNvPr id="8" name="Shape 6"/>
          <p:cNvSpPr/>
          <p:nvPr/>
        </p:nvSpPr>
        <p:spPr>
          <a:xfrm>
            <a:off x="548640" y="2011680"/>
            <a:ext cx="3520440" cy="365760"/>
          </a:xfrm>
          <a:prstGeom prst="rect">
            <a:avLst/>
          </a:prstGeom>
          <a:solidFill>
            <a:srgbClr val="008ACF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1554480"/>
            <a:ext cx="3063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Clustering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77240" y="2084832"/>
            <a:ext cx="3063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7EE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MAIN ONE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804672" y="251460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8A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does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04672" y="2788920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638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groups similar items, no labels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804672" y="342900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8A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Analogy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04672" y="3703320"/>
            <a:ext cx="3017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638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sorting a photo library into look-alike piles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804672" y="448056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8A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04672" y="4754880"/>
            <a:ext cx="3017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segments, grouping articles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251960" y="1508760"/>
            <a:ext cx="3520440" cy="4343400"/>
          </a:xfrm>
          <a:prstGeom prst="roundRect">
            <a:avLst>
              <a:gd name="adj" fmla="val 3117"/>
            </a:avLst>
          </a:prstGeom>
          <a:solidFill>
            <a:srgbClr val="FFFFFF"/>
          </a:solidFill>
          <a:ln w="22225">
            <a:solidFill>
              <a:srgbClr val="8A7CB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251960" y="1508760"/>
            <a:ext cx="3520440" cy="868680"/>
          </a:xfrm>
          <a:prstGeom prst="roundRect">
            <a:avLst>
              <a:gd name="adj" fmla="val 12632"/>
            </a:avLst>
          </a:prstGeom>
          <a:solidFill>
            <a:srgbClr val="8A7CBB"/>
          </a:solidFill>
          <a:ln/>
        </p:spPr>
      </p:sp>
      <p:sp>
        <p:nvSpPr>
          <p:cNvPr id="19" name="Shape 17"/>
          <p:cNvSpPr/>
          <p:nvPr/>
        </p:nvSpPr>
        <p:spPr>
          <a:xfrm>
            <a:off x="4251960" y="2011680"/>
            <a:ext cx="3520440" cy="365760"/>
          </a:xfrm>
          <a:prstGeom prst="rect">
            <a:avLst/>
          </a:prstGeom>
          <a:solidFill>
            <a:srgbClr val="8A7CBB"/>
          </a:solidFill>
          <a:ln/>
        </p:spPr>
      </p:sp>
      <p:sp>
        <p:nvSpPr>
          <p:cNvPr id="20" name="Text 18"/>
          <p:cNvSpPr/>
          <p:nvPr/>
        </p:nvSpPr>
        <p:spPr>
          <a:xfrm>
            <a:off x="4480560" y="1554480"/>
            <a:ext cx="3063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Dimensionality</a:t>
            </a:r>
            <a:endParaRPr lang="en-US" sz="1600" dirty="0"/>
          </a:p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reduction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4507992" y="251460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8A7C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does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507992" y="2788920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638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compresses many features into a few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4507992" y="342900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8A7C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Analogy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507992" y="3703320"/>
            <a:ext cx="3017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638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50-question survey summed into 3 themes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4507992" y="448056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8A7C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Examples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507992" y="4754880"/>
            <a:ext cx="3017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visualisation, compression, denoising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7955280" y="1508760"/>
            <a:ext cx="3520440" cy="4343400"/>
          </a:xfrm>
          <a:prstGeom prst="roundRect">
            <a:avLst>
              <a:gd name="adj" fmla="val 3117"/>
            </a:avLst>
          </a:prstGeom>
          <a:solidFill>
            <a:srgbClr val="FFFFFF"/>
          </a:solidFill>
          <a:ln w="22225">
            <a:solidFill>
              <a:srgbClr val="D35D47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955280" y="1508760"/>
            <a:ext cx="3520440" cy="868680"/>
          </a:xfrm>
          <a:prstGeom prst="roundRect">
            <a:avLst>
              <a:gd name="adj" fmla="val 12632"/>
            </a:avLst>
          </a:prstGeom>
          <a:solidFill>
            <a:srgbClr val="D35D47"/>
          </a:solidFill>
          <a:ln/>
        </p:spPr>
      </p:sp>
      <p:sp>
        <p:nvSpPr>
          <p:cNvPr id="29" name="Shape 27"/>
          <p:cNvSpPr/>
          <p:nvPr/>
        </p:nvSpPr>
        <p:spPr>
          <a:xfrm>
            <a:off x="7955280" y="2011680"/>
            <a:ext cx="3520440" cy="365760"/>
          </a:xfrm>
          <a:prstGeom prst="rect">
            <a:avLst/>
          </a:prstGeom>
          <a:solidFill>
            <a:srgbClr val="D35D47"/>
          </a:solidFill>
          <a:ln/>
        </p:spPr>
      </p:sp>
      <p:sp>
        <p:nvSpPr>
          <p:cNvPr id="30" name="Text 28"/>
          <p:cNvSpPr/>
          <p:nvPr/>
        </p:nvSpPr>
        <p:spPr>
          <a:xfrm>
            <a:off x="8183880" y="1554480"/>
            <a:ext cx="3063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Anomaly</a:t>
            </a:r>
            <a:endParaRPr lang="en-US" sz="1600" dirty="0"/>
          </a:p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8211312" y="251460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35D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does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8211312" y="2788920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638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flags the rare / odd item out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8211312" y="342900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35D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Analogy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8211312" y="3703320"/>
            <a:ext cx="3017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638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one fake note in a stack of real ones</a:t>
            </a:r>
            <a:endParaRPr lang="en-US" sz="1250" dirty="0"/>
          </a:p>
        </p:txBody>
      </p:sp>
      <p:sp>
        <p:nvSpPr>
          <p:cNvPr id="35" name="Text 33"/>
          <p:cNvSpPr/>
          <p:nvPr/>
        </p:nvSpPr>
        <p:spPr>
          <a:xfrm>
            <a:off x="8211312" y="448056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35D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Examples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8211312" y="4754880"/>
            <a:ext cx="3017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 detection, defect spotting</a:t>
            </a:r>
            <a:endParaRPr lang="en-US" sz="1200" dirty="0"/>
          </a:p>
        </p:txBody>
      </p:sp>
      <p:pic>
        <p:nvPicPr>
          <p:cNvPr id="37" name="Image 0" descr="img/itpu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6382512"/>
            <a:ext cx="822960" cy="188366"/>
          </a:xfrm>
          <a:prstGeom prst="rect">
            <a:avLst/>
          </a:prstGeom>
        </p:spPr>
      </p:pic>
      <p:sp>
        <p:nvSpPr>
          <p:cNvPr id="38" name="Text 35"/>
          <p:cNvSpPr/>
          <p:nvPr/>
        </p:nvSpPr>
        <p:spPr>
          <a:xfrm>
            <a:off x="1463040" y="6382512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to Machine Learning</a:t>
            </a:r>
            <a:endParaRPr lang="en-US" sz="900" dirty="0"/>
          </a:p>
        </p:txBody>
      </p:sp>
      <p:sp>
        <p:nvSpPr>
          <p:cNvPr id="39" name="Text 36"/>
          <p:cNvSpPr/>
          <p:nvPr/>
        </p:nvSpPr>
        <p:spPr>
          <a:xfrm>
            <a:off x="11430000" y="6382512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F6F8F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51560"/>
            <a:ext cx="12191695" cy="27432"/>
          </a:xfrm>
          <a:prstGeom prst="rect">
            <a:avLst/>
          </a:prstGeom>
          <a:solidFill>
            <a:srgbClr val="39C2D7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219456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39C2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 CASES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45720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2638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Problems that don't fit neatly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548640" y="1463040"/>
            <a:ext cx="11064240" cy="2057400"/>
          </a:xfrm>
          <a:prstGeom prst="roundRect">
            <a:avLst>
              <a:gd name="adj" fmla="val 4444"/>
            </a:avLst>
          </a:prstGeom>
          <a:solidFill>
            <a:srgbClr val="F6F8FB"/>
          </a:solidFill>
          <a:ln w="15875">
            <a:solidFill>
              <a:srgbClr val="8A7CB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1645920"/>
            <a:ext cx="5486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8A7C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Recommender systems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22960" y="21031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2638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"People like you also liked…"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22960" y="2514600"/>
            <a:ext cx="7680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what a user will want. Can be framed supervised (will-buy?) or unsupervised (similar users). NOT a 4th family — it's built from the parts we named.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8778240" y="1965960"/>
            <a:ext cx="265176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8A7CB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915400" y="2029968"/>
            <a:ext cx="2377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8A7C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Examples
</a:t>
            </a:r>
            <a:r>
              <a:rPr lang="en-US" sz="1200" dirty="0">
                <a:solidFill>
                  <a:srgbClr val="2638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Netflix, YouTube, e-commerce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3749040"/>
            <a:ext cx="11064240" cy="2057400"/>
          </a:xfrm>
          <a:prstGeom prst="roundRect">
            <a:avLst>
              <a:gd name="adj" fmla="val 4444"/>
            </a:avLst>
          </a:prstGeom>
          <a:solidFill>
            <a:srgbClr val="F6F8FB"/>
          </a:solidFill>
          <a:ln w="15875">
            <a:solidFill>
              <a:srgbClr val="D35D4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2960" y="3931920"/>
            <a:ext cx="5486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D35D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Time-series analysis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822960" y="43891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2638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ordered in time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22960" y="4800600"/>
            <a:ext cx="7680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the next value(s). The ORDER carries the signal — unlike a normal table you can shuffle.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8778240" y="4251960"/>
            <a:ext cx="265176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D35D4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915400" y="4315968"/>
            <a:ext cx="2377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35D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Examples
</a:t>
            </a:r>
            <a:r>
              <a:rPr lang="en-US" sz="1200" dirty="0">
                <a:solidFill>
                  <a:srgbClr val="2638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 forecasting, temperature, server load</a:t>
            </a:r>
            <a:endParaRPr lang="en-US" sz="1200" dirty="0"/>
          </a:p>
        </p:txBody>
      </p:sp>
      <p:pic>
        <p:nvPicPr>
          <p:cNvPr id="18" name="Image 0" descr="img/itpu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6382512"/>
            <a:ext cx="822960" cy="188366"/>
          </a:xfrm>
          <a:prstGeom prst="rect">
            <a:avLst/>
          </a:prstGeom>
        </p:spPr>
      </p:pic>
      <p:sp>
        <p:nvSpPr>
          <p:cNvPr id="19" name="Text 16"/>
          <p:cNvSpPr/>
          <p:nvPr/>
        </p:nvSpPr>
        <p:spPr>
          <a:xfrm>
            <a:off x="1463040" y="6382512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to Machine Learning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11430000" y="6382512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F6F8F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51560"/>
            <a:ext cx="12191695" cy="27432"/>
          </a:xfrm>
          <a:prstGeom prst="rect">
            <a:avLst/>
          </a:prstGeom>
          <a:solidFill>
            <a:srgbClr val="39C2D7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219456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39C2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ONE-PAGE MAP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45720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2638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five problem types at a glance</a:t>
            </a:r>
            <a:endParaRPr lang="en-US" sz="2700" dirty="0"/>
          </a:p>
        </p:txBody>
      </p:sp>
      <p:pic>
        <p:nvPicPr>
          <p:cNvPr id="6" name="Image 0" descr="img/dashboard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280160"/>
            <a:ext cx="10881360" cy="4992624"/>
          </a:xfrm>
          <a:prstGeom prst="rect">
            <a:avLst/>
          </a:prstGeom>
        </p:spPr>
      </p:pic>
      <p:pic>
        <p:nvPicPr>
          <p:cNvPr id="7" name="Image 1" descr="img/itpu_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6382512"/>
            <a:ext cx="822960" cy="188366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463040" y="6382512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to Machine Learning</a:t>
            </a:r>
            <a:endParaRPr lang="en-US" sz="900" dirty="0"/>
          </a:p>
        </p:txBody>
      </p:sp>
      <p:sp>
        <p:nvSpPr>
          <p:cNvPr id="9" name="Text 5"/>
          <p:cNvSpPr/>
          <p:nvPr/>
        </p:nvSpPr>
        <p:spPr>
          <a:xfrm>
            <a:off x="11430000" y="6382512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F6F8F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51560"/>
            <a:ext cx="12191695" cy="27432"/>
          </a:xfrm>
          <a:prstGeom prst="rect">
            <a:avLst/>
          </a:prstGeom>
          <a:solidFill>
            <a:srgbClr val="39C2D7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219456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39C2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IT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45720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2638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study — StreamNest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548640" y="1371600"/>
            <a:ext cx="11064240" cy="914400"/>
          </a:xfrm>
          <a:prstGeom prst="roundRect">
            <a:avLst>
              <a:gd name="adj" fmla="val 10000"/>
            </a:avLst>
          </a:prstGeom>
          <a:solidFill>
            <a:srgbClr val="263852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137160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music-and-video platform needs TWO systems: (1) segment users for marketing, and (2) forecast next-week demand so servers don't crash. Frame each before any code.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2514600"/>
            <a:ext cx="5394960" cy="3291840"/>
          </a:xfrm>
          <a:prstGeom prst="roundRect">
            <a:avLst>
              <a:gd name="adj" fmla="val 2778"/>
            </a:avLst>
          </a:prstGeom>
          <a:solidFill>
            <a:srgbClr val="F6F8FB"/>
          </a:solidFill>
          <a:ln w="19050">
            <a:solidFill>
              <a:srgbClr val="008A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265176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8A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Segment the users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22960" y="3200400"/>
            <a:ext cx="1737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638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type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2514600" y="3200400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Unsupervised · clustering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822960" y="3822192"/>
            <a:ext cx="1737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638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Labels?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2514600" y="3822192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 — invent the groups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822960" y="4443984"/>
            <a:ext cx="1737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638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2514600" y="4443984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listening habits, genres, sessions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822960" y="5065776"/>
            <a:ext cx="1737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638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risk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2514600" y="5065776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clusters may not be meaningful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6263640" y="2514600"/>
            <a:ext cx="5394960" cy="3291840"/>
          </a:xfrm>
          <a:prstGeom prst="roundRect">
            <a:avLst>
              <a:gd name="adj" fmla="val 2778"/>
            </a:avLst>
          </a:prstGeom>
          <a:solidFill>
            <a:srgbClr val="F6F8FB"/>
          </a:solidFill>
          <a:ln w="19050">
            <a:solidFill>
              <a:srgbClr val="D35D4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537960" y="265176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D35D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Forecast demand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537960" y="3200400"/>
            <a:ext cx="1737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638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type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229600" y="3200400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Time-series (regression-style)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6537960" y="3822192"/>
            <a:ext cx="1737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638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8229600" y="3822192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 values in time order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6537960" y="4443984"/>
            <a:ext cx="1737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638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8229600" y="4443984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 streams, seasonality, releases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6537960" y="5065776"/>
            <a:ext cx="1737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638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risk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8229600" y="5065776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matters — don't shuffle</a:t>
            </a:r>
            <a:endParaRPr lang="en-US" sz="1250" dirty="0"/>
          </a:p>
        </p:txBody>
      </p:sp>
      <p:pic>
        <p:nvPicPr>
          <p:cNvPr id="28" name="Image 0" descr="img/itpu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6382512"/>
            <a:ext cx="822960" cy="188366"/>
          </a:xfrm>
          <a:prstGeom prst="rect">
            <a:avLst/>
          </a:prstGeom>
        </p:spPr>
      </p:pic>
      <p:sp>
        <p:nvSpPr>
          <p:cNvPr id="29" name="Text 26"/>
          <p:cNvSpPr/>
          <p:nvPr/>
        </p:nvSpPr>
        <p:spPr>
          <a:xfrm>
            <a:off x="1463040" y="6382512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to Machine Learning</a:t>
            </a:r>
            <a:endParaRPr lang="en-US" sz="900" dirty="0"/>
          </a:p>
        </p:txBody>
      </p:sp>
      <p:sp>
        <p:nvSpPr>
          <p:cNvPr id="30" name="Text 27"/>
          <p:cNvSpPr/>
          <p:nvPr/>
        </p:nvSpPr>
        <p:spPr>
          <a:xfrm>
            <a:off x="11430000" y="6382512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F6F8F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51560"/>
            <a:ext cx="12191695" cy="27432"/>
          </a:xfrm>
          <a:prstGeom prst="rect">
            <a:avLst/>
          </a:prstGeom>
          <a:solidFill>
            <a:srgbClr val="39C2D7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219456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39C2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OUT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45720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2638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pitfalls that sink real projects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548640" y="1463040"/>
            <a:ext cx="11064240" cy="960120"/>
          </a:xfrm>
          <a:prstGeom prst="roundRect">
            <a:avLst>
              <a:gd name="adj" fmla="val 7619"/>
            </a:avLst>
          </a:prstGeom>
          <a:solidFill>
            <a:srgbClr val="F6F8FB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1463040"/>
            <a:ext cx="128016" cy="960120"/>
          </a:xfrm>
          <a:prstGeom prst="roundRect">
            <a:avLst>
              <a:gd name="adj" fmla="val 14286"/>
            </a:avLst>
          </a:prstGeom>
          <a:solidFill>
            <a:srgbClr val="D35D47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1463040"/>
            <a:ext cx="6400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D35D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508760" y="1600200"/>
            <a:ext cx="9875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638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Calling clustering "classification"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508760" y="1965960"/>
            <a:ext cx="9875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there are no labels, you can't classify — you cluster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48640" y="2606040"/>
            <a:ext cx="11064240" cy="960120"/>
          </a:xfrm>
          <a:prstGeom prst="roundRect">
            <a:avLst>
              <a:gd name="adj" fmla="val 7619"/>
            </a:avLst>
          </a:prstGeom>
          <a:solidFill>
            <a:srgbClr val="F6F8FB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48640" y="2606040"/>
            <a:ext cx="128016" cy="960120"/>
          </a:xfrm>
          <a:prstGeom prst="roundRect">
            <a:avLst>
              <a:gd name="adj" fmla="val 14286"/>
            </a:avLst>
          </a:prstGeom>
          <a:solidFill>
            <a:srgbClr val="D35D47"/>
          </a:solidFill>
          <a:ln/>
        </p:spPr>
      </p:sp>
      <p:sp>
        <p:nvSpPr>
          <p:cNvPr id="13" name="Text 11"/>
          <p:cNvSpPr/>
          <p:nvPr/>
        </p:nvSpPr>
        <p:spPr>
          <a:xfrm>
            <a:off x="777240" y="2606040"/>
            <a:ext cx="6400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D35D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508760" y="2743200"/>
            <a:ext cx="9875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638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Shuffling a time-series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508760" y="3108960"/>
            <a:ext cx="9875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carries the signal; shuffling destroys it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48640" y="3749040"/>
            <a:ext cx="11064240" cy="960120"/>
          </a:xfrm>
          <a:prstGeom prst="roundRect">
            <a:avLst>
              <a:gd name="adj" fmla="val 7619"/>
            </a:avLst>
          </a:prstGeom>
          <a:solidFill>
            <a:srgbClr val="F6F8FB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48640" y="3749040"/>
            <a:ext cx="128016" cy="960120"/>
          </a:xfrm>
          <a:prstGeom prst="roundRect">
            <a:avLst>
              <a:gd name="adj" fmla="val 14286"/>
            </a:avLst>
          </a:prstGeom>
          <a:solidFill>
            <a:srgbClr val="D35D47"/>
          </a:solidFill>
          <a:ln/>
        </p:spPr>
      </p:sp>
      <p:sp>
        <p:nvSpPr>
          <p:cNvPr id="18" name="Text 16"/>
          <p:cNvSpPr/>
          <p:nvPr/>
        </p:nvSpPr>
        <p:spPr>
          <a:xfrm>
            <a:off x="777240" y="3749040"/>
            <a:ext cx="6400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D35D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1508760" y="3886200"/>
            <a:ext cx="9875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638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Forcing recommenders into one bucket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508760" y="4251960"/>
            <a:ext cx="9875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 the sub-question: will-buy? = classification; similar-users = clustering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548640" y="4892040"/>
            <a:ext cx="11064240" cy="960120"/>
          </a:xfrm>
          <a:prstGeom prst="roundRect">
            <a:avLst>
              <a:gd name="adj" fmla="val 7619"/>
            </a:avLst>
          </a:prstGeom>
          <a:solidFill>
            <a:srgbClr val="F6F8FB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48640" y="4892040"/>
            <a:ext cx="128016" cy="960120"/>
          </a:xfrm>
          <a:prstGeom prst="roundRect">
            <a:avLst>
              <a:gd name="adj" fmla="val 14286"/>
            </a:avLst>
          </a:prstGeom>
          <a:solidFill>
            <a:srgbClr val="D35D47"/>
          </a:solidFill>
          <a:ln/>
        </p:spPr>
      </p:sp>
      <p:sp>
        <p:nvSpPr>
          <p:cNvPr id="23" name="Text 21"/>
          <p:cNvSpPr/>
          <p:nvPr/>
        </p:nvSpPr>
        <p:spPr>
          <a:xfrm>
            <a:off x="777240" y="4892040"/>
            <a:ext cx="6400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D35D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1508760" y="5029200"/>
            <a:ext cx="9875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638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Over-reducing dimensions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1508760" y="5394960"/>
            <a:ext cx="9875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compress too far and you throw away the pattern you needed</a:t>
            </a:r>
            <a:endParaRPr lang="en-US" sz="1250" dirty="0"/>
          </a:p>
        </p:txBody>
      </p:sp>
      <p:pic>
        <p:nvPicPr>
          <p:cNvPr id="26" name="Image 0" descr="img/itpu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6382512"/>
            <a:ext cx="822960" cy="188366"/>
          </a:xfrm>
          <a:prstGeom prst="rect">
            <a:avLst/>
          </a:prstGeom>
        </p:spPr>
      </p:pic>
      <p:sp>
        <p:nvSpPr>
          <p:cNvPr id="27" name="Text 24"/>
          <p:cNvSpPr/>
          <p:nvPr/>
        </p:nvSpPr>
        <p:spPr>
          <a:xfrm>
            <a:off x="1463040" y="6382512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to Machine Learning</a:t>
            </a:r>
            <a:endParaRPr lang="en-US" sz="900" dirty="0"/>
          </a:p>
        </p:txBody>
      </p:sp>
      <p:sp>
        <p:nvSpPr>
          <p:cNvPr id="28" name="Text 25"/>
          <p:cNvSpPr/>
          <p:nvPr/>
        </p:nvSpPr>
        <p:spPr>
          <a:xfrm>
            <a:off x="11430000" y="6382512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3200400"/>
            <a:ext cx="6400800" cy="6400800"/>
          </a:xfrm>
          <a:prstGeom prst="ellipse">
            <a:avLst/>
          </a:prstGeom>
          <a:solidFill>
            <a:srgbClr val="39C2D7">
              <a:alpha val="2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64008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7589520" cy="822960"/>
          </a:xfrm>
          <a:prstGeom prst="roundRect">
            <a:avLst>
              <a:gd name="adj" fmla="val 8889"/>
            </a:avLst>
          </a:prstGeom>
          <a:solidFill>
            <a:srgbClr val="31465E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6916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39C2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371600" y="1554480"/>
            <a:ext cx="6583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learns rules from data + answers  </a:t>
            </a:r>
            <a:r>
              <a:rPr lang="en-US" sz="1250" dirty="0">
                <a:solidFill>
                  <a:srgbClr val="CFE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not rules you write by hand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2514600"/>
            <a:ext cx="7589520" cy="822960"/>
          </a:xfrm>
          <a:prstGeom prst="roundRect">
            <a:avLst>
              <a:gd name="adj" fmla="val 8889"/>
            </a:avLst>
          </a:prstGeom>
          <a:solidFill>
            <a:srgbClr val="31465E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26517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39C2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371600" y="2514600"/>
            <a:ext cx="6583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Supervised = answer key  </a:t>
            </a:r>
            <a:r>
              <a:rPr lang="en-US" sz="1250" dirty="0">
                <a:solidFill>
                  <a:srgbClr val="CFE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classification (category) · regression (number)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48640" y="3474720"/>
            <a:ext cx="7589520" cy="822960"/>
          </a:xfrm>
          <a:prstGeom prst="roundRect">
            <a:avLst>
              <a:gd name="adj" fmla="val 8889"/>
            </a:avLst>
          </a:prstGeom>
          <a:solidFill>
            <a:srgbClr val="31465E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36118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39C2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371600" y="3474720"/>
            <a:ext cx="6583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Unsupervised = no answer key  </a:t>
            </a:r>
            <a:r>
              <a:rPr lang="en-US" sz="1250" dirty="0">
                <a:solidFill>
                  <a:srgbClr val="CFE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clustering · dimensionality reduction · anomaly detection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48640" y="4434840"/>
            <a:ext cx="7589520" cy="822960"/>
          </a:xfrm>
          <a:prstGeom prst="roundRect">
            <a:avLst>
              <a:gd name="adj" fmla="val 8889"/>
            </a:avLst>
          </a:prstGeom>
          <a:solidFill>
            <a:srgbClr val="31465E"/>
          </a:solidFill>
          <a:ln/>
        </p:spPr>
      </p:sp>
      <p:sp>
        <p:nvSpPr>
          <p:cNvPr id="14" name="Text 12"/>
          <p:cNvSpPr/>
          <p:nvPr/>
        </p:nvSpPr>
        <p:spPr>
          <a:xfrm>
            <a:off x="731520" y="45720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39C2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371600" y="4434840"/>
            <a:ext cx="6583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Framing comes first  </a:t>
            </a:r>
            <a:r>
              <a:rPr lang="en-US" sz="1250" dirty="0">
                <a:solidFill>
                  <a:srgbClr val="CFE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name the problem type before choosing an algorithm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8412480" y="1554480"/>
            <a:ext cx="3200400" cy="2880360"/>
          </a:xfrm>
          <a:prstGeom prst="roundRect">
            <a:avLst>
              <a:gd name="adj" fmla="val 3175"/>
            </a:avLst>
          </a:prstGeom>
          <a:solidFill>
            <a:srgbClr val="39C2D7"/>
          </a:solidFill>
          <a:ln/>
        </p:spPr>
      </p:sp>
      <p:sp>
        <p:nvSpPr>
          <p:cNvPr id="17" name="Text 15"/>
          <p:cNvSpPr/>
          <p:nvPr/>
        </p:nvSpPr>
        <p:spPr>
          <a:xfrm>
            <a:off x="8595360" y="173736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638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595360" y="2194560"/>
            <a:ext cx="283464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C3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start on the first algorithm — Regression: how a model fits that line to the data.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48640" y="539496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39C2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you!</a:t>
            </a:r>
            <a:endParaRPr lang="en-US" sz="2200" dirty="0"/>
          </a:p>
        </p:txBody>
      </p:sp>
      <p:pic>
        <p:nvPicPr>
          <p:cNvPr id="20" name="Image 0" descr="img/itpu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32720" y="5943600"/>
            <a:ext cx="1280160" cy="293522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1573</Words>
  <Application>Microsoft Office PowerPoint</Application>
  <PresentationFormat>Widescreen</PresentationFormat>
  <Paragraphs>299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4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IT Park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ITPU</dc:creator>
  <cp:lastModifiedBy>HP-2026</cp:lastModifiedBy>
  <cp:revision>2</cp:revision>
  <dcterms:created xsi:type="dcterms:W3CDTF">2026-08-24T13:12:50Z</dcterms:created>
  <dcterms:modified xsi:type="dcterms:W3CDTF">2026-08-24T14:37:19Z</dcterms:modified>
</cp:coreProperties>
</file>