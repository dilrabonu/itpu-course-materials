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2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3.png"/><Relationship Id="rId5" Type="http://schemas.openxmlformats.org/officeDocument/2006/relationships/image" Target="../media/image-17-3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2.png"/><Relationship Id="rId5" Type="http://schemas.openxmlformats.org/officeDocument/2006/relationships/image" Target="../media/image-18-5.png"/><Relationship Id="rId6" Type="http://schemas.openxmlformats.org/officeDocument/2006/relationships/image" Target="../media/image-18-5.png"/><Relationship Id="rId7" Type="http://schemas.openxmlformats.org/officeDocument/2006/relationships/image" Target="../media/image-18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3.png"/><Relationship Id="rId5" Type="http://schemas.openxmlformats.org/officeDocument/2006/relationships/image" Target="../media/image-19-3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7.png"/><Relationship Id="rId9" Type="http://schemas.openxmlformats.org/officeDocument/2006/relationships/image" Target="../media/image-19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3657600" cy="3657600"/>
          </a:xfrm>
          <a:prstGeom prst="ellipse">
            <a:avLst/>
          </a:prstGeom>
          <a:solidFill>
            <a:srgbClr val="263852">
              <a:alpha val="15000"/>
            </a:srgbClr>
          </a:solidFill>
          <a:ln/>
        </p:spPr>
      </p:sp>
      <p:pic>
        <p:nvPicPr>
          <p:cNvPr id="4" name="Image 0" descr="assets/it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554480" cy="3552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90-MINUTE SESSION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Supervised &amp; Unsupervised Learning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85216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1 &amp; 2  ·  IT Park University (ITPU)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96596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9659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What is ML?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2880360"/>
            <a:ext cx="457200" cy="457200"/>
          </a:xfrm>
          <a:prstGeom prst="ellipse">
            <a:avLst/>
          </a:prstGeom>
          <a:solidFill>
            <a:srgbClr val="39C2D7"/>
          </a:solidFill>
          <a:ln/>
        </p:spPr>
      </p:sp>
      <p:pic>
        <p:nvPicPr>
          <p:cNvPr id="10" name="Image 1" descr="asset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9900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8346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makes a problem an ML problem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41248" y="3657600"/>
            <a:ext cx="457200" cy="457200"/>
          </a:xfrm>
          <a:prstGeom prst="ellipse">
            <a:avLst/>
          </a:prstGeom>
          <a:solidFill>
            <a:srgbClr val="39C2D7"/>
          </a:solidFill>
          <a:ln/>
        </p:spPr>
      </p:sp>
      <p:pic>
        <p:nvPicPr>
          <p:cNvPr id="13" name="Image 2" descr="asset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7673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6118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ML systems (supervised / unsupervised)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41248" y="4434840"/>
            <a:ext cx="457200" cy="457200"/>
          </a:xfrm>
          <a:prstGeom prst="ellipse">
            <a:avLst/>
          </a:prstGeom>
          <a:solidFill>
            <a:srgbClr val="39C2D7"/>
          </a:solidFill>
          <a:ln/>
        </p:spPr>
      </p:sp>
      <p:pic>
        <p:nvPicPr>
          <p:cNvPr id="16" name="Image 3" descr="asset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445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3891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ML from AI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126480" y="196596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126480" y="196596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008ACF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400800" y="19659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Problem types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6419088" y="2880360"/>
            <a:ext cx="457200" cy="457200"/>
          </a:xfrm>
          <a:prstGeom prst="ellipse">
            <a:avLst/>
          </a:prstGeom>
          <a:solidFill>
            <a:srgbClr val="008ACF"/>
          </a:solidFill>
          <a:ln/>
        </p:spPr>
      </p:sp>
      <p:pic>
        <p:nvPicPr>
          <p:cNvPr id="22" name="Image 4" descr="asset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29900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40880" y="28346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regression from classification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419088" y="3657600"/>
            <a:ext cx="457200" cy="457200"/>
          </a:xfrm>
          <a:prstGeom prst="ellipse">
            <a:avLst/>
          </a:prstGeom>
          <a:solidFill>
            <a:srgbClr val="008ACF"/>
          </a:solidFill>
          <a:ln/>
        </p:spPr>
      </p:sp>
      <p:pic>
        <p:nvPicPr>
          <p:cNvPr id="25" name="Image 5" descr="asset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3767328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36118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clustering, dimensionality reduction &amp; anomaly detection apart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6419088" y="4434840"/>
            <a:ext cx="457200" cy="457200"/>
          </a:xfrm>
          <a:prstGeom prst="ellipse">
            <a:avLst/>
          </a:prstGeom>
          <a:solidFill>
            <a:srgbClr val="008ACF"/>
          </a:solidFill>
          <a:ln/>
        </p:spPr>
      </p:sp>
      <p:pic>
        <p:nvPicPr>
          <p:cNvPr id="28" name="Image 6" descr="asset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4544568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040880" y="43891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recommenders &amp; time-series</a:t>
            </a:r>
            <a:endParaRPr lang="en-US" sz="1350" dirty="0"/>
          </a:p>
        </p:txBody>
      </p:sp>
      <p:sp>
        <p:nvSpPr>
          <p:cNvPr id="30" name="Text 21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hour is YOURS — activities, breakouts and discussion. I explain only the tricky parts.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code vs. machine learning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1168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F6F6F6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304288"/>
            <a:ext cx="777240" cy="77724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8" name="Image 1" descr="assets/cod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490826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23591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code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24612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writes the rules.
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Rules  →  Answers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the logic is clear and easy to write — but it can’t scale to thousands of fuzzy exceptions.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55080" y="201168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263852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29400" y="2304288"/>
            <a:ext cx="777240" cy="777240"/>
          </a:xfrm>
          <a:prstGeom prst="ellipse">
            <a:avLst/>
          </a:prstGeom>
          <a:solidFill>
            <a:srgbClr val="39C2D7"/>
          </a:solidFill>
          <a:ln/>
        </p:spPr>
      </p:sp>
      <p:pic>
        <p:nvPicPr>
          <p:cNvPr id="13" name="Image 2" descr="asset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938" y="2490826"/>
            <a:ext cx="404165" cy="40416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543800" y="23591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675120" y="324612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learns the rules.
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7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Answers  →  Rules (a Model)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show labelled examples; it discovers the pattern, then applies it to new data.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shift: we stop writing the rules — the data reveals them.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shines when three things are true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11680"/>
            <a:ext cx="7589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194560"/>
            <a:ext cx="685800" cy="685800"/>
          </a:xfrm>
          <a:prstGeom prst="ellipse">
            <a:avLst/>
          </a:prstGeom>
          <a:solidFill>
            <a:srgbClr val="39C2D7"/>
          </a:solidFill>
          <a:ln/>
        </p:spPr>
      </p:sp>
      <p:pic>
        <p:nvPicPr>
          <p:cNvPr id="8" name="Image 1" descr="assets/red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35915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1488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repetitive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828800" y="25420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decision made over and over.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227832"/>
            <a:ext cx="7589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410712"/>
            <a:ext cx="685800" cy="685800"/>
          </a:xfrm>
          <a:prstGeom prst="ellipse">
            <a:avLst/>
          </a:prstGeom>
          <a:solidFill>
            <a:srgbClr val="008ACF"/>
          </a:solidFill>
          <a:ln/>
        </p:spPr>
      </p:sp>
      <p:pic>
        <p:nvPicPr>
          <p:cNvPr id="13" name="Image 2" descr="assets/lay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575304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28800" y="33649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predictions are needed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828800" y="375818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answers, not one.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443984"/>
            <a:ext cx="7589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626864"/>
            <a:ext cx="685800" cy="685800"/>
          </a:xfrm>
          <a:prstGeom prst="ellipse">
            <a:avLst/>
          </a:prstGeom>
          <a:solidFill>
            <a:srgbClr val="4CAF7D"/>
          </a:solidFill>
          <a:ln/>
        </p:spPr>
      </p:sp>
      <p:pic>
        <p:nvPicPr>
          <p:cNvPr id="18" name="Image 3" descr="assets/doll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791456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28800" y="458114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answer is cheap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1828800" y="497433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occasional mistake is low-cost and forgiving.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366760" y="2011680"/>
            <a:ext cx="3246120" cy="3483864"/>
          </a:xfrm>
          <a:prstGeom prst="roundRect">
            <a:avLst>
              <a:gd name="adj" fmla="val 2817"/>
            </a:avLst>
          </a:prstGeom>
          <a:solidFill>
            <a:srgbClr val="263852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641080" y="2286000"/>
            <a:ext cx="685800" cy="685800"/>
          </a:xfrm>
          <a:prstGeom prst="ellipse">
            <a:avLst/>
          </a:prstGeom>
          <a:solidFill>
            <a:srgbClr val="D35D47"/>
          </a:solidFill>
          <a:ln/>
        </p:spPr>
      </p:sp>
      <p:pic>
        <p:nvPicPr>
          <p:cNvPr id="23" name="Image 4" descr="assets/questi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2" y="2450592"/>
            <a:ext cx="356616" cy="35661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64108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when NOT to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641080" y="3474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fair die roll — no pattern to learn, so ML has nothing to grab onto.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48640" y="553212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F8500"/>
          </a:solidFill>
          <a:ln/>
        </p:spPr>
      </p:sp>
      <p:pic>
        <p:nvPicPr>
          <p:cNvPr id="27" name="Image 5" descr="assets/comment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650992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188720" y="55321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Where did you meet ML in your daily life today?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LANGUAGE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words we’ll use all course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240280"/>
            <a:ext cx="731520" cy="7315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8" name="Image 1" descr="assets/databas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7" y="241584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898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table we learn from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297680" y="19659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53712" y="2240280"/>
            <a:ext cx="731520" cy="7315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3" name="Image 2" descr="assets/column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277" y="241584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9496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2898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— a single example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46720" y="19659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02752" y="2240280"/>
            <a:ext cx="731520" cy="7315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8" name="Image 3" descr="assets/filter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317" y="2415845"/>
            <a:ext cx="380390" cy="38039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4400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2898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columns used to predict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3721608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" y="3995928"/>
            <a:ext cx="731520" cy="7315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3" name="Image 4" descr="assets/tag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7" y="4171493"/>
            <a:ext cx="380390" cy="38039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3995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822960" y="46542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we want to predict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297680" y="3721608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53712" y="3995928"/>
            <a:ext cx="731520" cy="7315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8" name="Image 5" descr="assets/cogs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277" y="4171493"/>
            <a:ext cx="380390" cy="38039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94960" y="3995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0" y="46542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procedure (recipe)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046720" y="3721608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02752" y="3995928"/>
            <a:ext cx="731520" cy="7315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33" name="Image 6" descr="assets/brain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317" y="4171493"/>
            <a:ext cx="380390" cy="38039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44000" y="3995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35" name="Text 26"/>
          <p:cNvSpPr txBox="1"/>
          <p:nvPr/>
        </p:nvSpPr>
        <p:spPr>
          <a:xfrm>
            <a:off x="8321040" y="46542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result: inputs → prediction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WORDS IN REAL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dataset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286000"/>
            <a:ext cx="1554480" cy="50292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286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m²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03120" y="2286000"/>
            <a:ext cx="1371600" cy="50292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0312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0" y="2286000"/>
            <a:ext cx="2194560" cy="50292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747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2286000"/>
            <a:ext cx="1645920" cy="502920"/>
          </a:xfrm>
          <a:prstGeom prst="rect">
            <a:avLst/>
          </a:prstGeom>
          <a:solidFill>
            <a:srgbClr val="FF85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66928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78892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103120" y="278892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10312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474720" y="278892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74720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Yunusabad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0" y="2788920"/>
            <a:ext cx="1645920" cy="502920"/>
          </a:xfrm>
          <a:prstGeom prst="rect">
            <a:avLst/>
          </a:prstGeom>
          <a:solidFill>
            <a:srgbClr val="FCE7D6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€52,000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3291840"/>
            <a:ext cx="1554480" cy="502920"/>
          </a:xfrm>
          <a:prstGeom prst="rect">
            <a:avLst/>
          </a:prstGeom>
          <a:solidFill>
            <a:srgbClr val="F6F6F6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2103120" y="3291840"/>
            <a:ext cx="1371600" cy="502920"/>
          </a:xfrm>
          <a:prstGeom prst="rect">
            <a:avLst/>
          </a:prstGeom>
          <a:solidFill>
            <a:srgbClr val="F6F6F6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03120" y="3291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474720" y="3291840"/>
            <a:ext cx="2194560" cy="502920"/>
          </a:xfrm>
          <a:prstGeom prst="rect">
            <a:avLst/>
          </a:prstGeom>
          <a:solidFill>
            <a:srgbClr val="F6F6F6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7472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Chilanzar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669280" y="3291840"/>
            <a:ext cx="1645920" cy="502920"/>
          </a:xfrm>
          <a:prstGeom prst="rect">
            <a:avLst/>
          </a:prstGeom>
          <a:solidFill>
            <a:srgbClr val="FCE7D6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66928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€89,000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48640" y="379476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103120" y="379476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10312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3474720" y="379476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74720" y="3794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Mirzo-Ulugbek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669280" y="3794760"/>
            <a:ext cx="1645920" cy="502920"/>
          </a:xfrm>
          <a:prstGeom prst="rect">
            <a:avLst/>
          </a:prstGeom>
          <a:solidFill>
            <a:srgbClr val="FCE7D6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669280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€145,000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1901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(inputs)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0" y="1901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680960" y="1901952"/>
            <a:ext cx="3931920" cy="2395728"/>
          </a:xfrm>
          <a:prstGeom prst="roundRect">
            <a:avLst>
              <a:gd name="adj" fmla="val 3817"/>
            </a:avLst>
          </a:prstGeom>
          <a:solidFill>
            <a:srgbClr val="F6F6F6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790956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table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7909560" y="25786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  </a:t>
            </a:r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apartment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7909560" y="30540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 </a:t>
            </a:r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rooms, district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7909560" y="3529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</a:t>
            </a:r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column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005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features → price for a new flat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548640" y="55778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8500"/>
          </a:solidFill>
          <a:ln/>
        </p:spPr>
      </p:sp>
      <p:pic>
        <p:nvPicPr>
          <p:cNvPr id="47" name="Image 1" descr="assets/handPap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687568"/>
            <a:ext cx="237744" cy="237744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1005840" y="5577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· HTML</a:t>
            </a:r>
            <a:endParaRPr lang="en-US" sz="1200" dirty="0"/>
          </a:p>
        </p:txBody>
      </p:sp>
      <p:sp>
        <p:nvSpPr>
          <p:cNvPr id="49" name="Text 45"/>
          <p:cNvSpPr txBox="1"/>
          <p:nvPr/>
        </p:nvSpPr>
        <p:spPr>
          <a:xfrm>
            <a:off x="2971800" y="5577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explore the live "Anatomy of a Dataset" page &amp; screenshot their result.</a:t>
            </a:r>
            <a:endParaRPr lang="en-US" sz="1250" dirty="0"/>
          </a:p>
        </p:txBody>
      </p:sp>
      <p:sp>
        <p:nvSpPr>
          <p:cNvPr id="50" name="Text 46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ML SYSTEMS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a machine can learn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58568"/>
            <a:ext cx="777240" cy="777240"/>
          </a:xfrm>
          <a:prstGeom prst="ellipse">
            <a:avLst/>
          </a:prstGeom>
          <a:solidFill>
            <a:srgbClr val="39C2D7"/>
          </a:solidFill>
          <a:ln/>
        </p:spPr>
      </p:sp>
      <p:pic>
        <p:nvPicPr>
          <p:cNvPr id="8" name="Image 1" descr="assets/t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445106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2585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data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703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examples with the right answers. It predicts the label for new data.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489204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8F6F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1440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spam / not-spam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97680" y="196596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258568"/>
            <a:ext cx="777240" cy="777240"/>
          </a:xfrm>
          <a:prstGeom prst="ellipse">
            <a:avLst/>
          </a:prstGeom>
          <a:solidFill>
            <a:srgbClr val="008ACF"/>
          </a:solidFill>
          <a:ln/>
        </p:spPr>
      </p:sp>
      <p:pic>
        <p:nvPicPr>
          <p:cNvPr id="16" name="Image 2" descr="assets/puzz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538" y="2445106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40680" y="22585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structure, no labels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3703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answers given — it groups or organises data by discovering patterns.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572000" y="489204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8F6F9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66344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grouping customers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046720" y="196596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EFEFE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321040" y="2258568"/>
            <a:ext cx="777240" cy="777240"/>
          </a:xfrm>
          <a:prstGeom prst="ellipse">
            <a:avLst/>
          </a:prstGeom>
          <a:solidFill>
            <a:srgbClr val="8A7CBB"/>
          </a:solidFill>
          <a:ln/>
        </p:spPr>
      </p:sp>
      <p:pic>
        <p:nvPicPr>
          <p:cNvPr id="24" name="Image 3" descr="assets/troph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578" y="2445106"/>
            <a:ext cx="404165" cy="40416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89720" y="22585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32104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7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trial &amp; reward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8321040" y="3703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Acts, gets rewards or penalties, improves over time.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8321040" y="489204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2E2E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41248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here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is high-level only — out of scope for this course.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3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t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371600" cy="3134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 · EXCALIDRAW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problem into its ML family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30175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39C2D7">
              <a:alpha val="22000"/>
            </a:srgbClr>
          </a:solidFill>
          <a:ln w="25400">
            <a:solidFill>
              <a:srgbClr val="39C2D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answers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41148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39C2D7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777240" y="4114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cards here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9272" y="30175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008ACF">
              <a:alpha val="22000"/>
            </a:srgbClr>
          </a:solidFill>
          <a:ln w="25400">
            <a:solidFill>
              <a:srgbClr val="008AC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02152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547872" y="41148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08ACF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3547872" y="4114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cards here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9904" y="30175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8A7CBB">
              <a:alpha val="22000"/>
            </a:srgbClr>
          </a:solidFill>
          <a:ln w="25400">
            <a:solidFill>
              <a:srgbClr val="8A7CB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72784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72784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rewards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18504" y="41148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8A7CBB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6318504" y="4114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cards here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860536" y="30175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D35D47">
              <a:alpha val="22000"/>
            </a:srgbClr>
          </a:solidFill>
          <a:ln w="25400">
            <a:solidFill>
              <a:srgbClr val="D35D4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43416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ML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043416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89136" y="41148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D35D47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9089136" y="4114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cards here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 (A, B, C) each get 10 cards. Agree together, drag into a family, then defend your trickiest call.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WHOLE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vs. artificial intelligence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965960"/>
            <a:ext cx="5486400" cy="4023360"/>
          </a:xfrm>
          <a:prstGeom prst="ellipse">
            <a:avLst/>
          </a:prstGeom>
          <a:solidFill>
            <a:srgbClr val="008ACF">
              <a:alpha val="20000"/>
            </a:srgbClr>
          </a:solidFill>
          <a:ln w="19050">
            <a:solidFill>
              <a:srgbClr val="008A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80160" y="2560320"/>
            <a:ext cx="3840480" cy="2834640"/>
          </a:xfrm>
          <a:prstGeom prst="ellipse">
            <a:avLst/>
          </a:prstGeom>
          <a:solidFill>
            <a:srgbClr val="39C2D7">
              <a:alpha val="35000"/>
            </a:srgbClr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8840" y="3246120"/>
            <a:ext cx="2103120" cy="1463040"/>
          </a:xfrm>
          <a:prstGeom prst="ellipse">
            <a:avLst/>
          </a:prstGeom>
          <a:solidFill>
            <a:srgbClr val="1FA9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791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14884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2103120"/>
            <a:ext cx="4937760" cy="1508760"/>
          </a:xfrm>
          <a:prstGeom prst="roundRect">
            <a:avLst>
              <a:gd name="adj" fmla="val 6061"/>
            </a:avLst>
          </a:prstGeom>
          <a:solidFill>
            <a:srgbClr val="F6F6F6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31152" y="2331720"/>
            <a:ext cx="685800" cy="68580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4" name="Image 1" descr="assets/robo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249631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72668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the big idea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949440" y="29260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machine that acts "smart" — reasoning, deciding, translating.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675120" y="3749040"/>
            <a:ext cx="4937760" cy="1508760"/>
          </a:xfrm>
          <a:prstGeom prst="roundRect">
            <a:avLst>
              <a:gd name="adj" fmla="val 6061"/>
            </a:avLst>
          </a:prstGeom>
          <a:solidFill>
            <a:srgbClr val="263852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31152" y="3977640"/>
            <a:ext cx="685800" cy="685800"/>
          </a:xfrm>
          <a:prstGeom prst="ellipse">
            <a:avLst/>
          </a:prstGeom>
          <a:solidFill>
            <a:srgbClr val="39C2D7"/>
          </a:solidFill>
          <a:ln/>
        </p:spPr>
      </p:sp>
      <p:pic>
        <p:nvPicPr>
          <p:cNvPr id="19" name="Image 2" descr="asset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4142232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72668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the engine inside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949440" y="45720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 instead of being programmed. ML powers AI, but AI is bigger than ML.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67512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system is AI — but not every AI system is ML.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t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371600" cy="3134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326880" y="393192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QUIZ · KAHOOT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65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ML, or just a program?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fast — then we reveal and reason together.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36758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recommending a show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965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AI + ML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356616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36758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chess engine with programmed moves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40965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Just AI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48188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calculator solving a formula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2395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Neither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470916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09360" y="48188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 trained on emails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52395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AI + ML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LEARN · GOOGLE COLAB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actually learns — watch it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116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304288"/>
            <a:ext cx="777240" cy="777240"/>
          </a:xfrm>
          <a:prstGeom prst="ellipse">
            <a:avLst/>
          </a:prstGeom>
          <a:solidFill>
            <a:srgbClr val="39C2D7"/>
          </a:solidFill>
          <a:ln/>
        </p:spPr>
      </p:sp>
      <p:pic>
        <p:nvPicPr>
          <p:cNvPr id="8" name="Image 1" descr="assets/tag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490826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703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spam (1) or not (0) from labelled emails. The model learns the rule from data + answers.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297680" y="20116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2304288"/>
            <a:ext cx="777240" cy="777240"/>
          </a:xfrm>
          <a:prstGeom prst="ellipse">
            <a:avLst/>
          </a:prstGeom>
          <a:solidFill>
            <a:srgbClr val="008ACF"/>
          </a:solidFill>
          <a:ln/>
        </p:spPr>
      </p:sp>
      <p:pic>
        <p:nvPicPr>
          <p:cNvPr id="13" name="Image 2" descr="assets/chartlin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538" y="2490826"/>
            <a:ext cx="404165" cy="40416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20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3703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apartment price from area. It fits a line to real prices — a number comes out.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46720" y="20116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21040" y="2304288"/>
            <a:ext cx="777240" cy="777240"/>
          </a:xfrm>
          <a:prstGeom prst="ellipse">
            <a:avLst/>
          </a:prstGeom>
          <a:solidFill>
            <a:srgbClr val="8A7CBB"/>
          </a:solidFill>
          <a:ln/>
        </p:spPr>
      </p:sp>
      <p:pic>
        <p:nvPicPr>
          <p:cNvPr id="18" name="Image 3" descr="assets/objectGroup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578" y="2490826"/>
            <a:ext cx="404165" cy="40416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2104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3703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with NO answer key. Notice: only X is passed, there is no y.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544068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263852"/>
          </a:solidFill>
          <a:ln/>
        </p:spPr>
      </p:sp>
      <p:pic>
        <p:nvPicPr>
          <p:cNvPr id="22" name="Image 4" descr="assets/laptopCod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55955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88720" y="54406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cell LEARNS from data; a plain if/else is written by hand. That is the whole difference — live.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— LOCKED 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established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58568"/>
            <a:ext cx="640080" cy="64008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8" name="Image 1" descr="assets/cod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412187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167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learns rules from data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2606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rules we write by hand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80760" y="19659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55080" y="2258568"/>
            <a:ext cx="640080" cy="64008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3" name="Image 2" descr="assets/redo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99" y="2412187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32320" y="2167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shines on the right problems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132320" y="2606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· many predictions · cheap mistakes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401568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3694176"/>
            <a:ext cx="640080" cy="64008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8" name="Image 3" descr="assets/sitemap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3847795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6027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learning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600200" y="4041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unsupervised · reinforcement (out of scope)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080760" y="3401568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55080" y="3694176"/>
            <a:ext cx="640080" cy="64008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3" name="Image 4" descr="assets/balanc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699" y="3847795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32320" y="36027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lives inside AI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7132320" y="4041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engine of AI — but AI is broader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" y="539496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8F6F9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One-question test:  "Do I have labels?"  No → unsupervised.  Yes → supervised.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4" name="Image 0" descr="assets/it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371600" cy="313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260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&amp;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2651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open each box and meet the specific problem types inside.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029200" y="3840480"/>
            <a:ext cx="457200" cy="457200"/>
          </a:xfrm>
          <a:prstGeom prst="ellipse">
            <a:avLst/>
          </a:prstGeom>
          <a:solidFill>
            <a:srgbClr val="39C2D7"/>
          </a:solidFill>
          <a:ln/>
        </p:spPr>
      </p:sp>
      <p:pic>
        <p:nvPicPr>
          <p:cNvPr id="9" name="Image 1" descr="asset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3950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0" y="3794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→ Regression · Classification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0" y="4480560"/>
            <a:ext cx="457200" cy="457200"/>
          </a:xfrm>
          <a:prstGeom prst="ellipse">
            <a:avLst/>
          </a:prstGeom>
          <a:solidFill>
            <a:srgbClr val="008ACF"/>
          </a:solidFill>
          <a:ln/>
        </p:spPr>
      </p:sp>
      <p:pic>
        <p:nvPicPr>
          <p:cNvPr id="12" name="Image 2" descr="assets/arrowRigh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45902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69280" y="4434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→ Clustering · Dim. reduction · Anomaly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029200" y="5120640"/>
            <a:ext cx="457200" cy="457200"/>
          </a:xfrm>
          <a:prstGeom prst="ellipse">
            <a:avLst/>
          </a:prstGeom>
          <a:solidFill>
            <a:srgbClr val="8A7CBB"/>
          </a:solidFill>
          <a:ln/>
        </p:spPr>
      </p:sp>
      <p:pic>
        <p:nvPicPr>
          <p:cNvPr id="15" name="Image 3" descr="asset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523036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669280" y="50749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→ Recommenders · Time series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splits into two — number or category?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question that decides the type: what are we predicting?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2578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33172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39C2D7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108960"/>
            <a:ext cx="731520" cy="731520"/>
          </a:xfrm>
          <a:prstGeom prst="ellipse">
            <a:avLst/>
          </a:prstGeom>
          <a:solidFill>
            <a:srgbClr val="008ACF"/>
          </a:solidFill>
          <a:ln/>
        </p:spPr>
      </p:sp>
      <p:pic>
        <p:nvPicPr>
          <p:cNvPr id="10" name="Image 1" descr="asset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32845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3317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a NUMBER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315468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value that slides up or down — money, temperature, age, hours.
</a:t>
            </a:r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"how much / how many?"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55080" y="2331720"/>
            <a:ext cx="52578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233172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4CAF7D"/>
          </a:solidFill>
          <a:ln/>
        </p:spPr>
      </p:sp>
      <p:sp>
        <p:nvSpPr>
          <p:cNvPr id="15" name="Shape 11"/>
          <p:cNvSpPr/>
          <p:nvPr/>
        </p:nvSpPr>
        <p:spPr>
          <a:xfrm>
            <a:off x="6583680" y="3108960"/>
            <a:ext cx="731520" cy="731520"/>
          </a:xfrm>
          <a:prstGeom prst="ellipse">
            <a:avLst/>
          </a:prstGeom>
          <a:solidFill>
            <a:srgbClr val="4CAF7D"/>
          </a:solidFill>
          <a:ln/>
        </p:spPr>
      </p:sp>
      <p:pic>
        <p:nvPicPr>
          <p:cNvPr id="16" name="Image 2" descr="assets/ta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45" y="32845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3317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a CATEGORY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498080" y="315468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from a fixed set — spam/not-spam, cat/dog/bird.
</a:t>
            </a:r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"which type / which class?"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Give me one regression and one classification problem from your life.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TYPE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predicting a number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6F6F6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8" name="Image 1" descr="assets/chartlin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241584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continuous numeric value.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recognise it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886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a quantity that can slide up or down. If "how much / how many" fits — it’s regression.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43600" y="242316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2606040"/>
            <a:ext cx="457200" cy="45720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6" name="Image 2" descr="assets/hom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7157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2423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from size, location, age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943600" y="338328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72200" y="3566160"/>
            <a:ext cx="457200" cy="45720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0" name="Image 3" descr="assets/thermometerHalf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67588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1228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Tomorrow’s temperature from past weather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943600" y="434340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172200" y="4526280"/>
            <a:ext cx="457200" cy="45720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4" name="Image 4" descr="assets/clipboardCheck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63600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12280" y="4343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 from study hours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943600" y="54406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question:  Can you name a regression problem you’ve seen?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TYPE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predicting a category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6F6F6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8" name="Image 1" descr="assets/tags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241584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label from a fixed set of classes.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38862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4CAF7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296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· 2 classes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154680" y="38862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6385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15468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· 3+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4572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"which type / which class" fits — it’s classification.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9436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943600" y="242316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2606040"/>
            <a:ext cx="457200" cy="45720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0" name="Image 2" descr="assets/envelop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71576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812280" y="2423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spam or not spam (binary)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943600" y="338328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72200" y="3566160"/>
            <a:ext cx="457200" cy="45720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4" name="Image 3" descr="assets/tags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67588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81228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cat / dog / bird (multi-class)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5943600" y="434340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172200" y="4526280"/>
            <a:ext cx="457200" cy="45720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8" name="Image 4" descr="assets/dollar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63600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812280" y="4343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 will repay or default (binary)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5943600" y="54406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question:  Which classification do you meet most often?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splits into three — clustering leads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263852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40280"/>
            <a:ext cx="777240" cy="777240"/>
          </a:xfrm>
          <a:prstGeom prst="ellipse">
            <a:avLst/>
          </a:prstGeom>
          <a:solidFill>
            <a:srgbClr val="008ACF"/>
          </a:solidFill>
          <a:ln/>
        </p:spPr>
      </p:sp>
      <p:pic>
        <p:nvPicPr>
          <p:cNvPr id="8" name="Image 1" descr="assets/object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426818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2286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 (the main one)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063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data points together — with no predefined labels. The machine finds the groups itself.</a:t>
            </a:r>
            <a:endParaRPr lang="en-US" sz="1350" dirty="0"/>
          </a:p>
        </p:txBody>
      </p:sp>
      <p:pic>
        <p:nvPicPr>
          <p:cNvPr id="11" name="Image 2" descr="asset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6908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4023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from buying behaviour</a:t>
            </a:r>
            <a:endParaRPr lang="en-US" sz="1250" dirty="0"/>
          </a:p>
        </p:txBody>
      </p:sp>
      <p:pic>
        <p:nvPicPr>
          <p:cNvPr id="13" name="Image 3" descr="asset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7200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526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news articles into topics</a:t>
            </a:r>
            <a:endParaRPr lang="en-US" sz="1250" dirty="0"/>
          </a:p>
        </p:txBody>
      </p:sp>
      <p:pic>
        <p:nvPicPr>
          <p:cNvPr id="15" name="Image 4" descr="asset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7492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34440" y="5029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a photo library by who appears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309360" y="196596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6537960" y="2194560"/>
            <a:ext cx="640080" cy="64008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9" name="Image 5" descr="assets/compress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579" y="2348179"/>
            <a:ext cx="332842" cy="33284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315200" y="2212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6537960" y="2788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many features into a few, keeping the essence — easier to see and faster to train.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309360" y="388620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537960" y="4114800"/>
            <a:ext cx="640080" cy="64008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4" name="Image 6" descr="assets/search_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1579" y="4268419"/>
            <a:ext cx="332842" cy="33284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3152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6537960" y="4709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rare items that don’t fit the normal pattern — usually with no labelled anomalies.</a:t>
            </a:r>
            <a:endParaRPr lang="en-US" sz="1250" dirty="0"/>
          </a:p>
        </p:txBody>
      </p:sp>
      <p:sp>
        <p:nvSpPr>
          <p:cNvPr id="27" name="Text 18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· THE OTHER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one shows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116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011680"/>
            <a:ext cx="5349240" cy="640080"/>
          </a:xfrm>
          <a:prstGeom prst="roundRect">
            <a:avLst>
              <a:gd name="adj" fmla="val 14286"/>
            </a:avLst>
          </a:prstGeom>
          <a:solidFill>
            <a:srgbClr val="8A7CB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011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0" name="Image 1" descr="assets/compres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30467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8803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200 sensor readings into 3 signals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703320"/>
            <a:ext cx="502920" cy="5029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3" name="Image 2" descr="assets/compress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82402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6576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100 survey questions into a few themes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6" name="Image 3" descr="assets/compress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601261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434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image data so it trains faster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0116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263640" y="2011680"/>
            <a:ext cx="5349240" cy="640080"/>
          </a:xfrm>
          <a:prstGeom prst="roundRect">
            <a:avLst>
              <a:gd name="adj" fmla="val 14286"/>
            </a:avLst>
          </a:prstGeom>
          <a:solidFill>
            <a:srgbClr val="D35D47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537960" y="2011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537960" y="2926080"/>
            <a:ext cx="502920" cy="5029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2" name="Image 4" descr="assets/search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661" y="304678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23760" y="28803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Fraud: unusual card transactions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537960" y="3703320"/>
            <a:ext cx="502920" cy="5029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5" name="Image 5" descr="assets/search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661" y="3824021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223760" y="36576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Manufacturing: a faulty product on the line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537960" y="4480560"/>
            <a:ext cx="502920" cy="50292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28" name="Image 6" descr="assets/search_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8661" y="4601261"/>
            <a:ext cx="261518" cy="26151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223760" y="4434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a never-seen network intrusion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 apart:  clustering wants ALL the groups; anomaly detection wants only the FEW that don’t fit.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CATEGORIES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 that break the boxes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39C2D7"/>
          </a:solidFill>
          <a:ln/>
        </p:spPr>
      </p:sp>
      <p:pic>
        <p:nvPicPr>
          <p:cNvPr id="5" name="Image 0" descr="assets/it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72200"/>
            <a:ext cx="1234440" cy="282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116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6F6F6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86000"/>
            <a:ext cx="777240" cy="77724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8" name="Image 1" descr="assets/shoppingCar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472538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2331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00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items you’re likely to want, learned from many people’s behaviour and your own.</a:t>
            </a:r>
            <a:endParaRPr lang="en-US" sz="1300" dirty="0"/>
          </a:p>
        </p:txBody>
      </p:sp>
      <p:pic>
        <p:nvPicPr>
          <p:cNvPr id="11" name="Image 2" descr="asset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4223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Netflix’s next show</a:t>
            </a:r>
            <a:endParaRPr lang="en-US" sz="1250" dirty="0"/>
          </a:p>
        </p:txBody>
      </p:sp>
      <p:pic>
        <p:nvPicPr>
          <p:cNvPr id="13" name="Image 3" descr="asset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943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Online-shop product suggestions</a:t>
            </a:r>
            <a:endParaRPr lang="en-US" sz="1250" dirty="0"/>
          </a:p>
        </p:txBody>
      </p:sp>
      <p:pic>
        <p:nvPicPr>
          <p:cNvPr id="15" name="Image 4" descr="asset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5663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5029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Music-app playlists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263640" y="20116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6F6F6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6537960" y="2286000"/>
            <a:ext cx="777240" cy="777240"/>
          </a:xfrm>
          <a:prstGeom prst="ellipse">
            <a:avLst/>
          </a:prstGeom>
          <a:solidFill>
            <a:srgbClr val="E8F6F9"/>
          </a:solidFill>
          <a:ln/>
        </p:spPr>
      </p:sp>
      <p:pic>
        <p:nvPicPr>
          <p:cNvPr id="19" name="Image 5" descr="assets/clock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498" y="2472538"/>
            <a:ext cx="404165" cy="40416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452360" y="2331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6537960" y="3200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ordered in time, where sequence and past values matter for predicting the future.</a:t>
            </a:r>
            <a:endParaRPr lang="en-US" sz="1300" dirty="0"/>
          </a:p>
        </p:txBody>
      </p:sp>
      <p:pic>
        <p:nvPicPr>
          <p:cNvPr id="22" name="Image 6" descr="assets/check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4142232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90372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next month’s sales</a:t>
            </a:r>
            <a:endParaRPr lang="en-US" sz="1250" dirty="0"/>
          </a:p>
        </p:txBody>
      </p:sp>
      <p:pic>
        <p:nvPicPr>
          <p:cNvPr id="24" name="Image 7" descr="assets/check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599432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90372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daily electricity demand</a:t>
            </a:r>
            <a:endParaRPr lang="en-US" sz="1250" dirty="0"/>
          </a:p>
        </p:txBody>
      </p:sp>
      <p:pic>
        <p:nvPicPr>
          <p:cNvPr id="26" name="Image 8" descr="assets/check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5056632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903720" y="5029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website traffic</a:t>
            </a:r>
            <a:endParaRPr lang="en-US" sz="1250" dirty="0"/>
          </a:p>
        </p:txBody>
      </p:sp>
      <p:sp>
        <p:nvSpPr>
          <p:cNvPr id="28" name="Text 17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special: recommenders blend users &amp; items; time-series depends on order — you can’t shuffle the rows.</a:t>
            </a:r>
            <a:endParaRPr lang="en-US" sz="1250" dirty="0"/>
          </a:p>
        </p:txBody>
      </p:sp>
      <p:sp>
        <p:nvSpPr>
          <p:cNvPr id="29" name="Text 18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63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39C2D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39C2D7">
              <a:alpha val="15000"/>
            </a:srgbClr>
          </a:solidFill>
          <a:ln/>
        </p:spPr>
      </p:sp>
      <p:pic>
        <p:nvPicPr>
          <p:cNvPr id="4" name="Image 0" descr="assets/it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371600" cy="313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to keep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2465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6060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24688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(number) · Classification (category)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2465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4747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08AC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33375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Dimensionality reduction · Anomaly detection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2465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38100" dir="5400000">
              <a:srgbClr val="B9C7CD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4343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8A7CB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4343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42062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Recommenders (suggest items) · Time series (order matters)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39C2D7"/>
          </a:solidFill>
          <a:ln/>
        </p:spPr>
      </p:sp>
      <p:pic>
        <p:nvPicPr>
          <p:cNvPr id="19" name="Image 1" descr="assets/question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4068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46304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Q&amp;A — bring your own examples of each type.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ITPU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Dilrabo Khidirova</dc:creator>
  <cp:lastModifiedBy>Dilrabo Khidirova</cp:lastModifiedBy>
  <cp:revision>1</cp:revision>
  <dcterms:created xsi:type="dcterms:W3CDTF">2026-09-02T15:44:39Z</dcterms:created>
  <dcterms:modified xsi:type="dcterms:W3CDTF">2026-09-02T15:44:39Z</dcterms:modified>
</cp:coreProperties>
</file>